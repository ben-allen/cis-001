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69"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310"/>
    <p:restoredTop sz="94610"/>
  </p:normalViewPr>
  <p:slideViewPr>
    <p:cSldViewPr snapToGrid="0" snapToObjects="1">
      <p:cViewPr varScale="1">
        <p:scale>
          <a:sx n="111" d="100"/>
          <a:sy n="111" d="100"/>
        </p:scale>
        <p:origin x="29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422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short ideas, each followed by an exercise slide. Students write their prediction on paper before running anything, and explain any wrong prediction in one sentence. Answers are in the notes of each TRY IT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variable is a name tag on an object, not a box. == compares contents; is compares identity. Changing a list through one name only shows up through another if they're the same object.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True False / True / False (x and y both became [4, 5, 6]; z is still [4, 5]). B: True False / [1, 2, 3]. Slicing builds a new list, so b is a lookalike, not an alias.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it: grid is a box with two arrows; the first arrow lands on the same list that row points to. One inner list can appear in several places at once.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[[1, 2, 3], [1, 2, 3]]. Both slots are the same list a. B: [[0, 1, 2], [0, 1, 2], [0, 1, 2]]. The same row is appended three times. Fix: rows.append(row[:]) or rows.append(row.copy()).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distinction: changing the outer list (append, reassigning a slot) vs. reaching into an inner list. The append on line 4 affects only shallow; the assignment on line 5 reaches into a shared inner list.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[1, 2, 3] then [100, 2, 3]. Shallow is enough because the items are ints. B: seats is [['Ana', 'Ben'], ['Cy', 'Dee']]; saved is [['Ana', 'Ben'], ['Cy', 'Dee'], ['Eve']]. Dee went into a shared inner list; Eve went onto the new outer list only.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is part of the standard library. deepcopy walks through nested containers (lists, dicts, etc.) and copies each mutable piece. It's slower and uses more memory, so reach for it only when a list holds lists and you need a fully separate copy.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add import copy at the top and use backup = copy.deepcopy(grid). B: b is [[0, 1], [0]] (shallow, shares inner lists); c is [[0], [0]] (deep, has its own inner lists).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back to lists within lists: board holds the same inner list three times. The comprehension runs [0] * 3 again on each pass, making a new list each time.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[0, 7, 0] then [[5, 7, 0], [5, 7, 0]]. grid holds row twice. B: [['Ana'], ['Ana'], ['Ana']]. Fix: teams = [[] for _ in range(3)].</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on the list (nums.sort()) changes it; a function taking the list (sorted(nums)) or an operator (+, slicing) builds a new one. The += exception trips people up: b += [4] changes the shared list, b = b + [4] doesn't.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None. append returned None and that replaced the list. B: a is [1, 2, 3] (b.sort() sorted the shared list); b is [1, 2, 3, 4] (b + [4] made a new list and moved only b). C: in place = sort(), append(), reverse(), extend(); new list = sorted(), +, [::-1], copy().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Parameters are assignment in disguise: calling add_bonus(marks) runs scores = marks before the body starts. Draw it: two name tags on one list. When the function returns, the name scores goes away, but the list and its change remain.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the b = b + [4] point from the in-place methods slide. Mutating through the parameter reaches the caller; assigning to the parameter only rebinds a local name. If a function shouldn't change its input, copy first (items = items.copy()) or build and return a new list.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['pen', 'cup'] then True. add_item changed mine and returned that same list, so yours and mine are one list. Fix: make bag = bag.copy() the first line of the function (or return bag + [item]). B: [1, 9] [1]. a += [9] extends the shared list in place, so x sees it; b + [9] builds a new list and only moves the local name b.</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check: ask students which row of the table each earlier bug belongs to.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451960" y="2476500"/>
            <a:ext cx="7288079" cy="863600"/>
          </a:xfrm>
          <a:prstGeom prst="rect">
            <a:avLst/>
          </a:prstGeom>
          <a:noFill/>
          <a:ln/>
        </p:spPr>
        <p:txBody>
          <a:bodyPr wrap="square" lIns="0" tIns="0" rIns="0" bIns="0" rtlCol="0" anchor="t">
            <a:normAutofit/>
          </a:bodyPr>
          <a:lstStyle/>
          <a:p>
            <a:pPr marL="0" indent="0" algn="ctr">
              <a:lnSpc>
                <a:spcPts val="6600"/>
              </a:lnSpc>
              <a:buNone/>
            </a:pPr>
            <a:r>
              <a:rPr lang="en-US" sz="6000" dirty="0">
                <a:solidFill>
                  <a:srgbClr val="000000"/>
                </a:solidFill>
                <a:latin typeface="Carlito" pitchFamily="34" charset="0"/>
                <a:ea typeface="Carlito" pitchFamily="34" charset="-122"/>
                <a:cs typeface="Carlito" pitchFamily="34" charset="-120"/>
              </a:rPr>
              <a:t>LISTS AND MUTABILITY</a:t>
            </a:r>
            <a:endParaRPr lang="en-US" sz="6000" dirty="0"/>
          </a:p>
        </p:txBody>
      </p:sp>
      <p:sp>
        <p:nvSpPr>
          <p:cNvPr id="3" name="Text 1"/>
          <p:cNvSpPr/>
          <p:nvPr/>
        </p:nvSpPr>
        <p:spPr>
          <a:xfrm>
            <a:off x="3998027" y="3467100"/>
            <a:ext cx="4195840" cy="309880"/>
          </a:xfrm>
          <a:prstGeom prst="rect">
            <a:avLst/>
          </a:prstGeom>
          <a:noFill/>
          <a:ln/>
        </p:spPr>
        <p:txBody>
          <a:bodyPr wrap="square" lIns="0" tIns="0" rIns="0" bIns="0" rtlCol="0" anchor="t">
            <a:normAutofit/>
          </a:bodyPr>
          <a:lstStyle/>
          <a:p>
            <a:pPr marL="0" indent="0" algn="ctr">
              <a:lnSpc>
                <a:spcPts val="2240"/>
              </a:lnSpc>
              <a:buNone/>
            </a:pPr>
            <a:r>
              <a:rPr lang="en-US" sz="1600" dirty="0">
                <a:solidFill>
                  <a:srgbClr val="6E6E6E"/>
                </a:solidFill>
                <a:latin typeface="Carlito" pitchFamily="34" charset="0"/>
                <a:ea typeface="Carlito" pitchFamily="34" charset="-122"/>
                <a:cs typeface="Carlito" pitchFamily="34" charset="-120"/>
              </a:rPr>
              <a:t>Aliasing, copies, and methods that change the list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5500" y="533400"/>
            <a:ext cx="11118850" cy="640080"/>
          </a:xfrm>
          <a:prstGeom prst="rect">
            <a:avLst/>
          </a:prstGeom>
          <a:noFill/>
          <a:ln/>
        </p:spPr>
        <p:txBody>
          <a:bodyPr wrap="square" lIns="0" tIns="0" rIns="0" bIns="0" rtlCol="0" anchor="t">
            <a:normAutofit/>
          </a:bodyPr>
          <a:lstStyle/>
          <a:p>
            <a:pPr marL="0" indent="0" algn="l">
              <a:lnSpc>
                <a:spcPts val="4840"/>
              </a:lnSpc>
              <a:buNone/>
            </a:pPr>
            <a:r>
              <a:rPr lang="en-US" sz="4400" dirty="0">
                <a:solidFill>
                  <a:srgbClr val="000000"/>
                </a:solidFill>
                <a:latin typeface="Carlito" pitchFamily="34" charset="0"/>
                <a:ea typeface="Carlito" pitchFamily="34" charset="-122"/>
                <a:cs typeface="Carlito" pitchFamily="34" charset="-120"/>
              </a:rPr>
              <a:t>== VS is</a:t>
            </a:r>
            <a:endParaRPr lang="en-US" sz="4400" dirty="0"/>
          </a:p>
        </p:txBody>
      </p:sp>
      <p:sp>
        <p:nvSpPr>
          <p:cNvPr id="3" name="Shape 1"/>
          <p:cNvSpPr/>
          <p:nvPr/>
        </p:nvSpPr>
        <p:spPr>
          <a:xfrm>
            <a:off x="5476875" y="1419225"/>
            <a:ext cx="5899150" cy="2088092"/>
          </a:xfrm>
          <a:prstGeom prst="rect">
            <a:avLst/>
          </a:prstGeom>
          <a:solidFill>
            <a:srgbClr val="F8F8F8"/>
          </a:solidFill>
          <a:ln w="6350">
            <a:solidFill>
              <a:srgbClr val="D9D9D9"/>
            </a:solidFill>
            <a:prstDash val="solid"/>
          </a:ln>
        </p:spPr>
      </p:sp>
      <p:sp>
        <p:nvSpPr>
          <p:cNvPr id="4" name="Text 2"/>
          <p:cNvSpPr/>
          <p:nvPr/>
        </p:nvSpPr>
        <p:spPr>
          <a:xfrm>
            <a:off x="5657321" y="1574271"/>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5" name="Text 3"/>
          <p:cNvSpPr/>
          <p:nvPr/>
        </p:nvSpPr>
        <p:spPr>
          <a:xfrm>
            <a:off x="5657321" y="1828271"/>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6" name="Text 4"/>
          <p:cNvSpPr/>
          <p:nvPr/>
        </p:nvSpPr>
        <p:spPr>
          <a:xfrm>
            <a:off x="5657321" y="2082271"/>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c</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a</a:t>
            </a:r>
            <a:endParaRPr lang="en-US" sz="1600" dirty="0"/>
          </a:p>
        </p:txBody>
      </p:sp>
      <p:sp>
        <p:nvSpPr>
          <p:cNvPr id="7" name="Text 5"/>
          <p:cNvSpPr/>
          <p:nvPr/>
        </p:nvSpPr>
        <p:spPr>
          <a:xfrm>
            <a:off x="5657321" y="2336271"/>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00FF"/>
                </a:solidFill>
                <a:latin typeface="Inconsolata" pitchFamily="34" charset="0"/>
                <a:ea typeface="Inconsolata" pitchFamily="34" charset="-122"/>
                <a:cs typeface="Inconsolata" pitchFamily="34" charset="-120"/>
              </a:rPr>
              <a:t>is</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00FF"/>
                </a:solidFill>
                <a:latin typeface="Inconsolata" pitchFamily="34" charset="0"/>
                <a:ea typeface="Inconsolata" pitchFamily="34" charset="-122"/>
                <a:cs typeface="Inconsolata" pitchFamily="34" charset="-120"/>
              </a:rPr>
              <a:t>is</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c</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8" name="Text 6"/>
          <p:cNvSpPr/>
          <p:nvPr/>
        </p:nvSpPr>
        <p:spPr>
          <a:xfrm>
            <a:off x="5657321" y="2590271"/>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endParaRPr lang="en-US" sz="1600" dirty="0"/>
          </a:p>
        </p:txBody>
      </p:sp>
      <p:sp>
        <p:nvSpPr>
          <p:cNvPr id="9" name="Text 7"/>
          <p:cNvSpPr/>
          <p:nvPr/>
        </p:nvSpPr>
        <p:spPr>
          <a:xfrm>
            <a:off x="5657321" y="2844271"/>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6</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c</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append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0" name="Text 8"/>
          <p:cNvSpPr/>
          <p:nvPr/>
        </p:nvSpPr>
        <p:spPr>
          <a:xfrm>
            <a:off x="5657321" y="3098271"/>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7</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pic>
        <p:nvPicPr>
          <p:cNvPr id="11" name="Image 0" descr="arrow-right"/>
          <p:cNvPicPr>
            <a:picLocks noChangeAspect="1"/>
          </p:cNvPicPr>
          <p:nvPr/>
        </p:nvPicPr>
        <p:blipFill>
          <a:blip r:embed="rId3"/>
          <a:srcRect/>
          <a:stretch/>
        </p:blipFill>
        <p:spPr>
          <a:xfrm>
            <a:off x="4546600" y="1752600"/>
            <a:ext cx="787400" cy="412750"/>
          </a:xfrm>
          <a:prstGeom prst="rect">
            <a:avLst/>
          </a:prstGeom>
        </p:spPr>
      </p:pic>
      <p:sp>
        <p:nvSpPr>
          <p:cNvPr id="12" name="Text 9"/>
          <p:cNvSpPr/>
          <p:nvPr/>
        </p:nvSpPr>
        <p:spPr>
          <a:xfrm>
            <a:off x="825500" y="1701800"/>
            <a:ext cx="3701923"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1080"/>
                </a:solidFill>
                <a:latin typeface="Carlito" pitchFamily="34" charset="0"/>
                <a:ea typeface="Carlito" pitchFamily="34" charset="-122"/>
                <a:cs typeface="Carlito" pitchFamily="34" charset="-120"/>
              </a:rPr>
              <a:t>b</a:t>
            </a:r>
            <a:r>
              <a:rPr lang="en-US" sz="1600" dirty="0">
                <a:solidFill>
                  <a:srgbClr val="000000"/>
                </a:solidFill>
                <a:latin typeface="Carlito" pitchFamily="34" charset="0"/>
                <a:ea typeface="Carlito" pitchFamily="34" charset="-122"/>
                <a:cs typeface="Carlito" pitchFamily="34" charset="-120"/>
              </a:rPr>
              <a:t> is a lookalike: same contents, separate list</a:t>
            </a:r>
            <a:endParaRPr lang="en-US" sz="1600" dirty="0"/>
          </a:p>
        </p:txBody>
      </p:sp>
      <p:pic>
        <p:nvPicPr>
          <p:cNvPr id="13" name="Image 1" descr="arrow-right"/>
          <p:cNvPicPr>
            <a:picLocks noChangeAspect="1"/>
          </p:cNvPicPr>
          <p:nvPr/>
        </p:nvPicPr>
        <p:blipFill>
          <a:blip r:embed="rId3"/>
          <a:srcRect/>
          <a:stretch/>
        </p:blipFill>
        <p:spPr>
          <a:xfrm>
            <a:off x="4546600" y="2260600"/>
            <a:ext cx="787400" cy="412750"/>
          </a:xfrm>
          <a:prstGeom prst="rect">
            <a:avLst/>
          </a:prstGeom>
        </p:spPr>
      </p:pic>
      <p:sp>
        <p:nvSpPr>
          <p:cNvPr id="14" name="Text 10"/>
          <p:cNvSpPr/>
          <p:nvPr/>
        </p:nvSpPr>
        <p:spPr>
          <a:xfrm>
            <a:off x="825500" y="2209800"/>
            <a:ext cx="3701923"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1080"/>
                </a:solidFill>
                <a:latin typeface="Carlito" pitchFamily="34" charset="0"/>
                <a:ea typeface="Carlito" pitchFamily="34" charset="-122"/>
                <a:cs typeface="Carlito" pitchFamily="34" charset="-120"/>
              </a:rPr>
              <a:t>==</a:t>
            </a:r>
            <a:r>
              <a:rPr lang="en-US" sz="1600" dirty="0">
                <a:solidFill>
                  <a:srgbClr val="000000"/>
                </a:solidFill>
                <a:latin typeface="Carlito" pitchFamily="34" charset="0"/>
                <a:ea typeface="Carlito" pitchFamily="34" charset="-122"/>
                <a:cs typeface="Carlito" pitchFamily="34" charset="-120"/>
              </a:rPr>
              <a:t> asks “same value?” </a:t>
            </a:r>
            <a:r>
              <a:rPr lang="en-US" sz="1600" b="1" dirty="0">
                <a:solidFill>
                  <a:srgbClr val="001080"/>
                </a:solidFill>
                <a:latin typeface="Carlito" pitchFamily="34" charset="0"/>
                <a:ea typeface="Carlito" pitchFamily="34" charset="-122"/>
                <a:cs typeface="Carlito" pitchFamily="34" charset="-120"/>
              </a:rPr>
              <a:t>is</a:t>
            </a:r>
            <a:r>
              <a:rPr lang="en-US" sz="1600" dirty="0">
                <a:solidFill>
                  <a:srgbClr val="000000"/>
                </a:solidFill>
                <a:latin typeface="Carlito" pitchFamily="34" charset="0"/>
                <a:ea typeface="Carlito" pitchFamily="34" charset="-122"/>
                <a:cs typeface="Carlito" pitchFamily="34" charset="-120"/>
              </a:rPr>
              <a:t> asks “same object?”</a:t>
            </a:r>
            <a:endParaRPr lang="en-US" sz="1600" dirty="0"/>
          </a:p>
        </p:txBody>
      </p:sp>
      <p:sp>
        <p:nvSpPr>
          <p:cNvPr id="15" name="Text 11"/>
          <p:cNvSpPr/>
          <p:nvPr/>
        </p:nvSpPr>
        <p:spPr>
          <a:xfrm>
            <a:off x="5473700" y="3752850"/>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Output</a:t>
            </a:r>
            <a:endParaRPr lang="en-US" sz="1200" dirty="0"/>
          </a:p>
        </p:txBody>
      </p:sp>
      <p:sp>
        <p:nvSpPr>
          <p:cNvPr id="16" name="Shape 12"/>
          <p:cNvSpPr/>
          <p:nvPr/>
        </p:nvSpPr>
        <p:spPr>
          <a:xfrm>
            <a:off x="5473700" y="4019550"/>
            <a:ext cx="1905000" cy="787400"/>
          </a:xfrm>
          <a:prstGeom prst="rect">
            <a:avLst/>
          </a:prstGeom>
          <a:solidFill>
            <a:srgbClr val="EDEDED"/>
          </a:solidFill>
          <a:ln/>
        </p:spPr>
      </p:sp>
      <p:sp>
        <p:nvSpPr>
          <p:cNvPr id="17" name="Text 13"/>
          <p:cNvSpPr/>
          <p:nvPr/>
        </p:nvSpPr>
        <p:spPr>
          <a:xfrm>
            <a:off x="5651500" y="4159250"/>
            <a:ext cx="1600200"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1F1F1F"/>
                </a:solidFill>
                <a:latin typeface="Inconsolata" pitchFamily="34" charset="0"/>
                <a:ea typeface="Inconsolata" pitchFamily="34" charset="-122"/>
                <a:cs typeface="Inconsolata" pitchFamily="34" charset="-120"/>
              </a:rPr>
              <a:t>True False True</a:t>
            </a:r>
            <a:endParaRPr lang="en-US" sz="1600" dirty="0"/>
          </a:p>
        </p:txBody>
      </p:sp>
      <p:sp>
        <p:nvSpPr>
          <p:cNvPr id="18" name="Text 14"/>
          <p:cNvSpPr/>
          <p:nvPr/>
        </p:nvSpPr>
        <p:spPr>
          <a:xfrm>
            <a:off x="5651500" y="4413250"/>
            <a:ext cx="1600200"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1F1F1F"/>
                </a:solidFill>
                <a:latin typeface="Inconsolata" pitchFamily="34" charset="0"/>
                <a:ea typeface="Inconsolata" pitchFamily="34" charset="-122"/>
                <a:cs typeface="Inconsolata" pitchFamily="34" charset="-120"/>
              </a:rPr>
              <a:t>[1, 2, 3]</a:t>
            </a:r>
            <a:endParaRPr lang="en-US" sz="1600" dirty="0"/>
          </a:p>
        </p:txBody>
      </p:sp>
      <p:pic>
        <p:nvPicPr>
          <p:cNvPr id="19" name="Image 2" descr="arrow-right"/>
          <p:cNvPicPr>
            <a:picLocks noChangeAspect="1"/>
          </p:cNvPicPr>
          <p:nvPr/>
        </p:nvPicPr>
        <p:blipFill>
          <a:blip r:embed="rId3"/>
          <a:srcRect/>
          <a:stretch/>
        </p:blipFill>
        <p:spPr>
          <a:xfrm>
            <a:off x="4546600" y="4337050"/>
            <a:ext cx="787400" cy="412750"/>
          </a:xfrm>
          <a:prstGeom prst="rect">
            <a:avLst/>
          </a:prstGeom>
        </p:spPr>
      </p:pic>
      <p:sp>
        <p:nvSpPr>
          <p:cNvPr id="20" name="Text 15"/>
          <p:cNvSpPr/>
          <p:nvPr/>
        </p:nvSpPr>
        <p:spPr>
          <a:xfrm>
            <a:off x="825500" y="4286250"/>
            <a:ext cx="3701923"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1080"/>
                </a:solidFill>
                <a:latin typeface="Carlito" pitchFamily="34" charset="0"/>
                <a:ea typeface="Carlito" pitchFamily="34" charset="-122"/>
                <a:cs typeface="Carlito" pitchFamily="34" charset="-120"/>
              </a:rPr>
              <a:t>c</a:t>
            </a:r>
            <a:r>
              <a:rPr lang="en-US" sz="1600" dirty="0">
                <a:solidFill>
                  <a:srgbClr val="000000"/>
                </a:solidFill>
                <a:latin typeface="Carlito" pitchFamily="34" charset="0"/>
                <a:ea typeface="Carlito" pitchFamily="34" charset="-122"/>
                <a:cs typeface="Carlito" pitchFamily="34" charset="-120"/>
              </a:rPr>
              <a:t> is an alias for </a:t>
            </a:r>
            <a:r>
              <a:rPr lang="en-US" sz="1600" b="1" dirty="0">
                <a:solidFill>
                  <a:srgbClr val="001080"/>
                </a:solidFill>
                <a:latin typeface="Carlito" pitchFamily="34" charset="0"/>
                <a:ea typeface="Carlito" pitchFamily="34" charset="-122"/>
                <a:cs typeface="Carlito" pitchFamily="34" charset="-120"/>
              </a:rPr>
              <a:t>a</a:t>
            </a:r>
            <a:r>
              <a:rPr lang="en-US" sz="1600" dirty="0">
                <a:solidFill>
                  <a:srgbClr val="000000"/>
                </a:solidFill>
                <a:latin typeface="Carlito" pitchFamily="34" charset="0"/>
                <a:ea typeface="Carlito" pitchFamily="34" charset="-122"/>
                <a:cs typeface="Carlito" pitchFamily="34" charset="-120"/>
              </a:rPr>
              <a:t>, so </a:t>
            </a:r>
            <a:r>
              <a:rPr lang="en-US" sz="1600" b="1" dirty="0">
                <a:solidFill>
                  <a:srgbClr val="001080"/>
                </a:solidFill>
                <a:latin typeface="Carlito" pitchFamily="34" charset="0"/>
                <a:ea typeface="Carlito" pitchFamily="34" charset="-122"/>
                <a:cs typeface="Carlito" pitchFamily="34" charset="-120"/>
              </a:rPr>
              <a:t>a</a:t>
            </a:r>
            <a:r>
              <a:rPr lang="en-US" sz="1600" dirty="0">
                <a:solidFill>
                  <a:srgbClr val="000000"/>
                </a:solidFill>
                <a:latin typeface="Carlito" pitchFamily="34" charset="0"/>
                <a:ea typeface="Carlito" pitchFamily="34" charset="-122"/>
                <a:cs typeface="Carlito" pitchFamily="34" charset="-120"/>
              </a:rPr>
              <a:t> sees the change</a:t>
            </a:r>
            <a:endParaRPr lang="en-US" sz="1600" dirty="0"/>
          </a:p>
        </p:txBody>
      </p:sp>
      <p:sp>
        <p:nvSpPr>
          <p:cNvPr id="21" name="Text 16"/>
          <p:cNvSpPr/>
          <p:nvPr/>
        </p:nvSpPr>
        <p:spPr>
          <a:xfrm>
            <a:off x="825500" y="5099050"/>
            <a:ext cx="3701923" cy="228071"/>
          </a:xfrm>
          <a:prstGeom prst="rect">
            <a:avLst/>
          </a:prstGeom>
          <a:noFill/>
          <a:ln/>
        </p:spPr>
        <p:txBody>
          <a:bodyPr wrap="square" lIns="0" tIns="0" rIns="0" bIns="0" rtlCol="0" anchor="t">
            <a:normAutofit/>
          </a:bodyPr>
          <a:lstStyle/>
          <a:p>
            <a:pPr marL="0" indent="0" algn="l">
              <a:lnSpc>
                <a:spcPts val="1596"/>
              </a:lnSpc>
              <a:buNone/>
            </a:pPr>
            <a:r>
              <a:rPr lang="en-US" sz="1200" b="1" dirty="0">
                <a:solidFill>
                  <a:srgbClr val="001080"/>
                </a:solidFill>
                <a:latin typeface="Carlito" pitchFamily="34" charset="0"/>
                <a:ea typeface="Carlito" pitchFamily="34" charset="-122"/>
                <a:cs typeface="Carlito" pitchFamily="34" charset="-120"/>
              </a:rPr>
              <a:t>id(x)</a:t>
            </a:r>
            <a:r>
              <a:rPr lang="en-US" sz="1200" dirty="0">
                <a:solidFill>
                  <a:srgbClr val="6E6E6E"/>
                </a:solidFill>
                <a:latin typeface="Carlito" pitchFamily="34" charset="0"/>
                <a:ea typeface="Carlito" pitchFamily="34" charset="-122"/>
                <a:cs typeface="Carlito" pitchFamily="34" charset="-120"/>
              </a:rPr>
              <a:t> gives an object's identity. </a:t>
            </a:r>
            <a:r>
              <a:rPr lang="en-US" sz="1200" b="1" dirty="0">
                <a:solidFill>
                  <a:srgbClr val="001080"/>
                </a:solidFill>
                <a:latin typeface="Carlito" pitchFamily="34" charset="0"/>
                <a:ea typeface="Carlito" pitchFamily="34" charset="-122"/>
                <a:cs typeface="Carlito" pitchFamily="34" charset="-120"/>
              </a:rPr>
              <a:t>a is b</a:t>
            </a:r>
            <a:r>
              <a:rPr lang="en-US" sz="1200" dirty="0">
                <a:solidFill>
                  <a:srgbClr val="6E6E6E"/>
                </a:solidFill>
                <a:latin typeface="Carlito" pitchFamily="34" charset="0"/>
                <a:ea typeface="Carlito" pitchFamily="34" charset="-122"/>
                <a:cs typeface="Carlito" pitchFamily="34" charset="-120"/>
              </a:rPr>
              <a:t> means </a:t>
            </a:r>
            <a:r>
              <a:rPr lang="en-US" sz="1200" b="1" dirty="0">
                <a:solidFill>
                  <a:srgbClr val="001080"/>
                </a:solidFill>
                <a:latin typeface="Carlito" pitchFamily="34" charset="0"/>
                <a:ea typeface="Carlito" pitchFamily="34" charset="-122"/>
                <a:cs typeface="Carlito" pitchFamily="34" charset="-120"/>
              </a:rPr>
              <a:t>id(a) == id(b)</a:t>
            </a:r>
            <a:r>
              <a:rPr lang="en-US" sz="1200" dirty="0">
                <a:solidFill>
                  <a:srgbClr val="6E6E6E"/>
                </a:solidFill>
                <a:latin typeface="Carlito" pitchFamily="34" charset="0"/>
                <a:ea typeface="Carlito" pitchFamily="34" charset="-122"/>
                <a:cs typeface="Carlito" pitchFamily="34" charset="-120"/>
              </a:rPr>
              <a: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5500" y="533400"/>
            <a:ext cx="11118850" cy="640080"/>
          </a:xfrm>
          <a:prstGeom prst="rect">
            <a:avLst/>
          </a:prstGeom>
          <a:noFill/>
          <a:ln/>
        </p:spPr>
        <p:txBody>
          <a:bodyPr wrap="square" lIns="0" tIns="0" rIns="0" bIns="0" rtlCol="0" anchor="t">
            <a:normAutofit/>
          </a:bodyPr>
          <a:lstStyle/>
          <a:p>
            <a:pPr marL="0" indent="0" algn="l">
              <a:lnSpc>
                <a:spcPts val="4840"/>
              </a:lnSpc>
              <a:buNone/>
            </a:pPr>
            <a:r>
              <a:rPr lang="en-US" sz="4400" dirty="0">
                <a:solidFill>
                  <a:srgbClr val="000000"/>
                </a:solidFill>
                <a:latin typeface="Carlito" pitchFamily="34" charset="0"/>
                <a:ea typeface="Carlito" pitchFamily="34" charset="-122"/>
                <a:cs typeface="Carlito" pitchFamily="34" charset="-120"/>
              </a:rPr>
              <a:t>TRY IT: == VS is</a:t>
            </a:r>
            <a:endParaRPr lang="en-US" sz="4400" dirty="0"/>
          </a:p>
        </p:txBody>
      </p:sp>
      <p:sp>
        <p:nvSpPr>
          <p:cNvPr id="3" name="Text 1"/>
          <p:cNvSpPr/>
          <p:nvPr/>
        </p:nvSpPr>
        <p:spPr>
          <a:xfrm>
            <a:off x="825500" y="1416050"/>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A · Predict each line</a:t>
            </a:r>
            <a:endParaRPr lang="en-US" sz="1200" dirty="0"/>
          </a:p>
        </p:txBody>
      </p:sp>
      <p:sp>
        <p:nvSpPr>
          <p:cNvPr id="4" name="Shape 2"/>
          <p:cNvSpPr/>
          <p:nvPr/>
        </p:nvSpPr>
        <p:spPr>
          <a:xfrm>
            <a:off x="828675" y="1685925"/>
            <a:ext cx="5073650" cy="2088092"/>
          </a:xfrm>
          <a:prstGeom prst="rect">
            <a:avLst/>
          </a:prstGeom>
          <a:solidFill>
            <a:srgbClr val="F8F8F8"/>
          </a:solidFill>
          <a:ln w="6350">
            <a:solidFill>
              <a:srgbClr val="D9D9D9"/>
            </a:solidFill>
            <a:prstDash val="solid"/>
          </a:ln>
        </p:spPr>
      </p:sp>
      <p:sp>
        <p:nvSpPr>
          <p:cNvPr id="5" name="Text 3"/>
          <p:cNvSpPr/>
          <p:nvPr/>
        </p:nvSpPr>
        <p:spPr>
          <a:xfrm>
            <a:off x="1009121" y="1840971"/>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x</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6" name="Text 4"/>
          <p:cNvSpPr/>
          <p:nvPr/>
        </p:nvSpPr>
        <p:spPr>
          <a:xfrm>
            <a:off x="1009121" y="2094971"/>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y</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x</a:t>
            </a:r>
            <a:endParaRPr lang="en-US" sz="1600" dirty="0"/>
          </a:p>
        </p:txBody>
      </p:sp>
      <p:sp>
        <p:nvSpPr>
          <p:cNvPr id="7" name="Text 5"/>
          <p:cNvSpPr/>
          <p:nvPr/>
        </p:nvSpPr>
        <p:spPr>
          <a:xfrm>
            <a:off x="1009121" y="2348971"/>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z</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8" name="Text 6"/>
          <p:cNvSpPr/>
          <p:nvPr/>
        </p:nvSpPr>
        <p:spPr>
          <a:xfrm>
            <a:off x="1009121" y="2602971"/>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x</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z</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x</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00FF"/>
                </a:solidFill>
                <a:latin typeface="Inconsolata" pitchFamily="34" charset="0"/>
                <a:ea typeface="Inconsolata" pitchFamily="34" charset="-122"/>
                <a:cs typeface="Inconsolata" pitchFamily="34" charset="-120"/>
              </a:rPr>
              <a:t>is</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z</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9" name="Text 7"/>
          <p:cNvSpPr/>
          <p:nvPr/>
        </p:nvSpPr>
        <p:spPr>
          <a:xfrm>
            <a:off x="1009121" y="2856971"/>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x</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00FF"/>
                </a:solidFill>
                <a:latin typeface="Inconsolata" pitchFamily="34" charset="0"/>
                <a:ea typeface="Inconsolata" pitchFamily="34" charset="-122"/>
                <a:cs typeface="Inconsolata" pitchFamily="34" charset="-120"/>
              </a:rPr>
              <a:t>is</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y</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0" name="Text 8"/>
          <p:cNvSpPr/>
          <p:nvPr/>
        </p:nvSpPr>
        <p:spPr>
          <a:xfrm>
            <a:off x="1009121" y="3110971"/>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6</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y</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append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6</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1" name="Text 9"/>
          <p:cNvSpPr/>
          <p:nvPr/>
        </p:nvSpPr>
        <p:spPr>
          <a:xfrm>
            <a:off x="1009121" y="3364971"/>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7</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x</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z</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2" name="Text 10"/>
          <p:cNvSpPr/>
          <p:nvPr/>
        </p:nvSpPr>
        <p:spPr>
          <a:xfrm>
            <a:off x="825500" y="3981450"/>
            <a:ext cx="5232400"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What prints? Which names are the same list?</a:t>
            </a:r>
            <a:endParaRPr lang="en-US" sz="1600" dirty="0"/>
          </a:p>
        </p:txBody>
      </p:sp>
      <p:sp>
        <p:nvSpPr>
          <p:cNvPr id="13" name="Text 11"/>
          <p:cNvSpPr/>
          <p:nvPr/>
        </p:nvSpPr>
        <p:spPr>
          <a:xfrm>
            <a:off x="6299200" y="1416050"/>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B · Predict each line</a:t>
            </a:r>
            <a:endParaRPr lang="en-US" sz="1200" dirty="0"/>
          </a:p>
        </p:txBody>
      </p:sp>
      <p:sp>
        <p:nvSpPr>
          <p:cNvPr id="14" name="Shape 12"/>
          <p:cNvSpPr/>
          <p:nvPr/>
        </p:nvSpPr>
        <p:spPr>
          <a:xfrm>
            <a:off x="6302375" y="1685925"/>
            <a:ext cx="5073650" cy="1580092"/>
          </a:xfrm>
          <a:prstGeom prst="rect">
            <a:avLst/>
          </a:prstGeom>
          <a:solidFill>
            <a:srgbClr val="F8F8F8"/>
          </a:solidFill>
          <a:ln w="6350">
            <a:solidFill>
              <a:srgbClr val="D9D9D9"/>
            </a:solidFill>
            <a:prstDash val="solid"/>
          </a:ln>
        </p:spPr>
      </p:sp>
      <p:sp>
        <p:nvSpPr>
          <p:cNvPr id="15" name="Text 13"/>
          <p:cNvSpPr/>
          <p:nvPr/>
        </p:nvSpPr>
        <p:spPr>
          <a:xfrm>
            <a:off x="6482821" y="1840971"/>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6" name="Text 14"/>
          <p:cNvSpPr/>
          <p:nvPr/>
        </p:nvSpPr>
        <p:spPr>
          <a:xfrm>
            <a:off x="6482821" y="2094971"/>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7" name="Text 15"/>
          <p:cNvSpPr/>
          <p:nvPr/>
        </p:nvSpPr>
        <p:spPr>
          <a:xfrm>
            <a:off x="6482821" y="2348971"/>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00FF"/>
                </a:solidFill>
                <a:latin typeface="Inconsolata" pitchFamily="34" charset="0"/>
                <a:ea typeface="Inconsolata" pitchFamily="34" charset="-122"/>
                <a:cs typeface="Inconsolata" pitchFamily="34" charset="-120"/>
              </a:rPr>
              <a:t>is</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8" name="Text 16"/>
          <p:cNvSpPr/>
          <p:nvPr/>
        </p:nvSpPr>
        <p:spPr>
          <a:xfrm>
            <a:off x="6482821" y="2602971"/>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99</a:t>
            </a:r>
            <a:endParaRPr lang="en-US" sz="1600" dirty="0"/>
          </a:p>
        </p:txBody>
      </p:sp>
      <p:sp>
        <p:nvSpPr>
          <p:cNvPr id="19" name="Text 17"/>
          <p:cNvSpPr/>
          <p:nvPr/>
        </p:nvSpPr>
        <p:spPr>
          <a:xfrm>
            <a:off x="6482821" y="2856971"/>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20" name="Text 18"/>
          <p:cNvSpPr/>
          <p:nvPr/>
        </p:nvSpPr>
        <p:spPr>
          <a:xfrm>
            <a:off x="6299200" y="3473450"/>
            <a:ext cx="5232400"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Does changing </a:t>
            </a:r>
            <a:r>
              <a:rPr lang="en-US" sz="1600" b="1" dirty="0">
                <a:solidFill>
                  <a:srgbClr val="001080"/>
                </a:solidFill>
                <a:latin typeface="Carlito" pitchFamily="34" charset="0"/>
                <a:ea typeface="Carlito" pitchFamily="34" charset="-122"/>
                <a:cs typeface="Carlito" pitchFamily="34" charset="-120"/>
              </a:rPr>
              <a:t>b</a:t>
            </a:r>
            <a:r>
              <a:rPr lang="en-US" sz="1600" dirty="0">
                <a:solidFill>
                  <a:srgbClr val="000000"/>
                </a:solidFill>
                <a:latin typeface="Carlito" pitchFamily="34" charset="0"/>
                <a:ea typeface="Carlito" pitchFamily="34" charset="-122"/>
                <a:cs typeface="Carlito" pitchFamily="34" charset="-120"/>
              </a:rPr>
              <a:t> change </a:t>
            </a:r>
            <a:r>
              <a:rPr lang="en-US" sz="1600" b="1" dirty="0">
                <a:solidFill>
                  <a:srgbClr val="001080"/>
                </a:solidFill>
                <a:latin typeface="Carlito" pitchFamily="34" charset="0"/>
                <a:ea typeface="Carlito" pitchFamily="34" charset="-122"/>
                <a:cs typeface="Carlito" pitchFamily="34" charset="-120"/>
              </a:rPr>
              <a:t>a</a:t>
            </a:r>
            <a:r>
              <a:rPr lang="en-US" sz="1600" dirty="0">
                <a:solidFill>
                  <a:srgbClr val="000000"/>
                </a:solidFill>
                <a:latin typeface="Carlito" pitchFamily="34" charset="0"/>
                <a:ea typeface="Carlito" pitchFamily="34" charset="-122"/>
                <a:cs typeface="Carlito" pitchFamily="34" charset="-120"/>
              </a:rPr>
              <a:t>? Why or why not?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5500" y="533400"/>
            <a:ext cx="11118850" cy="640080"/>
          </a:xfrm>
          <a:prstGeom prst="rect">
            <a:avLst/>
          </a:prstGeom>
          <a:noFill/>
          <a:ln/>
        </p:spPr>
        <p:txBody>
          <a:bodyPr wrap="square" lIns="0" tIns="0" rIns="0" bIns="0" rtlCol="0" anchor="t">
            <a:normAutofit/>
          </a:bodyPr>
          <a:lstStyle/>
          <a:p>
            <a:pPr marL="0" indent="0" algn="l">
              <a:lnSpc>
                <a:spcPts val="4840"/>
              </a:lnSpc>
              <a:buNone/>
            </a:pPr>
            <a:r>
              <a:rPr lang="en-US" sz="4400" dirty="0">
                <a:solidFill>
                  <a:srgbClr val="000000"/>
                </a:solidFill>
                <a:latin typeface="Carlito" pitchFamily="34" charset="0"/>
                <a:ea typeface="Carlito" pitchFamily="34" charset="-122"/>
                <a:cs typeface="Carlito" pitchFamily="34" charset="-120"/>
              </a:rPr>
              <a:t>LISTS WITHIN LISTS</a:t>
            </a:r>
            <a:endParaRPr lang="en-US" sz="4400" dirty="0"/>
          </a:p>
        </p:txBody>
      </p:sp>
      <p:sp>
        <p:nvSpPr>
          <p:cNvPr id="3" name="Shape 1"/>
          <p:cNvSpPr/>
          <p:nvPr/>
        </p:nvSpPr>
        <p:spPr>
          <a:xfrm>
            <a:off x="5476875" y="1419225"/>
            <a:ext cx="5899150" cy="2342092"/>
          </a:xfrm>
          <a:prstGeom prst="rect">
            <a:avLst/>
          </a:prstGeom>
          <a:solidFill>
            <a:srgbClr val="F8F8F8"/>
          </a:solidFill>
          <a:ln w="6350">
            <a:solidFill>
              <a:srgbClr val="D9D9D9"/>
            </a:solidFill>
            <a:prstDash val="solid"/>
          </a:ln>
        </p:spPr>
      </p:sp>
      <p:sp>
        <p:nvSpPr>
          <p:cNvPr id="4" name="Text 2"/>
          <p:cNvSpPr/>
          <p:nvPr/>
        </p:nvSpPr>
        <p:spPr>
          <a:xfrm>
            <a:off x="5657321" y="1574271"/>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row</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5" name="Text 3"/>
          <p:cNvSpPr/>
          <p:nvPr/>
        </p:nvSpPr>
        <p:spPr>
          <a:xfrm>
            <a:off x="5657321" y="1828271"/>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grid</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row</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6" name="Text 4"/>
          <p:cNvSpPr/>
          <p:nvPr/>
        </p:nvSpPr>
        <p:spPr>
          <a:xfrm>
            <a:off x="5657321" y="2082271"/>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endParaRPr lang="en-US" sz="1600" dirty="0"/>
          </a:p>
        </p:txBody>
      </p:sp>
      <p:sp>
        <p:nvSpPr>
          <p:cNvPr id="7" name="Text 5"/>
          <p:cNvSpPr/>
          <p:nvPr/>
        </p:nvSpPr>
        <p:spPr>
          <a:xfrm>
            <a:off x="5657321" y="2336271"/>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grid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99</a:t>
            </a:r>
            <a:endParaRPr lang="en-US" sz="1600" dirty="0"/>
          </a:p>
        </p:txBody>
      </p:sp>
      <p:sp>
        <p:nvSpPr>
          <p:cNvPr id="8" name="Text 6"/>
          <p:cNvSpPr/>
          <p:nvPr/>
        </p:nvSpPr>
        <p:spPr>
          <a:xfrm>
            <a:off x="5657321" y="2590271"/>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row</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9" name="Text 7"/>
          <p:cNvSpPr/>
          <p:nvPr/>
        </p:nvSpPr>
        <p:spPr>
          <a:xfrm>
            <a:off x="5657321" y="2844271"/>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6</a:t>
            </a:r>
            <a:r>
              <a:rPr lang="en-US" sz="1600" dirty="0">
                <a:solidFill>
                  <a:srgbClr val="000000"/>
                </a:solidFill>
                <a:latin typeface="Inconsolata" pitchFamily="34" charset="0"/>
                <a:ea typeface="Inconsolata" pitchFamily="34" charset="-122"/>
                <a:cs typeface="Inconsolata" pitchFamily="34" charset="-120"/>
              </a:rPr>
              <a:t>  </a:t>
            </a:r>
            <a:endParaRPr lang="en-US" sz="1600" dirty="0"/>
          </a:p>
        </p:txBody>
      </p:sp>
      <p:sp>
        <p:nvSpPr>
          <p:cNvPr id="10" name="Text 8"/>
          <p:cNvSpPr/>
          <p:nvPr/>
        </p:nvSpPr>
        <p:spPr>
          <a:xfrm>
            <a:off x="5657321" y="3098271"/>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7</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row</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append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1" name="Text 9"/>
          <p:cNvSpPr/>
          <p:nvPr/>
        </p:nvSpPr>
        <p:spPr>
          <a:xfrm>
            <a:off x="5657321" y="3352271"/>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8</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grid</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pic>
        <p:nvPicPr>
          <p:cNvPr id="12" name="Image 0" descr="arrow-right"/>
          <p:cNvPicPr>
            <a:picLocks noChangeAspect="1"/>
          </p:cNvPicPr>
          <p:nvPr/>
        </p:nvPicPr>
        <p:blipFill>
          <a:blip r:embed="rId3"/>
          <a:srcRect/>
          <a:stretch/>
        </p:blipFill>
        <p:spPr>
          <a:xfrm>
            <a:off x="4546600" y="1752600"/>
            <a:ext cx="787400" cy="412750"/>
          </a:xfrm>
          <a:prstGeom prst="rect">
            <a:avLst/>
          </a:prstGeom>
        </p:spPr>
      </p:pic>
      <p:sp>
        <p:nvSpPr>
          <p:cNvPr id="13" name="Text 10"/>
          <p:cNvSpPr/>
          <p:nvPr/>
        </p:nvSpPr>
        <p:spPr>
          <a:xfrm>
            <a:off x="825500" y="1701800"/>
            <a:ext cx="3701923"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1080"/>
                </a:solidFill>
                <a:latin typeface="Carlito" pitchFamily="34" charset="0"/>
                <a:ea typeface="Carlito" pitchFamily="34" charset="-122"/>
                <a:cs typeface="Carlito" pitchFamily="34" charset="-120"/>
              </a:rPr>
              <a:t>grid</a:t>
            </a:r>
            <a:r>
              <a:rPr lang="en-US" sz="1600" dirty="0">
                <a:solidFill>
                  <a:srgbClr val="000000"/>
                </a:solidFill>
                <a:latin typeface="Carlito" pitchFamily="34" charset="0"/>
                <a:ea typeface="Carlito" pitchFamily="34" charset="-122"/>
                <a:cs typeface="Carlito" pitchFamily="34" charset="-120"/>
              </a:rPr>
              <a:t> stores a reference to </a:t>
            </a:r>
            <a:r>
              <a:rPr lang="en-US" sz="1600" b="1" dirty="0">
                <a:solidFill>
                  <a:srgbClr val="001080"/>
                </a:solidFill>
                <a:latin typeface="Carlito" pitchFamily="34" charset="0"/>
                <a:ea typeface="Carlito" pitchFamily="34" charset="-122"/>
                <a:cs typeface="Carlito" pitchFamily="34" charset="-120"/>
              </a:rPr>
              <a:t>row</a:t>
            </a:r>
            <a:r>
              <a:rPr lang="en-US" sz="1600" dirty="0">
                <a:solidFill>
                  <a:srgbClr val="000000"/>
                </a:solidFill>
                <a:latin typeface="Carlito" pitchFamily="34" charset="0"/>
                <a:ea typeface="Carlito" pitchFamily="34" charset="-122"/>
                <a:cs typeface="Carlito" pitchFamily="34" charset="-120"/>
              </a:rPr>
              <a:t>, not a copy</a:t>
            </a:r>
            <a:endParaRPr lang="en-US" sz="1600" dirty="0"/>
          </a:p>
        </p:txBody>
      </p:sp>
      <p:pic>
        <p:nvPicPr>
          <p:cNvPr id="14" name="Image 1" descr="arrow-right"/>
          <p:cNvPicPr>
            <a:picLocks noChangeAspect="1"/>
          </p:cNvPicPr>
          <p:nvPr/>
        </p:nvPicPr>
        <p:blipFill>
          <a:blip r:embed="rId3"/>
          <a:srcRect/>
          <a:stretch/>
        </p:blipFill>
        <p:spPr>
          <a:xfrm>
            <a:off x="4546600" y="2260600"/>
            <a:ext cx="787400" cy="412750"/>
          </a:xfrm>
          <a:prstGeom prst="rect">
            <a:avLst/>
          </a:prstGeom>
        </p:spPr>
      </p:pic>
      <p:sp>
        <p:nvSpPr>
          <p:cNvPr id="15" name="Text 11"/>
          <p:cNvSpPr/>
          <p:nvPr/>
        </p:nvSpPr>
        <p:spPr>
          <a:xfrm>
            <a:off x="825500" y="2209800"/>
            <a:ext cx="3701923"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Reaches into the inner list and changes it</a:t>
            </a:r>
            <a:endParaRPr lang="en-US" sz="1600" dirty="0"/>
          </a:p>
        </p:txBody>
      </p:sp>
      <p:pic>
        <p:nvPicPr>
          <p:cNvPr id="16" name="Image 2" descr="arrow-right"/>
          <p:cNvPicPr>
            <a:picLocks noChangeAspect="1"/>
          </p:cNvPicPr>
          <p:nvPr/>
        </p:nvPicPr>
        <p:blipFill>
          <a:blip r:embed="rId3"/>
          <a:srcRect/>
          <a:stretch/>
        </p:blipFill>
        <p:spPr>
          <a:xfrm>
            <a:off x="4546600" y="3022600"/>
            <a:ext cx="787400" cy="412750"/>
          </a:xfrm>
          <a:prstGeom prst="rect">
            <a:avLst/>
          </a:prstGeom>
        </p:spPr>
      </p:pic>
      <p:sp>
        <p:nvSpPr>
          <p:cNvPr id="17" name="Text 12"/>
          <p:cNvSpPr/>
          <p:nvPr/>
        </p:nvSpPr>
        <p:spPr>
          <a:xfrm>
            <a:off x="825500" y="3098800"/>
            <a:ext cx="3701923"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1080"/>
                </a:solidFill>
                <a:latin typeface="Carlito" pitchFamily="34" charset="0"/>
                <a:ea typeface="Carlito" pitchFamily="34" charset="-122"/>
                <a:cs typeface="Carlito" pitchFamily="34" charset="-120"/>
              </a:rPr>
              <a:t>row</a:t>
            </a:r>
            <a:r>
              <a:rPr lang="en-US" sz="1600" dirty="0">
                <a:solidFill>
                  <a:srgbClr val="000000"/>
                </a:solidFill>
                <a:latin typeface="Carlito" pitchFamily="34" charset="0"/>
                <a:ea typeface="Carlito" pitchFamily="34" charset="-122"/>
                <a:cs typeface="Carlito" pitchFamily="34" charset="-120"/>
              </a:rPr>
              <a:t> and </a:t>
            </a:r>
            <a:r>
              <a:rPr lang="en-US" sz="1600" b="1" dirty="0">
                <a:solidFill>
                  <a:srgbClr val="001080"/>
                </a:solidFill>
                <a:latin typeface="Carlito" pitchFamily="34" charset="0"/>
                <a:ea typeface="Carlito" pitchFamily="34" charset="-122"/>
                <a:cs typeface="Carlito" pitchFamily="34" charset="-120"/>
              </a:rPr>
              <a:t>grid[0]</a:t>
            </a:r>
            <a:r>
              <a:rPr lang="en-US" sz="1600" dirty="0">
                <a:solidFill>
                  <a:srgbClr val="000000"/>
                </a:solidFill>
                <a:latin typeface="Carlito" pitchFamily="34" charset="0"/>
                <a:ea typeface="Carlito" pitchFamily="34" charset="-122"/>
                <a:cs typeface="Carlito" pitchFamily="34" charset="-120"/>
              </a:rPr>
              <a:t> are the same list</a:t>
            </a:r>
            <a:endParaRPr lang="en-US" sz="1600" dirty="0"/>
          </a:p>
        </p:txBody>
      </p:sp>
      <p:sp>
        <p:nvSpPr>
          <p:cNvPr id="18" name="Text 13"/>
          <p:cNvSpPr/>
          <p:nvPr/>
        </p:nvSpPr>
        <p:spPr>
          <a:xfrm>
            <a:off x="5473700" y="4006850"/>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Output</a:t>
            </a:r>
            <a:endParaRPr lang="en-US" sz="1200" dirty="0"/>
          </a:p>
        </p:txBody>
      </p:sp>
      <p:sp>
        <p:nvSpPr>
          <p:cNvPr id="19" name="Shape 14"/>
          <p:cNvSpPr/>
          <p:nvPr/>
        </p:nvSpPr>
        <p:spPr>
          <a:xfrm>
            <a:off x="5473700" y="4273550"/>
            <a:ext cx="2413000" cy="787400"/>
          </a:xfrm>
          <a:prstGeom prst="rect">
            <a:avLst/>
          </a:prstGeom>
          <a:solidFill>
            <a:srgbClr val="EDEDED"/>
          </a:solidFill>
          <a:ln/>
        </p:spPr>
      </p:sp>
      <p:sp>
        <p:nvSpPr>
          <p:cNvPr id="20" name="Text 15"/>
          <p:cNvSpPr/>
          <p:nvPr/>
        </p:nvSpPr>
        <p:spPr>
          <a:xfrm>
            <a:off x="5651500" y="4413250"/>
            <a:ext cx="2119122"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1F1F1F"/>
                </a:solidFill>
                <a:latin typeface="Inconsolata" pitchFamily="34" charset="0"/>
                <a:ea typeface="Inconsolata" pitchFamily="34" charset="-122"/>
                <a:cs typeface="Inconsolata" pitchFamily="34" charset="-120"/>
              </a:rPr>
              <a:t>[1, 99]</a:t>
            </a:r>
            <a:endParaRPr lang="en-US" sz="1600" dirty="0"/>
          </a:p>
        </p:txBody>
      </p:sp>
      <p:sp>
        <p:nvSpPr>
          <p:cNvPr id="21" name="Text 16"/>
          <p:cNvSpPr/>
          <p:nvPr/>
        </p:nvSpPr>
        <p:spPr>
          <a:xfrm>
            <a:off x="5651500" y="4667250"/>
            <a:ext cx="2119122"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1F1F1F"/>
                </a:solidFill>
                <a:latin typeface="Inconsolata" pitchFamily="34" charset="0"/>
                <a:ea typeface="Inconsolata" pitchFamily="34" charset="-122"/>
                <a:cs typeface="Inconsolata" pitchFamily="34" charset="-120"/>
              </a:rPr>
              <a:t>[[1, 99, 5], [3, 4]]</a:t>
            </a:r>
            <a:endParaRPr lang="en-US" sz="1600" dirty="0"/>
          </a:p>
        </p:txBody>
      </p:sp>
      <p:pic>
        <p:nvPicPr>
          <p:cNvPr id="22" name="Image 3" descr="arrow-right"/>
          <p:cNvPicPr>
            <a:picLocks noChangeAspect="1"/>
          </p:cNvPicPr>
          <p:nvPr/>
        </p:nvPicPr>
        <p:blipFill>
          <a:blip r:embed="rId3"/>
          <a:srcRect/>
          <a:stretch/>
        </p:blipFill>
        <p:spPr>
          <a:xfrm>
            <a:off x="4546600" y="4591050"/>
            <a:ext cx="787400" cy="412750"/>
          </a:xfrm>
          <a:prstGeom prst="rect">
            <a:avLst/>
          </a:prstGeom>
        </p:spPr>
      </p:pic>
      <p:sp>
        <p:nvSpPr>
          <p:cNvPr id="23" name="Text 17"/>
          <p:cNvSpPr/>
          <p:nvPr/>
        </p:nvSpPr>
        <p:spPr>
          <a:xfrm>
            <a:off x="825500" y="4667250"/>
            <a:ext cx="3701923"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So </a:t>
            </a:r>
            <a:r>
              <a:rPr lang="en-US" sz="1600" b="1" dirty="0">
                <a:solidFill>
                  <a:srgbClr val="001080"/>
                </a:solidFill>
                <a:latin typeface="Carlito" pitchFamily="34" charset="0"/>
                <a:ea typeface="Carlito" pitchFamily="34" charset="-122"/>
                <a:cs typeface="Carlito" pitchFamily="34" charset="-120"/>
              </a:rPr>
              <a:t>grid</a:t>
            </a:r>
            <a:r>
              <a:rPr lang="en-US" sz="1600" dirty="0">
                <a:solidFill>
                  <a:srgbClr val="000000"/>
                </a:solidFill>
                <a:latin typeface="Carlito" pitchFamily="34" charset="0"/>
                <a:ea typeface="Carlito" pitchFamily="34" charset="-122"/>
                <a:cs typeface="Carlito" pitchFamily="34" charset="-120"/>
              </a:rPr>
              <a:t> sees the change too</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5500" y="533400"/>
            <a:ext cx="11118850" cy="640080"/>
          </a:xfrm>
          <a:prstGeom prst="rect">
            <a:avLst/>
          </a:prstGeom>
          <a:noFill/>
          <a:ln/>
        </p:spPr>
        <p:txBody>
          <a:bodyPr wrap="square" lIns="0" tIns="0" rIns="0" bIns="0" rtlCol="0" anchor="t">
            <a:normAutofit/>
          </a:bodyPr>
          <a:lstStyle/>
          <a:p>
            <a:pPr marL="0" indent="0" algn="l">
              <a:lnSpc>
                <a:spcPts val="4840"/>
              </a:lnSpc>
              <a:buNone/>
            </a:pPr>
            <a:r>
              <a:rPr lang="en-US" sz="4400" dirty="0">
                <a:solidFill>
                  <a:srgbClr val="000000"/>
                </a:solidFill>
                <a:latin typeface="Carlito" pitchFamily="34" charset="0"/>
                <a:ea typeface="Carlito" pitchFamily="34" charset="-122"/>
                <a:cs typeface="Carlito" pitchFamily="34" charset="-120"/>
              </a:rPr>
              <a:t>TRY IT: LISTS WITHIN LISTS</a:t>
            </a:r>
            <a:endParaRPr lang="en-US" sz="4400" dirty="0"/>
          </a:p>
        </p:txBody>
      </p:sp>
      <p:sp>
        <p:nvSpPr>
          <p:cNvPr id="3" name="Text 1"/>
          <p:cNvSpPr/>
          <p:nvPr/>
        </p:nvSpPr>
        <p:spPr>
          <a:xfrm>
            <a:off x="825500" y="1416050"/>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A · Predict the output</a:t>
            </a:r>
            <a:endParaRPr lang="en-US" sz="1200" dirty="0"/>
          </a:p>
        </p:txBody>
      </p:sp>
      <p:sp>
        <p:nvSpPr>
          <p:cNvPr id="4" name="Shape 2"/>
          <p:cNvSpPr/>
          <p:nvPr/>
        </p:nvSpPr>
        <p:spPr>
          <a:xfrm>
            <a:off x="828675" y="1685925"/>
            <a:ext cx="5073650" cy="1326092"/>
          </a:xfrm>
          <a:prstGeom prst="rect">
            <a:avLst/>
          </a:prstGeom>
          <a:solidFill>
            <a:srgbClr val="F8F8F8"/>
          </a:solidFill>
          <a:ln w="6350">
            <a:solidFill>
              <a:srgbClr val="D9D9D9"/>
            </a:solidFill>
            <a:prstDash val="solid"/>
          </a:ln>
        </p:spPr>
      </p:sp>
      <p:sp>
        <p:nvSpPr>
          <p:cNvPr id="5" name="Text 3"/>
          <p:cNvSpPr/>
          <p:nvPr/>
        </p:nvSpPr>
        <p:spPr>
          <a:xfrm>
            <a:off x="1009121" y="1840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6" name="Text 4"/>
          <p:cNvSpPr/>
          <p:nvPr/>
        </p:nvSpPr>
        <p:spPr>
          <a:xfrm>
            <a:off x="1009121" y="2094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7" name="Text 5"/>
          <p:cNvSpPr/>
          <p:nvPr/>
        </p:nvSpPr>
        <p:spPr>
          <a:xfrm>
            <a:off x="1009121" y="2348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append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8" name="Text 6"/>
          <p:cNvSpPr/>
          <p:nvPr/>
        </p:nvSpPr>
        <p:spPr>
          <a:xfrm>
            <a:off x="1009121" y="2602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9" name="Text 7"/>
          <p:cNvSpPr/>
          <p:nvPr/>
        </p:nvSpPr>
        <p:spPr>
          <a:xfrm>
            <a:off x="825500" y="3219450"/>
            <a:ext cx="5232400"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How many different inner lists does </a:t>
            </a:r>
            <a:r>
              <a:rPr lang="en-US" sz="1600" b="1" dirty="0">
                <a:solidFill>
                  <a:srgbClr val="001080"/>
                </a:solidFill>
                <a:latin typeface="Carlito" pitchFamily="34" charset="0"/>
                <a:ea typeface="Carlito" pitchFamily="34" charset="-122"/>
                <a:cs typeface="Carlito" pitchFamily="34" charset="-120"/>
              </a:rPr>
              <a:t>b</a:t>
            </a:r>
            <a:r>
              <a:rPr lang="en-US" sz="1600" dirty="0">
                <a:solidFill>
                  <a:srgbClr val="000000"/>
                </a:solidFill>
                <a:latin typeface="Carlito" pitchFamily="34" charset="0"/>
                <a:ea typeface="Carlito" pitchFamily="34" charset="-122"/>
                <a:cs typeface="Carlito" pitchFamily="34" charset="-120"/>
              </a:rPr>
              <a:t> really hold?</a:t>
            </a:r>
            <a:endParaRPr lang="en-US" sz="1600" dirty="0"/>
          </a:p>
        </p:txBody>
      </p:sp>
      <p:sp>
        <p:nvSpPr>
          <p:cNvPr id="10" name="Text 8"/>
          <p:cNvSpPr/>
          <p:nvPr/>
        </p:nvSpPr>
        <p:spPr>
          <a:xfrm>
            <a:off x="6299200" y="1416050"/>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B · Predict, then fix</a:t>
            </a:r>
            <a:endParaRPr lang="en-US" sz="1200" dirty="0"/>
          </a:p>
        </p:txBody>
      </p:sp>
      <p:sp>
        <p:nvSpPr>
          <p:cNvPr id="11" name="Shape 9"/>
          <p:cNvSpPr/>
          <p:nvPr/>
        </p:nvSpPr>
        <p:spPr>
          <a:xfrm>
            <a:off x="6302375" y="1685925"/>
            <a:ext cx="5073650" cy="1834092"/>
          </a:xfrm>
          <a:prstGeom prst="rect">
            <a:avLst/>
          </a:prstGeom>
          <a:solidFill>
            <a:srgbClr val="F8F8F8"/>
          </a:solidFill>
          <a:ln w="6350">
            <a:solidFill>
              <a:srgbClr val="D9D9D9"/>
            </a:solidFill>
            <a:prstDash val="solid"/>
          </a:ln>
        </p:spPr>
      </p:sp>
      <p:sp>
        <p:nvSpPr>
          <p:cNvPr id="12" name="Text 10"/>
          <p:cNvSpPr/>
          <p:nvPr/>
        </p:nvSpPr>
        <p:spPr>
          <a:xfrm>
            <a:off x="6482821" y="1840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rows</a:t>
            </a:r>
            <a:r>
              <a:rPr lang="en-US" sz="1600" dirty="0">
                <a:solidFill>
                  <a:srgbClr val="000000"/>
                </a:solidFill>
                <a:latin typeface="Inconsolata" pitchFamily="34" charset="0"/>
                <a:ea typeface="Inconsolata" pitchFamily="34" charset="-122"/>
                <a:cs typeface="Inconsolata" pitchFamily="34" charset="-120"/>
              </a:rPr>
              <a:t> = []</a:t>
            </a:r>
            <a:endParaRPr lang="en-US" sz="1600" dirty="0"/>
          </a:p>
        </p:txBody>
      </p:sp>
      <p:sp>
        <p:nvSpPr>
          <p:cNvPr id="13" name="Text 11"/>
          <p:cNvSpPr/>
          <p:nvPr/>
        </p:nvSpPr>
        <p:spPr>
          <a:xfrm>
            <a:off x="6482821" y="2094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row</a:t>
            </a:r>
            <a:r>
              <a:rPr lang="en-US" sz="1600" dirty="0">
                <a:solidFill>
                  <a:srgbClr val="000000"/>
                </a:solidFill>
                <a:latin typeface="Inconsolata" pitchFamily="34" charset="0"/>
                <a:ea typeface="Inconsolata" pitchFamily="34" charset="-122"/>
                <a:cs typeface="Inconsolata" pitchFamily="34" charset="-120"/>
              </a:rPr>
              <a:t> = []</a:t>
            </a:r>
            <a:endParaRPr lang="en-US" sz="1600" dirty="0"/>
          </a:p>
        </p:txBody>
      </p:sp>
      <p:sp>
        <p:nvSpPr>
          <p:cNvPr id="14" name="Text 12"/>
          <p:cNvSpPr/>
          <p:nvPr/>
        </p:nvSpPr>
        <p:spPr>
          <a:xfrm>
            <a:off x="6482821" y="2348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AF00DB"/>
                </a:solidFill>
                <a:latin typeface="Inconsolata" pitchFamily="34" charset="0"/>
                <a:ea typeface="Inconsolata" pitchFamily="34" charset="-122"/>
                <a:cs typeface="Inconsolata" pitchFamily="34" charset="-120"/>
              </a:rPr>
              <a:t>for</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i</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AF00DB"/>
                </a:solidFill>
                <a:latin typeface="Inconsolata" pitchFamily="34" charset="0"/>
                <a:ea typeface="Inconsolata" pitchFamily="34" charset="-122"/>
                <a:cs typeface="Inconsolata" pitchFamily="34" charset="-120"/>
              </a:rPr>
              <a:t>in</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range</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5" name="Text 13"/>
          <p:cNvSpPr/>
          <p:nvPr/>
        </p:nvSpPr>
        <p:spPr>
          <a:xfrm>
            <a:off x="6482821" y="2602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row</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append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i</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6" name="Text 14"/>
          <p:cNvSpPr/>
          <p:nvPr/>
        </p:nvSpPr>
        <p:spPr>
          <a:xfrm>
            <a:off x="6482821" y="2856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rows</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append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row</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7" name="Text 15"/>
          <p:cNvSpPr/>
          <p:nvPr/>
        </p:nvSpPr>
        <p:spPr>
          <a:xfrm>
            <a:off x="6482821" y="3110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6</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rows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8" name="Text 16"/>
          <p:cNvSpPr/>
          <p:nvPr/>
        </p:nvSpPr>
        <p:spPr>
          <a:xfrm>
            <a:off x="6299200" y="3727450"/>
            <a:ext cx="5232400"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Fix it so it prints </a:t>
            </a:r>
            <a:r>
              <a:rPr lang="en-US" sz="1600" b="1" dirty="0">
                <a:solidFill>
                  <a:srgbClr val="001080"/>
                </a:solidFill>
                <a:latin typeface="Carlito" pitchFamily="34" charset="0"/>
                <a:ea typeface="Carlito" pitchFamily="34" charset="-122"/>
                <a:cs typeface="Carlito" pitchFamily="34" charset="-120"/>
              </a:rPr>
              <a:t>[[0], [0, 1], [0, 1, 2]]</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5500" y="533400"/>
            <a:ext cx="11118850" cy="640080"/>
          </a:xfrm>
          <a:prstGeom prst="rect">
            <a:avLst/>
          </a:prstGeom>
          <a:noFill/>
          <a:ln/>
        </p:spPr>
        <p:txBody>
          <a:bodyPr wrap="square" lIns="0" tIns="0" rIns="0" bIns="0" rtlCol="0" anchor="t">
            <a:normAutofit/>
          </a:bodyPr>
          <a:lstStyle/>
          <a:p>
            <a:pPr marL="0" indent="0" algn="l">
              <a:lnSpc>
                <a:spcPts val="4840"/>
              </a:lnSpc>
              <a:buNone/>
            </a:pPr>
            <a:r>
              <a:rPr lang="en-US" sz="4400" dirty="0">
                <a:solidFill>
                  <a:srgbClr val="000000"/>
                </a:solidFill>
                <a:latin typeface="Carlito" pitchFamily="34" charset="0"/>
                <a:ea typeface="Carlito" pitchFamily="34" charset="-122"/>
                <a:cs typeface="Carlito" pitchFamily="34" charset="-120"/>
              </a:rPr>
              <a:t>SHALLOW COPIES</a:t>
            </a:r>
            <a:endParaRPr lang="en-US" sz="4400" dirty="0"/>
          </a:p>
        </p:txBody>
      </p:sp>
      <p:sp>
        <p:nvSpPr>
          <p:cNvPr id="3" name="Shape 1"/>
          <p:cNvSpPr/>
          <p:nvPr/>
        </p:nvSpPr>
        <p:spPr>
          <a:xfrm>
            <a:off x="5476875" y="1419225"/>
            <a:ext cx="5899150" cy="2342092"/>
          </a:xfrm>
          <a:prstGeom prst="rect">
            <a:avLst/>
          </a:prstGeom>
          <a:solidFill>
            <a:srgbClr val="F8F8F8"/>
          </a:solidFill>
          <a:ln w="6350">
            <a:solidFill>
              <a:srgbClr val="D9D9D9"/>
            </a:solidFill>
            <a:prstDash val="solid"/>
          </a:ln>
        </p:spPr>
      </p:sp>
      <p:sp>
        <p:nvSpPr>
          <p:cNvPr id="4" name="Text 2"/>
          <p:cNvSpPr/>
          <p:nvPr/>
        </p:nvSpPr>
        <p:spPr>
          <a:xfrm>
            <a:off x="5657321" y="1574270"/>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grid</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5" name="Text 3"/>
          <p:cNvSpPr/>
          <p:nvPr/>
        </p:nvSpPr>
        <p:spPr>
          <a:xfrm>
            <a:off x="5657321" y="1828270"/>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shallow</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grid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copy</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6" name="Text 4"/>
          <p:cNvSpPr/>
          <p:nvPr/>
        </p:nvSpPr>
        <p:spPr>
          <a:xfrm>
            <a:off x="5657321" y="2082270"/>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endParaRPr lang="en-US" sz="1600" dirty="0"/>
          </a:p>
        </p:txBody>
      </p:sp>
      <p:sp>
        <p:nvSpPr>
          <p:cNvPr id="7" name="Text 5"/>
          <p:cNvSpPr/>
          <p:nvPr/>
        </p:nvSpPr>
        <p:spPr>
          <a:xfrm>
            <a:off x="5657321" y="2336270"/>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shallow</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append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6</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8" name="Text 6"/>
          <p:cNvSpPr/>
          <p:nvPr/>
        </p:nvSpPr>
        <p:spPr>
          <a:xfrm>
            <a:off x="5657321" y="2590270"/>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shallow</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99</a:t>
            </a:r>
            <a:endParaRPr lang="en-US" sz="1600" dirty="0"/>
          </a:p>
        </p:txBody>
      </p:sp>
      <p:sp>
        <p:nvSpPr>
          <p:cNvPr id="9" name="Text 7"/>
          <p:cNvSpPr/>
          <p:nvPr/>
        </p:nvSpPr>
        <p:spPr>
          <a:xfrm>
            <a:off x="5657321" y="2844270"/>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6</a:t>
            </a:r>
            <a:r>
              <a:rPr lang="en-US" sz="1600" dirty="0">
                <a:solidFill>
                  <a:srgbClr val="000000"/>
                </a:solidFill>
                <a:latin typeface="Inconsolata" pitchFamily="34" charset="0"/>
                <a:ea typeface="Inconsolata" pitchFamily="34" charset="-122"/>
                <a:cs typeface="Inconsolata" pitchFamily="34" charset="-120"/>
              </a:rPr>
              <a:t>  </a:t>
            </a:r>
            <a:endParaRPr lang="en-US" sz="1600" dirty="0"/>
          </a:p>
        </p:txBody>
      </p:sp>
      <p:sp>
        <p:nvSpPr>
          <p:cNvPr id="10" name="Text 8"/>
          <p:cNvSpPr/>
          <p:nvPr/>
        </p:nvSpPr>
        <p:spPr>
          <a:xfrm>
            <a:off x="5657321" y="3098270"/>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7</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grid</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1" name="Text 9"/>
          <p:cNvSpPr/>
          <p:nvPr/>
        </p:nvSpPr>
        <p:spPr>
          <a:xfrm>
            <a:off x="5657321" y="3352270"/>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8</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shallow</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pic>
        <p:nvPicPr>
          <p:cNvPr id="12" name="Image 0" descr="arrow-right"/>
          <p:cNvPicPr>
            <a:picLocks noChangeAspect="1"/>
          </p:cNvPicPr>
          <p:nvPr/>
        </p:nvPicPr>
        <p:blipFill>
          <a:blip r:embed="rId3"/>
          <a:srcRect/>
          <a:stretch/>
        </p:blipFill>
        <p:spPr>
          <a:xfrm>
            <a:off x="4546600" y="1752600"/>
            <a:ext cx="787400" cy="412750"/>
          </a:xfrm>
          <a:prstGeom prst="rect">
            <a:avLst/>
          </a:prstGeom>
        </p:spPr>
      </p:pic>
      <p:sp>
        <p:nvSpPr>
          <p:cNvPr id="13" name="Text 10"/>
          <p:cNvSpPr/>
          <p:nvPr/>
        </p:nvSpPr>
        <p:spPr>
          <a:xfrm>
            <a:off x="825500" y="1574800"/>
            <a:ext cx="3701923"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1080"/>
                </a:solidFill>
                <a:latin typeface="Carlito" pitchFamily="34" charset="0"/>
                <a:ea typeface="Carlito" pitchFamily="34" charset="-122"/>
                <a:cs typeface="Carlito" pitchFamily="34" charset="-120"/>
              </a:rPr>
              <a:t>a.copy()</a:t>
            </a:r>
            <a:r>
              <a:rPr lang="en-US" sz="1600" dirty="0">
                <a:solidFill>
                  <a:srgbClr val="000000"/>
                </a:solidFill>
                <a:latin typeface="Carlito" pitchFamily="34" charset="0"/>
                <a:ea typeface="Carlito" pitchFamily="34" charset="-122"/>
                <a:cs typeface="Carlito" pitchFamily="34" charset="-120"/>
              </a:rPr>
              <a:t>, </a:t>
            </a:r>
            <a:r>
              <a:rPr lang="en-US" sz="1600" b="1" dirty="0">
                <a:solidFill>
                  <a:srgbClr val="001080"/>
                </a:solidFill>
                <a:latin typeface="Carlito" pitchFamily="34" charset="0"/>
                <a:ea typeface="Carlito" pitchFamily="34" charset="-122"/>
                <a:cs typeface="Carlito" pitchFamily="34" charset="-120"/>
              </a:rPr>
              <a:t>a[:]</a:t>
            </a:r>
            <a:r>
              <a:rPr lang="en-US" sz="1600" dirty="0">
                <a:solidFill>
                  <a:srgbClr val="000000"/>
                </a:solidFill>
                <a:latin typeface="Carlito" pitchFamily="34" charset="0"/>
                <a:ea typeface="Carlito" pitchFamily="34" charset="-122"/>
                <a:cs typeface="Carlito" pitchFamily="34" charset="-120"/>
              </a:rPr>
              <a:t> and </a:t>
            </a:r>
            <a:r>
              <a:rPr lang="en-US" sz="1600" b="1" dirty="0">
                <a:solidFill>
                  <a:srgbClr val="001080"/>
                </a:solidFill>
                <a:latin typeface="Carlito" pitchFamily="34" charset="0"/>
                <a:ea typeface="Carlito" pitchFamily="34" charset="-122"/>
                <a:cs typeface="Carlito" pitchFamily="34" charset="-120"/>
              </a:rPr>
              <a:t>list(a)</a:t>
            </a:r>
            <a:r>
              <a:rPr lang="en-US" sz="1600" dirty="0">
                <a:solidFill>
                  <a:srgbClr val="000000"/>
                </a:solidFill>
                <a:latin typeface="Carlito" pitchFamily="34" charset="0"/>
                <a:ea typeface="Carlito" pitchFamily="34" charset="-122"/>
                <a:cs typeface="Carlito" pitchFamily="34" charset="-120"/>
              </a:rPr>
              <a:t> make a new outer list, but the items inside are shared</a:t>
            </a:r>
            <a:endParaRPr lang="en-US" sz="1600" dirty="0"/>
          </a:p>
        </p:txBody>
      </p:sp>
      <p:pic>
        <p:nvPicPr>
          <p:cNvPr id="14" name="Image 1" descr="arrow-right"/>
          <p:cNvPicPr>
            <a:picLocks noChangeAspect="1"/>
          </p:cNvPicPr>
          <p:nvPr/>
        </p:nvPicPr>
        <p:blipFill>
          <a:blip r:embed="rId3"/>
          <a:srcRect/>
          <a:stretch/>
        </p:blipFill>
        <p:spPr>
          <a:xfrm>
            <a:off x="4546600" y="2514600"/>
            <a:ext cx="787400" cy="412750"/>
          </a:xfrm>
          <a:prstGeom prst="rect">
            <a:avLst/>
          </a:prstGeom>
        </p:spPr>
      </p:pic>
      <p:sp>
        <p:nvSpPr>
          <p:cNvPr id="15" name="Text 11"/>
          <p:cNvSpPr/>
          <p:nvPr/>
        </p:nvSpPr>
        <p:spPr>
          <a:xfrm>
            <a:off x="825500" y="2463800"/>
            <a:ext cx="3701923" cy="533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Changing the outer list: only the copy changes</a:t>
            </a:r>
            <a:endParaRPr lang="en-US" sz="1600" dirty="0"/>
          </a:p>
        </p:txBody>
      </p:sp>
      <p:sp>
        <p:nvSpPr>
          <p:cNvPr id="16" name="Text 12"/>
          <p:cNvSpPr/>
          <p:nvPr/>
        </p:nvSpPr>
        <p:spPr>
          <a:xfrm>
            <a:off x="5473700" y="4006850"/>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Output</a:t>
            </a:r>
            <a:endParaRPr lang="en-US" sz="1200" dirty="0"/>
          </a:p>
        </p:txBody>
      </p:sp>
      <p:sp>
        <p:nvSpPr>
          <p:cNvPr id="17" name="Shape 13"/>
          <p:cNvSpPr/>
          <p:nvPr/>
        </p:nvSpPr>
        <p:spPr>
          <a:xfrm>
            <a:off x="5473700" y="4273550"/>
            <a:ext cx="2921000" cy="787400"/>
          </a:xfrm>
          <a:prstGeom prst="rect">
            <a:avLst/>
          </a:prstGeom>
          <a:solidFill>
            <a:srgbClr val="EDEDED"/>
          </a:solidFill>
          <a:ln/>
        </p:spPr>
      </p:sp>
      <p:sp>
        <p:nvSpPr>
          <p:cNvPr id="18" name="Text 14"/>
          <p:cNvSpPr/>
          <p:nvPr/>
        </p:nvSpPr>
        <p:spPr>
          <a:xfrm>
            <a:off x="5651500" y="4413250"/>
            <a:ext cx="2642362"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1F1F1F"/>
                </a:solidFill>
                <a:latin typeface="Inconsolata" pitchFamily="34" charset="0"/>
                <a:ea typeface="Inconsolata" pitchFamily="34" charset="-122"/>
                <a:cs typeface="Inconsolata" pitchFamily="34" charset="-120"/>
              </a:rPr>
              <a:t>[[99, 2], [3, 4]]</a:t>
            </a:r>
            <a:endParaRPr lang="en-US" sz="1600" dirty="0"/>
          </a:p>
        </p:txBody>
      </p:sp>
      <p:sp>
        <p:nvSpPr>
          <p:cNvPr id="19" name="Text 15"/>
          <p:cNvSpPr/>
          <p:nvPr/>
        </p:nvSpPr>
        <p:spPr>
          <a:xfrm>
            <a:off x="5651500" y="4667250"/>
            <a:ext cx="2642362"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1F1F1F"/>
                </a:solidFill>
                <a:latin typeface="Inconsolata" pitchFamily="34" charset="0"/>
                <a:ea typeface="Inconsolata" pitchFamily="34" charset="-122"/>
                <a:cs typeface="Inconsolata" pitchFamily="34" charset="-120"/>
              </a:rPr>
              <a:t>[[99, 2], [3, 4], [5, 6]]</a:t>
            </a:r>
            <a:endParaRPr lang="en-US" sz="1600" dirty="0"/>
          </a:p>
        </p:txBody>
      </p:sp>
      <p:pic>
        <p:nvPicPr>
          <p:cNvPr id="20" name="Image 2" descr="arrow-right"/>
          <p:cNvPicPr>
            <a:picLocks noChangeAspect="1"/>
          </p:cNvPicPr>
          <p:nvPr/>
        </p:nvPicPr>
        <p:blipFill>
          <a:blip r:embed="rId3"/>
          <a:srcRect/>
          <a:stretch/>
        </p:blipFill>
        <p:spPr>
          <a:xfrm>
            <a:off x="4546600" y="4337050"/>
            <a:ext cx="787400" cy="412750"/>
          </a:xfrm>
          <a:prstGeom prst="rect">
            <a:avLst/>
          </a:prstGeom>
        </p:spPr>
      </p:pic>
      <p:sp>
        <p:nvSpPr>
          <p:cNvPr id="21" name="Text 16"/>
          <p:cNvSpPr/>
          <p:nvPr/>
        </p:nvSpPr>
        <p:spPr>
          <a:xfrm>
            <a:off x="825500" y="4286250"/>
            <a:ext cx="3701923" cy="533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The inner lists were shared, so </a:t>
            </a:r>
            <a:r>
              <a:rPr lang="en-US" sz="1600" b="1" dirty="0">
                <a:solidFill>
                  <a:srgbClr val="001080"/>
                </a:solidFill>
                <a:latin typeface="Carlito" pitchFamily="34" charset="0"/>
                <a:ea typeface="Carlito" pitchFamily="34" charset="-122"/>
                <a:cs typeface="Carlito" pitchFamily="34" charset="-120"/>
              </a:rPr>
              <a:t>grid</a:t>
            </a:r>
            <a:r>
              <a:rPr lang="en-US" sz="1600" dirty="0">
                <a:solidFill>
                  <a:srgbClr val="000000"/>
                </a:solidFill>
                <a:latin typeface="Carlito" pitchFamily="34" charset="0"/>
                <a:ea typeface="Carlito" pitchFamily="34" charset="-122"/>
                <a:cs typeface="Carlito" pitchFamily="34" charset="-120"/>
              </a:rPr>
              <a:t> changed too</a:t>
            </a:r>
            <a:endParaRPr lang="en-US" sz="1600" dirty="0"/>
          </a:p>
        </p:txBody>
      </p:sp>
      <p:sp>
        <p:nvSpPr>
          <p:cNvPr id="22" name="Text 17"/>
          <p:cNvSpPr/>
          <p:nvPr/>
        </p:nvSpPr>
        <p:spPr>
          <a:xfrm>
            <a:off x="825500" y="5099050"/>
            <a:ext cx="3701923" cy="430742"/>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6E6E6E"/>
                </a:solidFill>
                <a:latin typeface="Carlito" pitchFamily="34" charset="0"/>
                <a:ea typeface="Carlito" pitchFamily="34" charset="-122"/>
                <a:cs typeface="Carlito" pitchFamily="34" charset="-120"/>
              </a:rPr>
              <a:t>With only numbers or strings inside, a shallow copy is all you need.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5500" y="533400"/>
            <a:ext cx="11118850" cy="640080"/>
          </a:xfrm>
          <a:prstGeom prst="rect">
            <a:avLst/>
          </a:prstGeom>
          <a:noFill/>
          <a:ln/>
        </p:spPr>
        <p:txBody>
          <a:bodyPr wrap="square" lIns="0" tIns="0" rIns="0" bIns="0" rtlCol="0" anchor="t">
            <a:normAutofit/>
          </a:bodyPr>
          <a:lstStyle/>
          <a:p>
            <a:pPr marL="0" indent="0" algn="l">
              <a:lnSpc>
                <a:spcPts val="4840"/>
              </a:lnSpc>
              <a:buNone/>
            </a:pPr>
            <a:r>
              <a:rPr lang="en-US" sz="4400" dirty="0">
                <a:solidFill>
                  <a:srgbClr val="000000"/>
                </a:solidFill>
                <a:latin typeface="Carlito" pitchFamily="34" charset="0"/>
                <a:ea typeface="Carlito" pitchFamily="34" charset="-122"/>
                <a:cs typeface="Carlito" pitchFamily="34" charset="-120"/>
              </a:rPr>
              <a:t>TRY IT: SHALLOW COPIES</a:t>
            </a:r>
            <a:endParaRPr lang="en-US" sz="4400" dirty="0"/>
          </a:p>
        </p:txBody>
      </p:sp>
      <p:sp>
        <p:nvSpPr>
          <p:cNvPr id="3" name="Text 1"/>
          <p:cNvSpPr/>
          <p:nvPr/>
        </p:nvSpPr>
        <p:spPr>
          <a:xfrm>
            <a:off x="825500" y="1416050"/>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A · Predict the output</a:t>
            </a:r>
            <a:endParaRPr lang="en-US" sz="1200" dirty="0"/>
          </a:p>
        </p:txBody>
      </p:sp>
      <p:sp>
        <p:nvSpPr>
          <p:cNvPr id="4" name="Shape 2"/>
          <p:cNvSpPr/>
          <p:nvPr/>
        </p:nvSpPr>
        <p:spPr>
          <a:xfrm>
            <a:off x="828675" y="1685925"/>
            <a:ext cx="5073650" cy="1580092"/>
          </a:xfrm>
          <a:prstGeom prst="rect">
            <a:avLst/>
          </a:prstGeom>
          <a:solidFill>
            <a:srgbClr val="F8F8F8"/>
          </a:solidFill>
          <a:ln w="6350">
            <a:solidFill>
              <a:srgbClr val="D9D9D9"/>
            </a:solidFill>
            <a:prstDash val="solid"/>
          </a:ln>
        </p:spPr>
      </p:sp>
      <p:sp>
        <p:nvSpPr>
          <p:cNvPr id="5" name="Text 3"/>
          <p:cNvSpPr/>
          <p:nvPr/>
        </p:nvSpPr>
        <p:spPr>
          <a:xfrm>
            <a:off x="1009121" y="1840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nums</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6" name="Text 4"/>
          <p:cNvSpPr/>
          <p:nvPr/>
        </p:nvSpPr>
        <p:spPr>
          <a:xfrm>
            <a:off x="1009121" y="2094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backup</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nums</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copy</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7" name="Text 5"/>
          <p:cNvSpPr/>
          <p:nvPr/>
        </p:nvSpPr>
        <p:spPr>
          <a:xfrm>
            <a:off x="1009121" y="2348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backup</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100</a:t>
            </a:r>
            <a:endParaRPr lang="en-US" sz="1600" dirty="0"/>
          </a:p>
        </p:txBody>
      </p:sp>
      <p:sp>
        <p:nvSpPr>
          <p:cNvPr id="8" name="Text 6"/>
          <p:cNvSpPr/>
          <p:nvPr/>
        </p:nvSpPr>
        <p:spPr>
          <a:xfrm>
            <a:off x="1009121" y="2602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nums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9" name="Text 7"/>
          <p:cNvSpPr/>
          <p:nvPr/>
        </p:nvSpPr>
        <p:spPr>
          <a:xfrm>
            <a:off x="1009121" y="2856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backup</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0" name="Text 8"/>
          <p:cNvSpPr/>
          <p:nvPr/>
        </p:nvSpPr>
        <p:spPr>
          <a:xfrm>
            <a:off x="825500" y="3473450"/>
            <a:ext cx="5232400"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Is a shallow copy enough here? Why?</a:t>
            </a:r>
            <a:endParaRPr lang="en-US" sz="1600" dirty="0"/>
          </a:p>
        </p:txBody>
      </p:sp>
      <p:sp>
        <p:nvSpPr>
          <p:cNvPr id="11" name="Text 9"/>
          <p:cNvSpPr/>
          <p:nvPr/>
        </p:nvSpPr>
        <p:spPr>
          <a:xfrm>
            <a:off x="6299200" y="1416050"/>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B · Predict the output</a:t>
            </a:r>
            <a:endParaRPr lang="en-US" sz="1200" dirty="0"/>
          </a:p>
        </p:txBody>
      </p:sp>
      <p:sp>
        <p:nvSpPr>
          <p:cNvPr id="12" name="Shape 10"/>
          <p:cNvSpPr/>
          <p:nvPr/>
        </p:nvSpPr>
        <p:spPr>
          <a:xfrm>
            <a:off x="6302375" y="1685925"/>
            <a:ext cx="5073650" cy="1834092"/>
          </a:xfrm>
          <a:prstGeom prst="rect">
            <a:avLst/>
          </a:prstGeom>
          <a:solidFill>
            <a:srgbClr val="F8F8F8"/>
          </a:solidFill>
          <a:ln w="6350">
            <a:solidFill>
              <a:srgbClr val="D9D9D9"/>
            </a:solidFill>
            <a:prstDash val="solid"/>
          </a:ln>
        </p:spPr>
      </p:sp>
      <p:sp>
        <p:nvSpPr>
          <p:cNvPr id="13" name="Text 11"/>
          <p:cNvSpPr/>
          <p:nvPr/>
        </p:nvSpPr>
        <p:spPr>
          <a:xfrm>
            <a:off x="6482821" y="1840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seats</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A31515"/>
                </a:solidFill>
                <a:latin typeface="Inconsolata" pitchFamily="34" charset="0"/>
                <a:ea typeface="Inconsolata" pitchFamily="34" charset="-122"/>
                <a:cs typeface="Inconsolata" pitchFamily="34" charset="-120"/>
              </a:rPr>
              <a:t>'Alice'</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A31515"/>
                </a:solidFill>
                <a:latin typeface="Inconsolata" pitchFamily="34" charset="0"/>
                <a:ea typeface="Inconsolata" pitchFamily="34" charset="-122"/>
                <a:cs typeface="Inconsolata" pitchFamily="34" charset="-120"/>
              </a:rPr>
              <a:t>'Bob'</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A31515"/>
                </a:solidFill>
                <a:latin typeface="Inconsolata" pitchFamily="34" charset="0"/>
                <a:ea typeface="Inconsolata" pitchFamily="34" charset="-122"/>
                <a:cs typeface="Inconsolata" pitchFamily="34" charset="-120"/>
              </a:rPr>
              <a:t>'Chris'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4" name="Text 12"/>
          <p:cNvSpPr/>
          <p:nvPr/>
        </p:nvSpPr>
        <p:spPr>
          <a:xfrm>
            <a:off x="6482821" y="2094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saved</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seats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5" name="Text 13"/>
          <p:cNvSpPr/>
          <p:nvPr/>
        </p:nvSpPr>
        <p:spPr>
          <a:xfrm>
            <a:off x="6482821" y="2348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saved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append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A31515"/>
                </a:solidFill>
                <a:latin typeface="Inconsolata" pitchFamily="34" charset="0"/>
                <a:ea typeface="Inconsolata" pitchFamily="34" charset="-122"/>
                <a:cs typeface="Inconsolata" pitchFamily="34" charset="-120"/>
              </a:rPr>
              <a:t>'Dave''</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6" name="Text 14"/>
          <p:cNvSpPr/>
          <p:nvPr/>
        </p:nvSpPr>
        <p:spPr>
          <a:xfrm>
            <a:off x="6482821" y="2602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saved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append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A31515"/>
                </a:solidFill>
                <a:latin typeface="Inconsolata" pitchFamily="34" charset="0"/>
                <a:ea typeface="Inconsolata" pitchFamily="34" charset="-122"/>
                <a:cs typeface="Inconsolata" pitchFamily="34" charset="-120"/>
              </a:rPr>
              <a:t>'Eve'</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7" name="Text 15"/>
          <p:cNvSpPr/>
          <p:nvPr/>
        </p:nvSpPr>
        <p:spPr>
          <a:xfrm>
            <a:off x="6482821" y="2856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seats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8" name="Text 16"/>
          <p:cNvSpPr/>
          <p:nvPr/>
        </p:nvSpPr>
        <p:spPr>
          <a:xfrm>
            <a:off x="6482821" y="3110970"/>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6</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saved</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9" name="Text 17"/>
          <p:cNvSpPr/>
          <p:nvPr/>
        </p:nvSpPr>
        <p:spPr>
          <a:xfrm>
            <a:off x="6299200" y="3727450"/>
            <a:ext cx="5232400"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Which change shows up in both lists, and which doesn’t?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5500" y="533400"/>
            <a:ext cx="11118850" cy="640080"/>
          </a:xfrm>
          <a:prstGeom prst="rect">
            <a:avLst/>
          </a:prstGeom>
          <a:noFill/>
          <a:ln/>
        </p:spPr>
        <p:txBody>
          <a:bodyPr wrap="square" lIns="0" tIns="0" rIns="0" bIns="0" rtlCol="0" anchor="t">
            <a:normAutofit/>
          </a:bodyPr>
          <a:lstStyle/>
          <a:p>
            <a:pPr marL="0" indent="0" algn="l">
              <a:lnSpc>
                <a:spcPts val="4840"/>
              </a:lnSpc>
              <a:buNone/>
            </a:pPr>
            <a:r>
              <a:rPr lang="en-US" sz="4400" dirty="0">
                <a:solidFill>
                  <a:srgbClr val="000000"/>
                </a:solidFill>
                <a:latin typeface="Carlito" pitchFamily="34" charset="0"/>
                <a:ea typeface="Carlito" pitchFamily="34" charset="-122"/>
                <a:cs typeface="Carlito" pitchFamily="34" charset="-120"/>
              </a:rPr>
              <a:t>import copy</a:t>
            </a:r>
            <a:endParaRPr lang="en-US" sz="4400" dirty="0"/>
          </a:p>
        </p:txBody>
      </p:sp>
      <p:sp>
        <p:nvSpPr>
          <p:cNvPr id="3" name="Shape 1"/>
          <p:cNvSpPr/>
          <p:nvPr/>
        </p:nvSpPr>
        <p:spPr>
          <a:xfrm>
            <a:off x="5476875" y="1419225"/>
            <a:ext cx="5899150" cy="2342092"/>
          </a:xfrm>
          <a:prstGeom prst="rect">
            <a:avLst/>
          </a:prstGeom>
          <a:solidFill>
            <a:srgbClr val="F8F8F8"/>
          </a:solidFill>
          <a:ln w="6350">
            <a:solidFill>
              <a:srgbClr val="D9D9D9"/>
            </a:solidFill>
            <a:prstDash val="solid"/>
          </a:ln>
        </p:spPr>
      </p:sp>
      <p:sp>
        <p:nvSpPr>
          <p:cNvPr id="4" name="Text 2"/>
          <p:cNvSpPr/>
          <p:nvPr/>
        </p:nvSpPr>
        <p:spPr>
          <a:xfrm>
            <a:off x="5657321" y="1574270"/>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AF00DB"/>
                </a:solidFill>
                <a:latin typeface="Inconsolata" pitchFamily="34" charset="0"/>
                <a:ea typeface="Inconsolata" pitchFamily="34" charset="-122"/>
                <a:cs typeface="Inconsolata" pitchFamily="34" charset="-120"/>
              </a:rPr>
              <a:t>import</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copy</a:t>
            </a:r>
            <a:endParaRPr lang="en-US" sz="1600" dirty="0"/>
          </a:p>
        </p:txBody>
      </p:sp>
      <p:sp>
        <p:nvSpPr>
          <p:cNvPr id="5" name="Text 3"/>
          <p:cNvSpPr/>
          <p:nvPr/>
        </p:nvSpPr>
        <p:spPr>
          <a:xfrm>
            <a:off x="5657321" y="1828270"/>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endParaRPr lang="en-US" sz="1600" dirty="0"/>
          </a:p>
        </p:txBody>
      </p:sp>
      <p:sp>
        <p:nvSpPr>
          <p:cNvPr id="6" name="Text 4"/>
          <p:cNvSpPr/>
          <p:nvPr/>
        </p:nvSpPr>
        <p:spPr>
          <a:xfrm>
            <a:off x="5657321" y="2082270"/>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grid</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7" name="Text 5"/>
          <p:cNvSpPr/>
          <p:nvPr/>
        </p:nvSpPr>
        <p:spPr>
          <a:xfrm>
            <a:off x="5657321" y="2336270"/>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deep</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copy</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deepcopy</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grid</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8" name="Text 6"/>
          <p:cNvSpPr/>
          <p:nvPr/>
        </p:nvSpPr>
        <p:spPr>
          <a:xfrm>
            <a:off x="5657321" y="2590270"/>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endParaRPr lang="en-US" sz="1600" dirty="0"/>
          </a:p>
        </p:txBody>
      </p:sp>
      <p:sp>
        <p:nvSpPr>
          <p:cNvPr id="9" name="Text 7"/>
          <p:cNvSpPr/>
          <p:nvPr/>
        </p:nvSpPr>
        <p:spPr>
          <a:xfrm>
            <a:off x="5657321" y="2844270"/>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6</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deep</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99</a:t>
            </a:r>
            <a:endParaRPr lang="en-US" sz="1600" dirty="0"/>
          </a:p>
        </p:txBody>
      </p:sp>
      <p:sp>
        <p:nvSpPr>
          <p:cNvPr id="10" name="Text 8"/>
          <p:cNvSpPr/>
          <p:nvPr/>
        </p:nvSpPr>
        <p:spPr>
          <a:xfrm>
            <a:off x="5657321" y="3098270"/>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7</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grid</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1" name="Text 9"/>
          <p:cNvSpPr/>
          <p:nvPr/>
        </p:nvSpPr>
        <p:spPr>
          <a:xfrm>
            <a:off x="5657321" y="3352270"/>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8</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deep</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pic>
        <p:nvPicPr>
          <p:cNvPr id="12" name="Image 0" descr="arrow-right"/>
          <p:cNvPicPr>
            <a:picLocks noChangeAspect="1"/>
          </p:cNvPicPr>
          <p:nvPr/>
        </p:nvPicPr>
        <p:blipFill>
          <a:blip r:embed="rId3"/>
          <a:srcRect/>
          <a:stretch/>
        </p:blipFill>
        <p:spPr>
          <a:xfrm>
            <a:off x="4546600" y="1498600"/>
            <a:ext cx="787400" cy="412750"/>
          </a:xfrm>
          <a:prstGeom prst="rect">
            <a:avLst/>
          </a:prstGeom>
        </p:spPr>
      </p:pic>
      <p:sp>
        <p:nvSpPr>
          <p:cNvPr id="13" name="Text 10"/>
          <p:cNvSpPr/>
          <p:nvPr/>
        </p:nvSpPr>
        <p:spPr>
          <a:xfrm>
            <a:off x="825500" y="1447800"/>
            <a:ext cx="3701923"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1080"/>
                </a:solidFill>
                <a:latin typeface="Carlito" pitchFamily="34" charset="0"/>
                <a:ea typeface="Carlito" pitchFamily="34" charset="-122"/>
                <a:cs typeface="Carlito" pitchFamily="34" charset="-120"/>
              </a:rPr>
              <a:t>copy</a:t>
            </a:r>
            <a:r>
              <a:rPr lang="en-US" sz="1600" dirty="0">
                <a:solidFill>
                  <a:srgbClr val="000000"/>
                </a:solidFill>
                <a:latin typeface="Carlito" pitchFamily="34" charset="0"/>
                <a:ea typeface="Carlito" pitchFamily="34" charset="-122"/>
                <a:cs typeface="Carlito" pitchFamily="34" charset="-120"/>
              </a:rPr>
              <a:t> is built into Python. Nothing to install.</a:t>
            </a:r>
            <a:endParaRPr lang="en-US" sz="1600" dirty="0"/>
          </a:p>
        </p:txBody>
      </p:sp>
      <p:pic>
        <p:nvPicPr>
          <p:cNvPr id="14" name="Image 1" descr="arrow-right"/>
          <p:cNvPicPr>
            <a:picLocks noChangeAspect="1"/>
          </p:cNvPicPr>
          <p:nvPr/>
        </p:nvPicPr>
        <p:blipFill>
          <a:blip r:embed="rId3"/>
          <a:srcRect/>
          <a:stretch/>
        </p:blipFill>
        <p:spPr>
          <a:xfrm>
            <a:off x="4546600" y="2260600"/>
            <a:ext cx="787400" cy="412750"/>
          </a:xfrm>
          <a:prstGeom prst="rect">
            <a:avLst/>
          </a:prstGeom>
        </p:spPr>
      </p:pic>
      <p:sp>
        <p:nvSpPr>
          <p:cNvPr id="15" name="Text 11"/>
          <p:cNvSpPr/>
          <p:nvPr/>
        </p:nvSpPr>
        <p:spPr>
          <a:xfrm>
            <a:off x="825500" y="2209800"/>
            <a:ext cx="3701923" cy="533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Copies the outer list and every list inside it, as deep as they go</a:t>
            </a:r>
            <a:endParaRPr lang="en-US" sz="1600" dirty="0"/>
          </a:p>
        </p:txBody>
      </p:sp>
      <p:sp>
        <p:nvSpPr>
          <p:cNvPr id="16" name="Text 12"/>
          <p:cNvSpPr/>
          <p:nvPr/>
        </p:nvSpPr>
        <p:spPr>
          <a:xfrm>
            <a:off x="5473700" y="4006850"/>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Output</a:t>
            </a:r>
            <a:endParaRPr lang="en-US" sz="1200" dirty="0"/>
          </a:p>
        </p:txBody>
      </p:sp>
      <p:sp>
        <p:nvSpPr>
          <p:cNvPr id="17" name="Shape 13"/>
          <p:cNvSpPr/>
          <p:nvPr/>
        </p:nvSpPr>
        <p:spPr>
          <a:xfrm>
            <a:off x="5473700" y="4273550"/>
            <a:ext cx="2108200" cy="787400"/>
          </a:xfrm>
          <a:prstGeom prst="rect">
            <a:avLst/>
          </a:prstGeom>
          <a:solidFill>
            <a:srgbClr val="EDEDED"/>
          </a:solidFill>
          <a:ln/>
        </p:spPr>
      </p:sp>
      <p:sp>
        <p:nvSpPr>
          <p:cNvPr id="18" name="Text 14"/>
          <p:cNvSpPr/>
          <p:nvPr/>
        </p:nvSpPr>
        <p:spPr>
          <a:xfrm>
            <a:off x="5651500" y="4413250"/>
            <a:ext cx="1805178"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1F1F1F"/>
                </a:solidFill>
                <a:latin typeface="Inconsolata" pitchFamily="34" charset="0"/>
                <a:ea typeface="Inconsolata" pitchFamily="34" charset="-122"/>
                <a:cs typeface="Inconsolata" pitchFamily="34" charset="-120"/>
              </a:rPr>
              <a:t>[[1, 2], [3, 4]]</a:t>
            </a:r>
            <a:endParaRPr lang="en-US" sz="1600" dirty="0"/>
          </a:p>
        </p:txBody>
      </p:sp>
      <p:sp>
        <p:nvSpPr>
          <p:cNvPr id="19" name="Text 15"/>
          <p:cNvSpPr/>
          <p:nvPr/>
        </p:nvSpPr>
        <p:spPr>
          <a:xfrm>
            <a:off x="5651500" y="4667250"/>
            <a:ext cx="1805178"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1F1F1F"/>
                </a:solidFill>
                <a:latin typeface="Inconsolata" pitchFamily="34" charset="0"/>
                <a:ea typeface="Inconsolata" pitchFamily="34" charset="-122"/>
                <a:cs typeface="Inconsolata" pitchFamily="34" charset="-120"/>
              </a:rPr>
              <a:t>[[99, 2], [3, 4]]</a:t>
            </a:r>
            <a:endParaRPr lang="en-US" sz="1600" dirty="0"/>
          </a:p>
        </p:txBody>
      </p:sp>
      <p:pic>
        <p:nvPicPr>
          <p:cNvPr id="20" name="Image 2" descr="arrow-right"/>
          <p:cNvPicPr>
            <a:picLocks noChangeAspect="1"/>
          </p:cNvPicPr>
          <p:nvPr/>
        </p:nvPicPr>
        <p:blipFill>
          <a:blip r:embed="rId3"/>
          <a:srcRect/>
          <a:stretch/>
        </p:blipFill>
        <p:spPr>
          <a:xfrm>
            <a:off x="4546600" y="4337050"/>
            <a:ext cx="787400" cy="412750"/>
          </a:xfrm>
          <a:prstGeom prst="rect">
            <a:avLst/>
          </a:prstGeom>
        </p:spPr>
      </p:pic>
      <p:sp>
        <p:nvSpPr>
          <p:cNvPr id="21" name="Text 16"/>
          <p:cNvSpPr/>
          <p:nvPr/>
        </p:nvSpPr>
        <p:spPr>
          <a:xfrm>
            <a:off x="825500" y="4413250"/>
            <a:ext cx="3701923"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1080"/>
                </a:solidFill>
                <a:latin typeface="Carlito" pitchFamily="34" charset="0"/>
                <a:ea typeface="Carlito" pitchFamily="34" charset="-122"/>
                <a:cs typeface="Carlito" pitchFamily="34" charset="-120"/>
              </a:rPr>
              <a:t>grid</a:t>
            </a:r>
            <a:r>
              <a:rPr lang="en-US" sz="1600" dirty="0">
                <a:solidFill>
                  <a:srgbClr val="000000"/>
                </a:solidFill>
                <a:latin typeface="Carlito" pitchFamily="34" charset="0"/>
                <a:ea typeface="Carlito" pitchFamily="34" charset="-122"/>
                <a:cs typeface="Carlito" pitchFamily="34" charset="-120"/>
              </a:rPr>
              <a:t> is untouched</a:t>
            </a:r>
            <a:endParaRPr lang="en-US" sz="1600" dirty="0"/>
          </a:p>
        </p:txBody>
      </p:sp>
      <p:sp>
        <p:nvSpPr>
          <p:cNvPr id="22" name="Text 17"/>
          <p:cNvSpPr/>
          <p:nvPr/>
        </p:nvSpPr>
        <p:spPr>
          <a:xfrm>
            <a:off x="825500" y="4972050"/>
            <a:ext cx="3701923" cy="430742"/>
          </a:xfrm>
          <a:prstGeom prst="rect">
            <a:avLst/>
          </a:prstGeom>
          <a:noFill/>
          <a:ln/>
        </p:spPr>
        <p:txBody>
          <a:bodyPr wrap="square" lIns="0" tIns="0" rIns="0" bIns="0" rtlCol="0" anchor="t">
            <a:normAutofit/>
          </a:bodyPr>
          <a:lstStyle/>
          <a:p>
            <a:pPr marL="0" indent="0" algn="l">
              <a:lnSpc>
                <a:spcPts val="1596"/>
              </a:lnSpc>
              <a:buNone/>
            </a:pPr>
            <a:r>
              <a:rPr lang="en-US" sz="1200" b="1" dirty="0">
                <a:solidFill>
                  <a:srgbClr val="001080"/>
                </a:solidFill>
                <a:latin typeface="Carlito" pitchFamily="34" charset="0"/>
                <a:ea typeface="Carlito" pitchFamily="34" charset="-122"/>
                <a:cs typeface="Carlito" pitchFamily="34" charset="-120"/>
              </a:rPr>
              <a:t>copy.copy(x)</a:t>
            </a:r>
            <a:r>
              <a:rPr lang="en-US" sz="1200" dirty="0">
                <a:solidFill>
                  <a:srgbClr val="6E6E6E"/>
                </a:solidFill>
                <a:latin typeface="Carlito" pitchFamily="34" charset="0"/>
                <a:ea typeface="Carlito" pitchFamily="34" charset="-122"/>
                <a:cs typeface="Carlito" pitchFamily="34" charset="-120"/>
              </a:rPr>
              <a:t> also exists. It’s a shallow copy, the same as </a:t>
            </a:r>
            <a:r>
              <a:rPr lang="en-US" sz="1200" b="1" dirty="0">
                <a:solidFill>
                  <a:srgbClr val="001080"/>
                </a:solidFill>
                <a:latin typeface="Carlito" pitchFamily="34" charset="0"/>
                <a:ea typeface="Carlito" pitchFamily="34" charset="-122"/>
                <a:cs typeface="Carlito" pitchFamily="34" charset="-120"/>
              </a:rPr>
              <a:t>x.copy()</a:t>
            </a:r>
            <a:r>
              <a:rPr lang="en-US" sz="1200" dirty="0">
                <a:solidFill>
                  <a:srgbClr val="6E6E6E"/>
                </a:solidFill>
                <a:latin typeface="Carlito" pitchFamily="34" charset="0"/>
                <a:ea typeface="Carlito" pitchFamily="34" charset="-122"/>
                <a:cs typeface="Carlito" pitchFamily="34" charset="-120"/>
              </a:rPr>
              <a:t> for a list.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5500" y="533400"/>
            <a:ext cx="11118850" cy="640080"/>
          </a:xfrm>
          <a:prstGeom prst="rect">
            <a:avLst/>
          </a:prstGeom>
          <a:noFill/>
          <a:ln/>
        </p:spPr>
        <p:txBody>
          <a:bodyPr wrap="square" lIns="0" tIns="0" rIns="0" bIns="0" rtlCol="0" anchor="t">
            <a:normAutofit/>
          </a:bodyPr>
          <a:lstStyle/>
          <a:p>
            <a:pPr marL="0" indent="0" algn="l">
              <a:lnSpc>
                <a:spcPts val="4840"/>
              </a:lnSpc>
              <a:buNone/>
            </a:pPr>
            <a:r>
              <a:rPr lang="en-US" sz="4400" dirty="0">
                <a:solidFill>
                  <a:srgbClr val="000000"/>
                </a:solidFill>
                <a:latin typeface="Carlito" pitchFamily="34" charset="0"/>
                <a:ea typeface="Carlito" pitchFamily="34" charset="-122"/>
                <a:cs typeface="Carlito" pitchFamily="34" charset="-120"/>
              </a:rPr>
              <a:t>TRY IT: import copy</a:t>
            </a:r>
            <a:endParaRPr lang="en-US" sz="4400" dirty="0"/>
          </a:p>
        </p:txBody>
      </p:sp>
      <p:sp>
        <p:nvSpPr>
          <p:cNvPr id="3" name="Text 1"/>
          <p:cNvSpPr/>
          <p:nvPr/>
        </p:nvSpPr>
        <p:spPr>
          <a:xfrm>
            <a:off x="825500" y="1416050"/>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A · Fix it</a:t>
            </a:r>
            <a:endParaRPr lang="en-US" sz="1200" dirty="0"/>
          </a:p>
        </p:txBody>
      </p:sp>
      <p:sp>
        <p:nvSpPr>
          <p:cNvPr id="4" name="Shape 2"/>
          <p:cNvSpPr/>
          <p:nvPr/>
        </p:nvSpPr>
        <p:spPr>
          <a:xfrm>
            <a:off x="828675" y="1685925"/>
            <a:ext cx="5073650" cy="1580092"/>
          </a:xfrm>
          <a:prstGeom prst="rect">
            <a:avLst/>
          </a:prstGeom>
          <a:solidFill>
            <a:srgbClr val="F8F8F8"/>
          </a:solidFill>
          <a:ln w="6350">
            <a:solidFill>
              <a:srgbClr val="D9D9D9"/>
            </a:solidFill>
            <a:prstDash val="solid"/>
          </a:ln>
        </p:spPr>
      </p:sp>
      <p:sp>
        <p:nvSpPr>
          <p:cNvPr id="5" name="Text 3"/>
          <p:cNvSpPr/>
          <p:nvPr/>
        </p:nvSpPr>
        <p:spPr>
          <a:xfrm>
            <a:off x="1009121" y="1840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grid</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6" name="Text 4"/>
          <p:cNvSpPr/>
          <p:nvPr/>
        </p:nvSpPr>
        <p:spPr>
          <a:xfrm>
            <a:off x="1009121" y="2094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backup</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grid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copy</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7" name="Text 5"/>
          <p:cNvSpPr/>
          <p:nvPr/>
        </p:nvSpPr>
        <p:spPr>
          <a:xfrm>
            <a:off x="1009121" y="2348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backup</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99</a:t>
            </a:r>
            <a:endParaRPr lang="en-US" sz="1600" dirty="0"/>
          </a:p>
        </p:txBody>
      </p:sp>
      <p:sp>
        <p:nvSpPr>
          <p:cNvPr id="8" name="Text 6"/>
          <p:cNvSpPr/>
          <p:nvPr/>
        </p:nvSpPr>
        <p:spPr>
          <a:xfrm>
            <a:off x="1009121" y="2602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grid</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9" name="Text 7"/>
          <p:cNvSpPr/>
          <p:nvPr/>
        </p:nvSpPr>
        <p:spPr>
          <a:xfrm>
            <a:off x="1009121" y="2856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8000"/>
                </a:solidFill>
                <a:latin typeface="Inconsolata" pitchFamily="34" charset="0"/>
                <a:ea typeface="Inconsolata" pitchFamily="34" charset="-122"/>
                <a:cs typeface="Inconsolata" pitchFamily="34" charset="-120"/>
              </a:rPr>
              <a:t># want: [[1, 2], [3, 4]]</a:t>
            </a:r>
            <a:endParaRPr lang="en-US" sz="1600" dirty="0"/>
          </a:p>
        </p:txBody>
      </p:sp>
      <p:sp>
        <p:nvSpPr>
          <p:cNvPr id="10" name="Text 8"/>
          <p:cNvSpPr/>
          <p:nvPr/>
        </p:nvSpPr>
        <p:spPr>
          <a:xfrm>
            <a:off x="825500" y="3473450"/>
            <a:ext cx="5232400" cy="533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Change the code so </a:t>
            </a:r>
            <a:r>
              <a:rPr lang="en-US" sz="1600" b="1" dirty="0">
                <a:solidFill>
                  <a:srgbClr val="001080"/>
                </a:solidFill>
                <a:latin typeface="Carlito" pitchFamily="34" charset="0"/>
                <a:ea typeface="Carlito" pitchFamily="34" charset="-122"/>
                <a:cs typeface="Carlito" pitchFamily="34" charset="-120"/>
              </a:rPr>
              <a:t>backup</a:t>
            </a:r>
            <a:r>
              <a:rPr lang="en-US" sz="1600" dirty="0">
                <a:solidFill>
                  <a:srgbClr val="000000"/>
                </a:solidFill>
                <a:latin typeface="Carlito" pitchFamily="34" charset="0"/>
                <a:ea typeface="Carlito" pitchFamily="34" charset="-122"/>
                <a:cs typeface="Carlito" pitchFamily="34" charset="-120"/>
              </a:rPr>
              <a:t> is completely independent of </a:t>
            </a:r>
            <a:r>
              <a:rPr lang="en-US" sz="1600" b="1" dirty="0">
                <a:solidFill>
                  <a:srgbClr val="001080"/>
                </a:solidFill>
                <a:latin typeface="Carlito" pitchFamily="34" charset="0"/>
                <a:ea typeface="Carlito" pitchFamily="34" charset="-122"/>
                <a:cs typeface="Carlito" pitchFamily="34" charset="-120"/>
              </a:rPr>
              <a:t>grid</a:t>
            </a:r>
            <a:r>
              <a:rPr lang="en-US" sz="1600" dirty="0">
                <a:solidFill>
                  <a:srgbClr val="000000"/>
                </a:solidFill>
                <a:latin typeface="Carlito" pitchFamily="34" charset="0"/>
                <a:ea typeface="Carlito" pitchFamily="34" charset="-122"/>
                <a:cs typeface="Carlito" pitchFamily="34" charset="-120"/>
              </a:rPr>
              <a:t>.</a:t>
            </a:r>
            <a:endParaRPr lang="en-US" sz="1600" dirty="0"/>
          </a:p>
        </p:txBody>
      </p:sp>
      <p:sp>
        <p:nvSpPr>
          <p:cNvPr id="11" name="Text 9"/>
          <p:cNvSpPr/>
          <p:nvPr/>
        </p:nvSpPr>
        <p:spPr>
          <a:xfrm>
            <a:off x="6299200" y="1416050"/>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B · Predict the output</a:t>
            </a:r>
            <a:endParaRPr lang="en-US" sz="1200" dirty="0"/>
          </a:p>
        </p:txBody>
      </p:sp>
      <p:sp>
        <p:nvSpPr>
          <p:cNvPr id="12" name="Shape 10"/>
          <p:cNvSpPr/>
          <p:nvPr/>
        </p:nvSpPr>
        <p:spPr>
          <a:xfrm>
            <a:off x="6302375" y="1685925"/>
            <a:ext cx="5073650" cy="2088092"/>
          </a:xfrm>
          <a:prstGeom prst="rect">
            <a:avLst/>
          </a:prstGeom>
          <a:solidFill>
            <a:srgbClr val="F8F8F8"/>
          </a:solidFill>
          <a:ln w="6350">
            <a:solidFill>
              <a:srgbClr val="D9D9D9"/>
            </a:solidFill>
            <a:prstDash val="solid"/>
          </a:ln>
        </p:spPr>
      </p:sp>
      <p:sp>
        <p:nvSpPr>
          <p:cNvPr id="13" name="Text 11"/>
          <p:cNvSpPr/>
          <p:nvPr/>
        </p:nvSpPr>
        <p:spPr>
          <a:xfrm>
            <a:off x="6482821" y="1840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AF00DB"/>
                </a:solidFill>
                <a:latin typeface="Inconsolata" pitchFamily="34" charset="0"/>
                <a:ea typeface="Inconsolata" pitchFamily="34" charset="-122"/>
                <a:cs typeface="Inconsolata" pitchFamily="34" charset="-120"/>
              </a:rPr>
              <a:t>import</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copy</a:t>
            </a:r>
            <a:endParaRPr lang="en-US" sz="1600" dirty="0"/>
          </a:p>
        </p:txBody>
      </p:sp>
      <p:sp>
        <p:nvSpPr>
          <p:cNvPr id="14" name="Text 12"/>
          <p:cNvSpPr/>
          <p:nvPr/>
        </p:nvSpPr>
        <p:spPr>
          <a:xfrm>
            <a:off x="6482821" y="2094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5" name="Text 13"/>
          <p:cNvSpPr/>
          <p:nvPr/>
        </p:nvSpPr>
        <p:spPr>
          <a:xfrm>
            <a:off x="6482821" y="2348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copy</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copy</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6" name="Text 14"/>
          <p:cNvSpPr/>
          <p:nvPr/>
        </p:nvSpPr>
        <p:spPr>
          <a:xfrm>
            <a:off x="6482821" y="2602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c</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copy</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deepcopy</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7" name="Text 15"/>
          <p:cNvSpPr/>
          <p:nvPr/>
        </p:nvSpPr>
        <p:spPr>
          <a:xfrm>
            <a:off x="6482821" y="2856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append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8" name="Text 16"/>
          <p:cNvSpPr/>
          <p:nvPr/>
        </p:nvSpPr>
        <p:spPr>
          <a:xfrm>
            <a:off x="6482821" y="3110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6</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9" name="Text 17"/>
          <p:cNvSpPr/>
          <p:nvPr/>
        </p:nvSpPr>
        <p:spPr>
          <a:xfrm>
            <a:off x="6482821" y="3364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7</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c</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20" name="Text 18"/>
          <p:cNvSpPr/>
          <p:nvPr/>
        </p:nvSpPr>
        <p:spPr>
          <a:xfrm>
            <a:off x="6299200" y="3981450"/>
            <a:ext cx="5232400"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Which copy sees the change? Why?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5500" y="533400"/>
            <a:ext cx="11118850" cy="640080"/>
          </a:xfrm>
          <a:prstGeom prst="rect">
            <a:avLst/>
          </a:prstGeom>
          <a:noFill/>
          <a:ln/>
        </p:spPr>
        <p:txBody>
          <a:bodyPr wrap="square" lIns="0" tIns="0" rIns="0" bIns="0" rtlCol="0" anchor="t">
            <a:normAutofit/>
          </a:bodyPr>
          <a:lstStyle/>
          <a:p>
            <a:pPr marL="0" indent="0" algn="l">
              <a:lnSpc>
                <a:spcPts val="4840"/>
              </a:lnSpc>
              <a:buNone/>
            </a:pPr>
            <a:r>
              <a:rPr lang="en-US" sz="4400" dirty="0">
                <a:solidFill>
                  <a:srgbClr val="000000"/>
                </a:solidFill>
                <a:latin typeface="Carlito" pitchFamily="34" charset="0"/>
                <a:ea typeface="Carlito" pitchFamily="34" charset="-122"/>
                <a:cs typeface="Carlito" pitchFamily="34" charset="-120"/>
              </a:rPr>
              <a:t>THE MULTIPLICATION TRAP</a:t>
            </a:r>
            <a:endParaRPr lang="en-US" sz="4400" dirty="0"/>
          </a:p>
        </p:txBody>
      </p:sp>
      <p:sp>
        <p:nvSpPr>
          <p:cNvPr id="3" name="Shape 1"/>
          <p:cNvSpPr/>
          <p:nvPr/>
        </p:nvSpPr>
        <p:spPr>
          <a:xfrm>
            <a:off x="5476875" y="1419225"/>
            <a:ext cx="5899150" cy="2088092"/>
          </a:xfrm>
          <a:prstGeom prst="rect">
            <a:avLst/>
          </a:prstGeom>
          <a:solidFill>
            <a:srgbClr val="F8F8F8"/>
          </a:solidFill>
          <a:ln w="6350">
            <a:solidFill>
              <a:srgbClr val="D9D9D9"/>
            </a:solidFill>
            <a:prstDash val="solid"/>
          </a:ln>
        </p:spPr>
      </p:sp>
      <p:sp>
        <p:nvSpPr>
          <p:cNvPr id="4" name="Text 2"/>
          <p:cNvSpPr/>
          <p:nvPr/>
        </p:nvSpPr>
        <p:spPr>
          <a:xfrm>
            <a:off x="5657321" y="1574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board</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3</a:t>
            </a:r>
            <a:endParaRPr lang="en-US" sz="1600" dirty="0"/>
          </a:p>
        </p:txBody>
      </p:sp>
      <p:sp>
        <p:nvSpPr>
          <p:cNvPr id="5" name="Text 3"/>
          <p:cNvSpPr/>
          <p:nvPr/>
        </p:nvSpPr>
        <p:spPr>
          <a:xfrm>
            <a:off x="5657321" y="1828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board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A31515"/>
                </a:solidFill>
                <a:latin typeface="Inconsolata" pitchFamily="34" charset="0"/>
                <a:ea typeface="Inconsolata" pitchFamily="34" charset="-122"/>
                <a:cs typeface="Inconsolata" pitchFamily="34" charset="-120"/>
              </a:rPr>
              <a:t>'X'</a:t>
            </a:r>
            <a:endParaRPr lang="en-US" sz="1600" dirty="0"/>
          </a:p>
        </p:txBody>
      </p:sp>
      <p:sp>
        <p:nvSpPr>
          <p:cNvPr id="6" name="Text 4"/>
          <p:cNvSpPr/>
          <p:nvPr/>
        </p:nvSpPr>
        <p:spPr>
          <a:xfrm>
            <a:off x="5657321" y="2082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board</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7" name="Text 5"/>
          <p:cNvSpPr/>
          <p:nvPr/>
        </p:nvSpPr>
        <p:spPr>
          <a:xfrm>
            <a:off x="5657321" y="2336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endParaRPr lang="en-US" sz="1600" dirty="0"/>
          </a:p>
        </p:txBody>
      </p:sp>
      <p:sp>
        <p:nvSpPr>
          <p:cNvPr id="8" name="Text 6"/>
          <p:cNvSpPr/>
          <p:nvPr/>
        </p:nvSpPr>
        <p:spPr>
          <a:xfrm>
            <a:off x="5657321" y="2590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board</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AF00DB"/>
                </a:solidFill>
                <a:latin typeface="Inconsolata" pitchFamily="34" charset="0"/>
                <a:ea typeface="Inconsolata" pitchFamily="34" charset="-122"/>
                <a:cs typeface="Inconsolata" pitchFamily="34" charset="-120"/>
              </a:rPr>
              <a:t>for</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_</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AF00DB"/>
                </a:solidFill>
                <a:latin typeface="Inconsolata" pitchFamily="34" charset="0"/>
                <a:ea typeface="Inconsolata" pitchFamily="34" charset="-122"/>
                <a:cs typeface="Inconsolata" pitchFamily="34" charset="-120"/>
              </a:rPr>
              <a:t>in</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range</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9" name="Text 7"/>
          <p:cNvSpPr/>
          <p:nvPr/>
        </p:nvSpPr>
        <p:spPr>
          <a:xfrm>
            <a:off x="5657321" y="2844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6</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board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A31515"/>
                </a:solidFill>
                <a:latin typeface="Inconsolata" pitchFamily="34" charset="0"/>
                <a:ea typeface="Inconsolata" pitchFamily="34" charset="-122"/>
                <a:cs typeface="Inconsolata" pitchFamily="34" charset="-120"/>
              </a:rPr>
              <a:t>'X'</a:t>
            </a:r>
            <a:endParaRPr lang="en-US" sz="1600" dirty="0"/>
          </a:p>
        </p:txBody>
      </p:sp>
      <p:sp>
        <p:nvSpPr>
          <p:cNvPr id="10" name="Text 8"/>
          <p:cNvSpPr/>
          <p:nvPr/>
        </p:nvSpPr>
        <p:spPr>
          <a:xfrm>
            <a:off x="5657321" y="3098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7</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board</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pic>
        <p:nvPicPr>
          <p:cNvPr id="11" name="Image 0" descr="arrow-right"/>
          <p:cNvPicPr>
            <a:picLocks noChangeAspect="1"/>
          </p:cNvPicPr>
          <p:nvPr/>
        </p:nvPicPr>
        <p:blipFill>
          <a:blip r:embed="rId3"/>
          <a:srcRect/>
          <a:stretch/>
        </p:blipFill>
        <p:spPr>
          <a:xfrm>
            <a:off x="4546600" y="1498600"/>
            <a:ext cx="787400" cy="412750"/>
          </a:xfrm>
          <a:prstGeom prst="rect">
            <a:avLst/>
          </a:prstGeom>
        </p:spPr>
      </p:pic>
      <p:sp>
        <p:nvSpPr>
          <p:cNvPr id="12" name="Text 9"/>
          <p:cNvSpPr/>
          <p:nvPr/>
        </p:nvSpPr>
        <p:spPr>
          <a:xfrm>
            <a:off x="825500" y="1447800"/>
            <a:ext cx="3701923"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1080"/>
                </a:solidFill>
                <a:latin typeface="Carlito" pitchFamily="34" charset="0"/>
                <a:ea typeface="Carlito" pitchFamily="34" charset="-122"/>
                <a:cs typeface="Carlito" pitchFamily="34" charset="-120"/>
              </a:rPr>
              <a:t>*</a:t>
            </a:r>
            <a:r>
              <a:rPr lang="en-US" sz="1600" dirty="0">
                <a:solidFill>
                  <a:srgbClr val="000000"/>
                </a:solidFill>
                <a:latin typeface="Carlito" pitchFamily="34" charset="0"/>
                <a:ea typeface="Carlito" pitchFamily="34" charset="-122"/>
                <a:cs typeface="Carlito" pitchFamily="34" charset="-120"/>
              </a:rPr>
              <a:t> repeats references: three slots, one inner list</a:t>
            </a:r>
            <a:endParaRPr lang="en-US" sz="1600" dirty="0"/>
          </a:p>
        </p:txBody>
      </p:sp>
      <p:pic>
        <p:nvPicPr>
          <p:cNvPr id="13" name="Image 1" descr="arrow-right"/>
          <p:cNvPicPr>
            <a:picLocks noChangeAspect="1"/>
          </p:cNvPicPr>
          <p:nvPr/>
        </p:nvPicPr>
        <p:blipFill>
          <a:blip r:embed="rId3"/>
          <a:srcRect/>
          <a:stretch/>
        </p:blipFill>
        <p:spPr>
          <a:xfrm>
            <a:off x="4546600" y="2514600"/>
            <a:ext cx="787400" cy="412750"/>
          </a:xfrm>
          <a:prstGeom prst="rect">
            <a:avLst/>
          </a:prstGeom>
        </p:spPr>
      </p:pic>
      <p:sp>
        <p:nvSpPr>
          <p:cNvPr id="14" name="Text 10"/>
          <p:cNvSpPr/>
          <p:nvPr/>
        </p:nvSpPr>
        <p:spPr>
          <a:xfrm>
            <a:off x="825500" y="2463800"/>
            <a:ext cx="3701923" cy="533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A comprehension builds a fresh row on each pass</a:t>
            </a:r>
            <a:endParaRPr lang="en-US" sz="1600" dirty="0"/>
          </a:p>
        </p:txBody>
      </p:sp>
      <p:sp>
        <p:nvSpPr>
          <p:cNvPr id="15" name="Text 11"/>
          <p:cNvSpPr/>
          <p:nvPr/>
        </p:nvSpPr>
        <p:spPr>
          <a:xfrm>
            <a:off x="5473700" y="3752850"/>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Output</a:t>
            </a:r>
            <a:endParaRPr lang="en-US" sz="1200" dirty="0"/>
          </a:p>
        </p:txBody>
      </p:sp>
      <p:sp>
        <p:nvSpPr>
          <p:cNvPr id="16" name="Shape 12"/>
          <p:cNvSpPr/>
          <p:nvPr/>
        </p:nvSpPr>
        <p:spPr>
          <a:xfrm>
            <a:off x="5473700" y="4019550"/>
            <a:ext cx="4343400" cy="787400"/>
          </a:xfrm>
          <a:prstGeom prst="rect">
            <a:avLst/>
          </a:prstGeom>
          <a:solidFill>
            <a:srgbClr val="EDEDED"/>
          </a:solidFill>
          <a:ln/>
        </p:spPr>
      </p:sp>
      <p:sp>
        <p:nvSpPr>
          <p:cNvPr id="17" name="Text 13"/>
          <p:cNvSpPr/>
          <p:nvPr/>
        </p:nvSpPr>
        <p:spPr>
          <a:xfrm>
            <a:off x="5651500" y="4159250"/>
            <a:ext cx="4107434"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1F1F1F"/>
                </a:solidFill>
                <a:latin typeface="Inconsolata" pitchFamily="34" charset="0"/>
                <a:ea typeface="Inconsolata" pitchFamily="34" charset="-122"/>
                <a:cs typeface="Inconsolata" pitchFamily="34" charset="-120"/>
              </a:rPr>
              <a:t>[['X', 0, 0], ['X', 0, 0], ['X', 0, 0]]</a:t>
            </a:r>
            <a:endParaRPr lang="en-US" sz="1600" dirty="0"/>
          </a:p>
        </p:txBody>
      </p:sp>
      <p:sp>
        <p:nvSpPr>
          <p:cNvPr id="18" name="Text 14"/>
          <p:cNvSpPr/>
          <p:nvPr/>
        </p:nvSpPr>
        <p:spPr>
          <a:xfrm>
            <a:off x="5651500" y="4413250"/>
            <a:ext cx="4107434"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1F1F1F"/>
                </a:solidFill>
                <a:latin typeface="Inconsolata" pitchFamily="34" charset="0"/>
                <a:ea typeface="Inconsolata" pitchFamily="34" charset="-122"/>
                <a:cs typeface="Inconsolata" pitchFamily="34" charset="-120"/>
              </a:rPr>
              <a:t>[['X', 0, 0], [0, 0, 0], [0, 0, 0]]</a:t>
            </a:r>
            <a:endParaRPr lang="en-US" sz="1600" dirty="0"/>
          </a:p>
        </p:txBody>
      </p:sp>
      <p:pic>
        <p:nvPicPr>
          <p:cNvPr id="19" name="Image 2" descr="arrow-right"/>
          <p:cNvPicPr>
            <a:picLocks noChangeAspect="1"/>
          </p:cNvPicPr>
          <p:nvPr/>
        </p:nvPicPr>
        <p:blipFill>
          <a:blip r:embed="rId3"/>
          <a:srcRect/>
          <a:stretch/>
        </p:blipFill>
        <p:spPr>
          <a:xfrm>
            <a:off x="4546600" y="4083050"/>
            <a:ext cx="787400" cy="412750"/>
          </a:xfrm>
          <a:prstGeom prst="rect">
            <a:avLst/>
          </a:prstGeom>
        </p:spPr>
      </p:pic>
      <p:sp>
        <p:nvSpPr>
          <p:cNvPr id="20" name="Text 15"/>
          <p:cNvSpPr/>
          <p:nvPr/>
        </p:nvSpPr>
        <p:spPr>
          <a:xfrm>
            <a:off x="825500" y="4159250"/>
            <a:ext cx="3701923"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Every row changed</a:t>
            </a:r>
            <a:endParaRPr lang="en-US" sz="1600" dirty="0"/>
          </a:p>
        </p:txBody>
      </p:sp>
      <p:pic>
        <p:nvPicPr>
          <p:cNvPr id="21" name="Image 3" descr="arrow-right"/>
          <p:cNvPicPr>
            <a:picLocks noChangeAspect="1"/>
          </p:cNvPicPr>
          <p:nvPr/>
        </p:nvPicPr>
        <p:blipFill>
          <a:blip r:embed="rId3"/>
          <a:srcRect/>
          <a:stretch/>
        </p:blipFill>
        <p:spPr>
          <a:xfrm>
            <a:off x="4546600" y="4337050"/>
            <a:ext cx="787400" cy="412750"/>
          </a:xfrm>
          <a:prstGeom prst="rect">
            <a:avLst/>
          </a:prstGeom>
        </p:spPr>
      </p:pic>
      <p:sp>
        <p:nvSpPr>
          <p:cNvPr id="22" name="Text 16"/>
          <p:cNvSpPr/>
          <p:nvPr/>
        </p:nvSpPr>
        <p:spPr>
          <a:xfrm>
            <a:off x="825500" y="4413250"/>
            <a:ext cx="3701923"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Only the first row changed</a:t>
            </a:r>
            <a:endParaRPr lang="en-US" sz="1600" dirty="0"/>
          </a:p>
        </p:txBody>
      </p:sp>
      <p:sp>
        <p:nvSpPr>
          <p:cNvPr id="23" name="Text 17"/>
          <p:cNvSpPr/>
          <p:nvPr/>
        </p:nvSpPr>
        <p:spPr>
          <a:xfrm>
            <a:off x="825500" y="4972050"/>
            <a:ext cx="3701923" cy="430742"/>
          </a:xfrm>
          <a:prstGeom prst="rect">
            <a:avLst/>
          </a:prstGeom>
          <a:noFill/>
          <a:ln/>
        </p:spPr>
        <p:txBody>
          <a:bodyPr wrap="square" lIns="0" tIns="0" rIns="0" bIns="0" rtlCol="0" anchor="t">
            <a:normAutofit/>
          </a:bodyPr>
          <a:lstStyle/>
          <a:p>
            <a:pPr marL="0" indent="0" algn="l">
              <a:lnSpc>
                <a:spcPts val="1596"/>
              </a:lnSpc>
              <a:buNone/>
            </a:pPr>
            <a:r>
              <a:rPr lang="en-US" sz="1200" b="1" dirty="0">
                <a:solidFill>
                  <a:srgbClr val="001080"/>
                </a:solidFill>
                <a:latin typeface="Carlito" pitchFamily="34" charset="0"/>
                <a:ea typeface="Carlito" pitchFamily="34" charset="-122"/>
                <a:cs typeface="Carlito" pitchFamily="34" charset="-120"/>
              </a:rPr>
              <a:t>[0] * 3</a:t>
            </a:r>
            <a:r>
              <a:rPr lang="en-US" sz="1200" dirty="0">
                <a:solidFill>
                  <a:srgbClr val="6E6E6E"/>
                </a:solidFill>
                <a:latin typeface="Carlito" pitchFamily="34" charset="0"/>
                <a:ea typeface="Carlito" pitchFamily="34" charset="-122"/>
                <a:cs typeface="Carlito" pitchFamily="34" charset="-120"/>
              </a:rPr>
              <a:t> on its own is fine: </a:t>
            </a:r>
            <a:r>
              <a:rPr lang="en-US" sz="1200" b="1" dirty="0">
                <a:solidFill>
                  <a:srgbClr val="001080"/>
                </a:solidFill>
                <a:latin typeface="Carlito" pitchFamily="34" charset="0"/>
                <a:ea typeface="Carlito" pitchFamily="34" charset="-122"/>
                <a:cs typeface="Carlito" pitchFamily="34" charset="-120"/>
              </a:rPr>
              <a:t>row[0] = 5</a:t>
            </a:r>
            <a:r>
              <a:rPr lang="en-US" sz="1200" dirty="0">
                <a:solidFill>
                  <a:srgbClr val="6E6E6E"/>
                </a:solidFill>
                <a:latin typeface="Carlito" pitchFamily="34" charset="0"/>
                <a:ea typeface="Carlito" pitchFamily="34" charset="-122"/>
                <a:cs typeface="Carlito" pitchFamily="34" charset="-120"/>
              </a:rPr>
              <a:t> just points one slot at a new number.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5500" y="533400"/>
            <a:ext cx="11118850" cy="640080"/>
          </a:xfrm>
          <a:prstGeom prst="rect">
            <a:avLst/>
          </a:prstGeom>
          <a:noFill/>
          <a:ln/>
        </p:spPr>
        <p:txBody>
          <a:bodyPr wrap="square" lIns="0" tIns="0" rIns="0" bIns="0" rtlCol="0" anchor="t">
            <a:normAutofit/>
          </a:bodyPr>
          <a:lstStyle/>
          <a:p>
            <a:pPr marL="0" indent="0" algn="l">
              <a:lnSpc>
                <a:spcPts val="4840"/>
              </a:lnSpc>
              <a:buNone/>
            </a:pPr>
            <a:r>
              <a:rPr lang="en-US" sz="4400" dirty="0">
                <a:solidFill>
                  <a:srgbClr val="000000"/>
                </a:solidFill>
                <a:latin typeface="Carlito" pitchFamily="34" charset="0"/>
                <a:ea typeface="Carlito" pitchFamily="34" charset="-122"/>
                <a:cs typeface="Carlito" pitchFamily="34" charset="-120"/>
              </a:rPr>
              <a:t>TRY IT: THE MULTIPLICATION TRAP</a:t>
            </a:r>
            <a:endParaRPr lang="en-US" sz="4400" dirty="0"/>
          </a:p>
        </p:txBody>
      </p:sp>
      <p:sp>
        <p:nvSpPr>
          <p:cNvPr id="3" name="Text 1"/>
          <p:cNvSpPr/>
          <p:nvPr/>
        </p:nvSpPr>
        <p:spPr>
          <a:xfrm>
            <a:off x="825500" y="1416050"/>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A · Predict the output</a:t>
            </a:r>
            <a:endParaRPr lang="en-US" sz="1200" dirty="0"/>
          </a:p>
        </p:txBody>
      </p:sp>
      <p:sp>
        <p:nvSpPr>
          <p:cNvPr id="4" name="Shape 2"/>
          <p:cNvSpPr/>
          <p:nvPr/>
        </p:nvSpPr>
        <p:spPr>
          <a:xfrm>
            <a:off x="828675" y="1685925"/>
            <a:ext cx="5073650" cy="1834092"/>
          </a:xfrm>
          <a:prstGeom prst="rect">
            <a:avLst/>
          </a:prstGeom>
          <a:solidFill>
            <a:srgbClr val="F8F8F8"/>
          </a:solidFill>
          <a:ln w="6350">
            <a:solidFill>
              <a:srgbClr val="D9D9D9"/>
            </a:solidFill>
            <a:prstDash val="solid"/>
          </a:ln>
        </p:spPr>
      </p:sp>
      <p:sp>
        <p:nvSpPr>
          <p:cNvPr id="5" name="Text 3"/>
          <p:cNvSpPr/>
          <p:nvPr/>
        </p:nvSpPr>
        <p:spPr>
          <a:xfrm>
            <a:off x="1009121" y="1840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row</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3</a:t>
            </a:r>
            <a:endParaRPr lang="en-US" sz="1600" dirty="0"/>
          </a:p>
        </p:txBody>
      </p:sp>
      <p:sp>
        <p:nvSpPr>
          <p:cNvPr id="6" name="Text 4"/>
          <p:cNvSpPr/>
          <p:nvPr/>
        </p:nvSpPr>
        <p:spPr>
          <a:xfrm>
            <a:off x="1009121" y="2094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row</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7</a:t>
            </a:r>
            <a:endParaRPr lang="en-US" sz="1600" dirty="0"/>
          </a:p>
        </p:txBody>
      </p:sp>
      <p:sp>
        <p:nvSpPr>
          <p:cNvPr id="7" name="Text 5"/>
          <p:cNvSpPr/>
          <p:nvPr/>
        </p:nvSpPr>
        <p:spPr>
          <a:xfrm>
            <a:off x="1009121" y="2348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row</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8" name="Text 6"/>
          <p:cNvSpPr/>
          <p:nvPr/>
        </p:nvSpPr>
        <p:spPr>
          <a:xfrm>
            <a:off x="1009121" y="2602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grid</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row</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2</a:t>
            </a:r>
            <a:endParaRPr lang="en-US" sz="1600" dirty="0"/>
          </a:p>
        </p:txBody>
      </p:sp>
      <p:sp>
        <p:nvSpPr>
          <p:cNvPr id="9" name="Text 7"/>
          <p:cNvSpPr/>
          <p:nvPr/>
        </p:nvSpPr>
        <p:spPr>
          <a:xfrm>
            <a:off x="1009121" y="2856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grid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5</a:t>
            </a:r>
            <a:endParaRPr lang="en-US" sz="1600" dirty="0"/>
          </a:p>
        </p:txBody>
      </p:sp>
      <p:sp>
        <p:nvSpPr>
          <p:cNvPr id="10" name="Text 8"/>
          <p:cNvSpPr/>
          <p:nvPr/>
        </p:nvSpPr>
        <p:spPr>
          <a:xfrm>
            <a:off x="1009121" y="3110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6</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grid</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1" name="Text 9"/>
          <p:cNvSpPr/>
          <p:nvPr/>
        </p:nvSpPr>
        <p:spPr>
          <a:xfrm>
            <a:off x="825500" y="3727450"/>
            <a:ext cx="5232400"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Why is the first print fine but the second surprising?</a:t>
            </a:r>
            <a:endParaRPr lang="en-US" sz="1600" dirty="0"/>
          </a:p>
        </p:txBody>
      </p:sp>
      <p:sp>
        <p:nvSpPr>
          <p:cNvPr id="12" name="Text 10"/>
          <p:cNvSpPr/>
          <p:nvPr/>
        </p:nvSpPr>
        <p:spPr>
          <a:xfrm>
            <a:off x="6299200" y="1416050"/>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B · Predict, then fix</a:t>
            </a:r>
            <a:endParaRPr lang="en-US" sz="1200" dirty="0"/>
          </a:p>
        </p:txBody>
      </p:sp>
      <p:sp>
        <p:nvSpPr>
          <p:cNvPr id="13" name="Shape 11"/>
          <p:cNvSpPr/>
          <p:nvPr/>
        </p:nvSpPr>
        <p:spPr>
          <a:xfrm>
            <a:off x="6302375" y="1685925"/>
            <a:ext cx="5073650" cy="1072092"/>
          </a:xfrm>
          <a:prstGeom prst="rect">
            <a:avLst/>
          </a:prstGeom>
          <a:solidFill>
            <a:srgbClr val="F8F8F8"/>
          </a:solidFill>
          <a:ln w="6350">
            <a:solidFill>
              <a:srgbClr val="D9D9D9"/>
            </a:solidFill>
            <a:prstDash val="solid"/>
          </a:ln>
        </p:spPr>
      </p:sp>
      <p:sp>
        <p:nvSpPr>
          <p:cNvPr id="14" name="Text 12"/>
          <p:cNvSpPr/>
          <p:nvPr/>
        </p:nvSpPr>
        <p:spPr>
          <a:xfrm>
            <a:off x="6482821" y="1840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teams</a:t>
            </a:r>
            <a:r>
              <a:rPr lang="en-US" sz="1600" dirty="0">
                <a:solidFill>
                  <a:srgbClr val="000000"/>
                </a:solidFill>
                <a:latin typeface="Inconsolata" pitchFamily="34" charset="0"/>
                <a:ea typeface="Inconsolata" pitchFamily="34" charset="-122"/>
                <a:cs typeface="Inconsolata" pitchFamily="34" charset="-120"/>
              </a:rPr>
              <a:t> = [[]] * </a:t>
            </a:r>
            <a:r>
              <a:rPr lang="en-US" sz="1600" dirty="0">
                <a:solidFill>
                  <a:srgbClr val="098658"/>
                </a:solidFill>
                <a:latin typeface="Inconsolata" pitchFamily="34" charset="0"/>
                <a:ea typeface="Inconsolata" pitchFamily="34" charset="-122"/>
                <a:cs typeface="Inconsolata" pitchFamily="34" charset="-120"/>
              </a:rPr>
              <a:t>3</a:t>
            </a:r>
            <a:endParaRPr lang="en-US" sz="1600" dirty="0"/>
          </a:p>
        </p:txBody>
      </p:sp>
      <p:sp>
        <p:nvSpPr>
          <p:cNvPr id="15" name="Text 13"/>
          <p:cNvSpPr/>
          <p:nvPr/>
        </p:nvSpPr>
        <p:spPr>
          <a:xfrm>
            <a:off x="6482821" y="2094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teams</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0</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append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A31515"/>
                </a:solidFill>
                <a:latin typeface="Inconsolata" pitchFamily="34" charset="0"/>
                <a:ea typeface="Inconsolata" pitchFamily="34" charset="-122"/>
                <a:cs typeface="Inconsolata" pitchFamily="34" charset="-120"/>
              </a:rPr>
              <a:t>'Alice'</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6" name="Text 14"/>
          <p:cNvSpPr/>
          <p:nvPr/>
        </p:nvSpPr>
        <p:spPr>
          <a:xfrm>
            <a:off x="6482821" y="2348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teams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7" name="Text 15"/>
          <p:cNvSpPr/>
          <p:nvPr/>
        </p:nvSpPr>
        <p:spPr>
          <a:xfrm>
            <a:off x="6299200" y="2965450"/>
            <a:ext cx="5232400"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Fix it so only team 0 gets Alice.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5500" y="533400"/>
            <a:ext cx="11118850" cy="640080"/>
          </a:xfrm>
          <a:prstGeom prst="rect">
            <a:avLst/>
          </a:prstGeom>
          <a:noFill/>
          <a:ln/>
        </p:spPr>
        <p:txBody>
          <a:bodyPr wrap="square" lIns="0" tIns="0" rIns="0" bIns="0" rtlCol="0" anchor="t">
            <a:normAutofit/>
          </a:bodyPr>
          <a:lstStyle/>
          <a:p>
            <a:pPr marL="0" indent="0" algn="l">
              <a:lnSpc>
                <a:spcPts val="4840"/>
              </a:lnSpc>
              <a:buNone/>
            </a:pPr>
            <a:r>
              <a:rPr lang="en-US" sz="4400" dirty="0">
                <a:solidFill>
                  <a:srgbClr val="000000"/>
                </a:solidFill>
                <a:latin typeface="Carlito" pitchFamily="34" charset="0"/>
                <a:ea typeface="Carlito" pitchFamily="34" charset="-122"/>
                <a:cs typeface="Carlito" pitchFamily="34" charset="-120"/>
              </a:rPr>
              <a:t>METHODS THAT CHANGE THE LIST</a:t>
            </a:r>
            <a:endParaRPr lang="en-US" sz="4400" dirty="0"/>
          </a:p>
        </p:txBody>
      </p:sp>
      <p:sp>
        <p:nvSpPr>
          <p:cNvPr id="3" name="Shape 1"/>
          <p:cNvSpPr/>
          <p:nvPr/>
        </p:nvSpPr>
        <p:spPr>
          <a:xfrm>
            <a:off x="5476875" y="1419225"/>
            <a:ext cx="5899150" cy="2596092"/>
          </a:xfrm>
          <a:prstGeom prst="rect">
            <a:avLst/>
          </a:prstGeom>
          <a:solidFill>
            <a:srgbClr val="F8F8F8"/>
          </a:solidFill>
          <a:ln w="6350">
            <a:solidFill>
              <a:srgbClr val="D9D9D9"/>
            </a:solidFill>
            <a:prstDash val="solid"/>
          </a:ln>
        </p:spPr>
      </p:sp>
      <p:sp>
        <p:nvSpPr>
          <p:cNvPr id="4" name="Text 2"/>
          <p:cNvSpPr/>
          <p:nvPr/>
        </p:nvSpPr>
        <p:spPr>
          <a:xfrm>
            <a:off x="5657321" y="1574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nums</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5" name="Text 3"/>
          <p:cNvSpPr/>
          <p:nvPr/>
        </p:nvSpPr>
        <p:spPr>
          <a:xfrm>
            <a:off x="5657321" y="1828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result</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nums</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sort</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6" name="Text 4"/>
          <p:cNvSpPr/>
          <p:nvPr/>
        </p:nvSpPr>
        <p:spPr>
          <a:xfrm>
            <a:off x="5657321" y="2082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result</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7" name="Text 5"/>
          <p:cNvSpPr/>
          <p:nvPr/>
        </p:nvSpPr>
        <p:spPr>
          <a:xfrm>
            <a:off x="5657321" y="2336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nums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8" name="Text 6"/>
          <p:cNvSpPr/>
          <p:nvPr/>
        </p:nvSpPr>
        <p:spPr>
          <a:xfrm>
            <a:off x="5657321" y="2590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endParaRPr lang="en-US" sz="1600" dirty="0"/>
          </a:p>
        </p:txBody>
      </p:sp>
      <p:sp>
        <p:nvSpPr>
          <p:cNvPr id="9" name="Text 7"/>
          <p:cNvSpPr/>
          <p:nvPr/>
        </p:nvSpPr>
        <p:spPr>
          <a:xfrm>
            <a:off x="5657321" y="2844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6</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nums</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0" name="Text 8"/>
          <p:cNvSpPr/>
          <p:nvPr/>
        </p:nvSpPr>
        <p:spPr>
          <a:xfrm>
            <a:off x="5657321" y="3098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7</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ordered</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795E26"/>
                </a:solidFill>
                <a:latin typeface="Inconsolata" pitchFamily="34" charset="0"/>
                <a:ea typeface="Inconsolata" pitchFamily="34" charset="-122"/>
                <a:cs typeface="Inconsolata" pitchFamily="34" charset="-120"/>
              </a:rPr>
              <a:t>sorted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nums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1" name="Text 9"/>
          <p:cNvSpPr/>
          <p:nvPr/>
        </p:nvSpPr>
        <p:spPr>
          <a:xfrm>
            <a:off x="5657321" y="3352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8</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nums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2" name="Text 10"/>
          <p:cNvSpPr/>
          <p:nvPr/>
        </p:nvSpPr>
        <p:spPr>
          <a:xfrm>
            <a:off x="5657321" y="3606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9</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ordered</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pic>
        <p:nvPicPr>
          <p:cNvPr id="13" name="Image 0" descr="arrow-right"/>
          <p:cNvPicPr>
            <a:picLocks noChangeAspect="1"/>
          </p:cNvPicPr>
          <p:nvPr/>
        </p:nvPicPr>
        <p:blipFill>
          <a:blip r:embed="rId3"/>
          <a:srcRect/>
          <a:stretch/>
        </p:blipFill>
        <p:spPr>
          <a:xfrm>
            <a:off x="4546600" y="1752600"/>
            <a:ext cx="787400" cy="412750"/>
          </a:xfrm>
          <a:prstGeom prst="rect">
            <a:avLst/>
          </a:prstGeom>
        </p:spPr>
      </p:pic>
      <p:sp>
        <p:nvSpPr>
          <p:cNvPr id="14" name="Text 11"/>
          <p:cNvSpPr/>
          <p:nvPr/>
        </p:nvSpPr>
        <p:spPr>
          <a:xfrm>
            <a:off x="825500" y="1701800"/>
            <a:ext cx="3701923"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1080"/>
                </a:solidFill>
                <a:latin typeface="Carlito" pitchFamily="34" charset="0"/>
                <a:ea typeface="Carlito" pitchFamily="34" charset="-122"/>
                <a:cs typeface="Carlito" pitchFamily="34" charset="-120"/>
              </a:rPr>
              <a:t>sort()</a:t>
            </a:r>
            <a:r>
              <a:rPr lang="en-US" sz="1600" dirty="0">
                <a:solidFill>
                  <a:srgbClr val="000000"/>
                </a:solidFill>
                <a:latin typeface="Carlito" pitchFamily="34" charset="0"/>
                <a:ea typeface="Carlito" pitchFamily="34" charset="-122"/>
                <a:cs typeface="Carlito" pitchFamily="34" charset="-120"/>
              </a:rPr>
              <a:t> changes the list itself and returns </a:t>
            </a:r>
            <a:r>
              <a:rPr lang="en-US" sz="1600" b="1" dirty="0">
                <a:solidFill>
                  <a:srgbClr val="001080"/>
                </a:solidFill>
                <a:latin typeface="Carlito" pitchFamily="34" charset="0"/>
                <a:ea typeface="Carlito" pitchFamily="34" charset="-122"/>
                <a:cs typeface="Carlito" pitchFamily="34" charset="-120"/>
              </a:rPr>
              <a:t>None</a:t>
            </a:r>
            <a:endParaRPr lang="en-US" sz="1600" dirty="0"/>
          </a:p>
        </p:txBody>
      </p:sp>
      <p:pic>
        <p:nvPicPr>
          <p:cNvPr id="15" name="Image 1" descr="arrow-right"/>
          <p:cNvPicPr>
            <a:picLocks noChangeAspect="1"/>
          </p:cNvPicPr>
          <p:nvPr/>
        </p:nvPicPr>
        <p:blipFill>
          <a:blip r:embed="rId3"/>
          <a:srcRect/>
          <a:stretch/>
        </p:blipFill>
        <p:spPr>
          <a:xfrm>
            <a:off x="4546600" y="3022600"/>
            <a:ext cx="787400" cy="412750"/>
          </a:xfrm>
          <a:prstGeom prst="rect">
            <a:avLst/>
          </a:prstGeom>
        </p:spPr>
      </p:pic>
      <p:sp>
        <p:nvSpPr>
          <p:cNvPr id="16" name="Text 12"/>
          <p:cNvSpPr/>
          <p:nvPr/>
        </p:nvSpPr>
        <p:spPr>
          <a:xfrm>
            <a:off x="825500" y="2971800"/>
            <a:ext cx="3701923"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1080"/>
                </a:solidFill>
                <a:latin typeface="Carlito" pitchFamily="34" charset="0"/>
                <a:ea typeface="Carlito" pitchFamily="34" charset="-122"/>
                <a:cs typeface="Carlito" pitchFamily="34" charset="-120"/>
              </a:rPr>
              <a:t>sorted()</a:t>
            </a:r>
            <a:r>
              <a:rPr lang="en-US" sz="1600" dirty="0">
                <a:solidFill>
                  <a:srgbClr val="000000"/>
                </a:solidFill>
                <a:latin typeface="Carlito" pitchFamily="34" charset="0"/>
                <a:ea typeface="Carlito" pitchFamily="34" charset="-122"/>
                <a:cs typeface="Carlito" pitchFamily="34" charset="-120"/>
              </a:rPr>
              <a:t> leaves </a:t>
            </a:r>
            <a:r>
              <a:rPr lang="en-US" sz="1600" b="1" dirty="0">
                <a:solidFill>
                  <a:srgbClr val="001080"/>
                </a:solidFill>
                <a:latin typeface="Carlito" pitchFamily="34" charset="0"/>
                <a:ea typeface="Carlito" pitchFamily="34" charset="-122"/>
                <a:cs typeface="Carlito" pitchFamily="34" charset="-120"/>
              </a:rPr>
              <a:t>nums</a:t>
            </a:r>
            <a:r>
              <a:rPr lang="en-US" sz="1600" dirty="0">
                <a:solidFill>
                  <a:srgbClr val="000000"/>
                </a:solidFill>
                <a:latin typeface="Carlito" pitchFamily="34" charset="0"/>
                <a:ea typeface="Carlito" pitchFamily="34" charset="-122"/>
                <a:cs typeface="Carlito" pitchFamily="34" charset="-120"/>
              </a:rPr>
              <a:t> alone and returns a new list</a:t>
            </a:r>
            <a:endParaRPr lang="en-US" sz="1600" dirty="0"/>
          </a:p>
        </p:txBody>
      </p:sp>
      <p:sp>
        <p:nvSpPr>
          <p:cNvPr id="17" name="Text 13"/>
          <p:cNvSpPr/>
          <p:nvPr/>
        </p:nvSpPr>
        <p:spPr>
          <a:xfrm>
            <a:off x="5473700" y="4260850"/>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Output</a:t>
            </a:r>
            <a:endParaRPr lang="en-US" sz="1200" dirty="0"/>
          </a:p>
        </p:txBody>
      </p:sp>
      <p:sp>
        <p:nvSpPr>
          <p:cNvPr id="18" name="Shape 14"/>
          <p:cNvSpPr/>
          <p:nvPr/>
        </p:nvSpPr>
        <p:spPr>
          <a:xfrm>
            <a:off x="5473700" y="4527550"/>
            <a:ext cx="1295400" cy="1295400"/>
          </a:xfrm>
          <a:prstGeom prst="rect">
            <a:avLst/>
          </a:prstGeom>
          <a:solidFill>
            <a:srgbClr val="EDEDED"/>
          </a:solidFill>
          <a:ln/>
        </p:spPr>
      </p:sp>
      <p:sp>
        <p:nvSpPr>
          <p:cNvPr id="19" name="Text 15"/>
          <p:cNvSpPr/>
          <p:nvPr/>
        </p:nvSpPr>
        <p:spPr>
          <a:xfrm>
            <a:off x="5651500" y="4667250"/>
            <a:ext cx="990600"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1F1F1F"/>
                </a:solidFill>
                <a:latin typeface="Inconsolata" pitchFamily="34" charset="0"/>
                <a:ea typeface="Inconsolata" pitchFamily="34" charset="-122"/>
                <a:cs typeface="Inconsolata" pitchFamily="34" charset="-120"/>
              </a:rPr>
              <a:t>None</a:t>
            </a:r>
            <a:endParaRPr lang="en-US" sz="1600" dirty="0"/>
          </a:p>
        </p:txBody>
      </p:sp>
      <p:sp>
        <p:nvSpPr>
          <p:cNvPr id="20" name="Text 16"/>
          <p:cNvSpPr/>
          <p:nvPr/>
        </p:nvSpPr>
        <p:spPr>
          <a:xfrm>
            <a:off x="5651500" y="4921250"/>
            <a:ext cx="990600"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1F1F1F"/>
                </a:solidFill>
                <a:latin typeface="Inconsolata" pitchFamily="34" charset="0"/>
                <a:ea typeface="Inconsolata" pitchFamily="34" charset="-122"/>
                <a:cs typeface="Inconsolata" pitchFamily="34" charset="-120"/>
              </a:rPr>
              <a:t>[1, 2, 3]</a:t>
            </a:r>
            <a:endParaRPr lang="en-US" sz="1600" dirty="0"/>
          </a:p>
        </p:txBody>
      </p:sp>
      <p:sp>
        <p:nvSpPr>
          <p:cNvPr id="21" name="Text 17"/>
          <p:cNvSpPr/>
          <p:nvPr/>
        </p:nvSpPr>
        <p:spPr>
          <a:xfrm>
            <a:off x="5651500" y="5175250"/>
            <a:ext cx="990600"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1F1F1F"/>
                </a:solidFill>
                <a:latin typeface="Inconsolata" pitchFamily="34" charset="0"/>
                <a:ea typeface="Inconsolata" pitchFamily="34" charset="-122"/>
                <a:cs typeface="Inconsolata" pitchFamily="34" charset="-120"/>
              </a:rPr>
              <a:t>[3, 1, 2]</a:t>
            </a:r>
            <a:endParaRPr lang="en-US" sz="1600" dirty="0"/>
          </a:p>
        </p:txBody>
      </p:sp>
      <p:sp>
        <p:nvSpPr>
          <p:cNvPr id="22" name="Text 18"/>
          <p:cNvSpPr/>
          <p:nvPr/>
        </p:nvSpPr>
        <p:spPr>
          <a:xfrm>
            <a:off x="5651500" y="5429250"/>
            <a:ext cx="990600"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1F1F1F"/>
                </a:solidFill>
                <a:latin typeface="Inconsolata" pitchFamily="34" charset="0"/>
                <a:ea typeface="Inconsolata" pitchFamily="34" charset="-122"/>
                <a:cs typeface="Inconsolata" pitchFamily="34" charset="-120"/>
              </a:rPr>
              <a:t>[1, 2, 3]</a:t>
            </a:r>
            <a:endParaRPr lang="en-US" sz="1600" dirty="0"/>
          </a:p>
        </p:txBody>
      </p:sp>
      <p:sp>
        <p:nvSpPr>
          <p:cNvPr id="23" name="Text 19"/>
          <p:cNvSpPr/>
          <p:nvPr/>
        </p:nvSpPr>
        <p:spPr>
          <a:xfrm>
            <a:off x="825500" y="3784600"/>
            <a:ext cx="3701923" cy="430742"/>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6E6E6E"/>
                </a:solidFill>
                <a:latin typeface="Carlito" pitchFamily="34" charset="0"/>
                <a:ea typeface="Carlito" pitchFamily="34" charset="-122"/>
                <a:cs typeface="Carlito" pitchFamily="34" charset="-120"/>
              </a:rPr>
              <a:t>Also in place: </a:t>
            </a:r>
            <a:r>
              <a:rPr lang="en-US" sz="1200" b="1" dirty="0">
                <a:solidFill>
                  <a:srgbClr val="001080"/>
                </a:solidFill>
                <a:latin typeface="Carlito" pitchFamily="34" charset="0"/>
                <a:ea typeface="Carlito" pitchFamily="34" charset="-122"/>
                <a:cs typeface="Carlito" pitchFamily="34" charset="-120"/>
              </a:rPr>
              <a:t>append</a:t>
            </a:r>
            <a:r>
              <a:rPr lang="en-US" sz="1200" dirty="0">
                <a:solidFill>
                  <a:srgbClr val="6E6E6E"/>
                </a:solidFill>
                <a:latin typeface="Carlito" pitchFamily="34" charset="0"/>
                <a:ea typeface="Carlito" pitchFamily="34" charset="-122"/>
                <a:cs typeface="Carlito" pitchFamily="34" charset="-120"/>
              </a:rPr>
              <a:t>, </a:t>
            </a:r>
            <a:r>
              <a:rPr lang="en-US" sz="1200" b="1" dirty="0">
                <a:solidFill>
                  <a:srgbClr val="001080"/>
                </a:solidFill>
                <a:latin typeface="Carlito" pitchFamily="34" charset="0"/>
                <a:ea typeface="Carlito" pitchFamily="34" charset="-122"/>
                <a:cs typeface="Carlito" pitchFamily="34" charset="-120"/>
              </a:rPr>
              <a:t>extend</a:t>
            </a:r>
            <a:r>
              <a:rPr lang="en-US" sz="1200" dirty="0">
                <a:solidFill>
                  <a:srgbClr val="6E6E6E"/>
                </a:solidFill>
                <a:latin typeface="Carlito" pitchFamily="34" charset="0"/>
                <a:ea typeface="Carlito" pitchFamily="34" charset="-122"/>
                <a:cs typeface="Carlito" pitchFamily="34" charset="-120"/>
              </a:rPr>
              <a:t>, </a:t>
            </a:r>
            <a:r>
              <a:rPr lang="en-US" sz="1200" b="1" dirty="0">
                <a:solidFill>
                  <a:srgbClr val="001080"/>
                </a:solidFill>
                <a:latin typeface="Carlito" pitchFamily="34" charset="0"/>
                <a:ea typeface="Carlito" pitchFamily="34" charset="-122"/>
                <a:cs typeface="Carlito" pitchFamily="34" charset="-120"/>
              </a:rPr>
              <a:t>insert</a:t>
            </a:r>
            <a:r>
              <a:rPr lang="en-US" sz="1200" dirty="0">
                <a:solidFill>
                  <a:srgbClr val="6E6E6E"/>
                </a:solidFill>
                <a:latin typeface="Carlito" pitchFamily="34" charset="0"/>
                <a:ea typeface="Carlito" pitchFamily="34" charset="-122"/>
                <a:cs typeface="Carlito" pitchFamily="34" charset="-120"/>
              </a:rPr>
              <a:t>, </a:t>
            </a:r>
            <a:r>
              <a:rPr lang="en-US" sz="1200" b="1" dirty="0">
                <a:solidFill>
                  <a:srgbClr val="001080"/>
                </a:solidFill>
                <a:latin typeface="Carlito" pitchFamily="34" charset="0"/>
                <a:ea typeface="Carlito" pitchFamily="34" charset="-122"/>
                <a:cs typeface="Carlito" pitchFamily="34" charset="-120"/>
              </a:rPr>
              <a:t>remove</a:t>
            </a:r>
            <a:r>
              <a:rPr lang="en-US" sz="1200" dirty="0">
                <a:solidFill>
                  <a:srgbClr val="6E6E6E"/>
                </a:solidFill>
                <a:latin typeface="Carlito" pitchFamily="34" charset="0"/>
                <a:ea typeface="Carlito" pitchFamily="34" charset="-122"/>
                <a:cs typeface="Carlito" pitchFamily="34" charset="-120"/>
              </a:rPr>
              <a:t>, </a:t>
            </a:r>
            <a:r>
              <a:rPr lang="en-US" sz="1200" b="1" dirty="0">
                <a:solidFill>
                  <a:srgbClr val="001080"/>
                </a:solidFill>
                <a:latin typeface="Carlito" pitchFamily="34" charset="0"/>
                <a:ea typeface="Carlito" pitchFamily="34" charset="-122"/>
                <a:cs typeface="Carlito" pitchFamily="34" charset="-120"/>
              </a:rPr>
              <a:t>reverse</a:t>
            </a:r>
            <a:r>
              <a:rPr lang="en-US" sz="1200" dirty="0">
                <a:solidFill>
                  <a:srgbClr val="6E6E6E"/>
                </a:solidFill>
                <a:latin typeface="Carlito" pitchFamily="34" charset="0"/>
                <a:ea typeface="Carlito" pitchFamily="34" charset="-122"/>
                <a:cs typeface="Carlito" pitchFamily="34" charset="-120"/>
              </a:rPr>
              <a:t>, </a:t>
            </a:r>
            <a:r>
              <a:rPr lang="en-US" sz="1200" b="1" dirty="0">
                <a:solidFill>
                  <a:srgbClr val="001080"/>
                </a:solidFill>
                <a:latin typeface="Carlito" pitchFamily="34" charset="0"/>
                <a:ea typeface="Carlito" pitchFamily="34" charset="-122"/>
                <a:cs typeface="Carlito" pitchFamily="34" charset="-120"/>
              </a:rPr>
              <a:t>clear</a:t>
            </a:r>
            <a:r>
              <a:rPr lang="en-US" sz="1200" dirty="0">
                <a:solidFill>
                  <a:srgbClr val="6E6E6E"/>
                </a:solidFill>
                <a:latin typeface="Carlito" pitchFamily="34" charset="0"/>
                <a:ea typeface="Carlito" pitchFamily="34" charset="-122"/>
                <a:cs typeface="Carlito" pitchFamily="34" charset="-120"/>
              </a:rPr>
              <a:t>, and </a:t>
            </a:r>
            <a:r>
              <a:rPr lang="en-US" sz="1200" b="1" dirty="0">
                <a:solidFill>
                  <a:srgbClr val="001080"/>
                </a:solidFill>
                <a:latin typeface="Carlito" pitchFamily="34" charset="0"/>
                <a:ea typeface="Carlito" pitchFamily="34" charset="-122"/>
                <a:cs typeface="Carlito" pitchFamily="34" charset="-120"/>
              </a:rPr>
              <a:t>+=</a:t>
            </a:r>
            <a:r>
              <a:rPr lang="en-US" sz="1200" dirty="0">
                <a:solidFill>
                  <a:srgbClr val="6E6E6E"/>
                </a:solidFill>
                <a:latin typeface="Carlito" pitchFamily="34" charset="0"/>
                <a:ea typeface="Carlito" pitchFamily="34" charset="-122"/>
                <a:cs typeface="Carlito" pitchFamily="34" charset="-120"/>
              </a:rPr>
              <a:t> on a list. So never write </a:t>
            </a:r>
            <a:r>
              <a:rPr lang="en-US" sz="1200" b="1" dirty="0">
                <a:solidFill>
                  <a:srgbClr val="001080"/>
                </a:solidFill>
                <a:latin typeface="Carlito" pitchFamily="34" charset="0"/>
                <a:ea typeface="Carlito" pitchFamily="34" charset="-122"/>
                <a:cs typeface="Carlito" pitchFamily="34" charset="-120"/>
              </a:rPr>
              <a:t>nums = nums.sort()</a:t>
            </a:r>
            <a:r>
              <a:rPr lang="en-US" sz="1200" dirty="0">
                <a:solidFill>
                  <a:srgbClr val="6E6E6E"/>
                </a:solidFill>
                <a:latin typeface="Carlito" pitchFamily="34" charset="0"/>
                <a:ea typeface="Carlito" pitchFamily="34" charset="-122"/>
                <a:cs typeface="Carlito" pitchFamily="34" charset="-120"/>
              </a:rPr>
              <a: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5500" y="533400"/>
            <a:ext cx="11118850" cy="640080"/>
          </a:xfrm>
          <a:prstGeom prst="rect">
            <a:avLst/>
          </a:prstGeom>
          <a:noFill/>
          <a:ln/>
        </p:spPr>
        <p:txBody>
          <a:bodyPr wrap="square" lIns="0" tIns="0" rIns="0" bIns="0" rtlCol="0" anchor="t">
            <a:normAutofit/>
          </a:bodyPr>
          <a:lstStyle/>
          <a:p>
            <a:pPr marL="0" indent="0" algn="l">
              <a:lnSpc>
                <a:spcPts val="4840"/>
              </a:lnSpc>
              <a:buNone/>
            </a:pPr>
            <a:r>
              <a:rPr lang="en-US" sz="4400" dirty="0">
                <a:solidFill>
                  <a:srgbClr val="000000"/>
                </a:solidFill>
                <a:latin typeface="Carlito" pitchFamily="34" charset="0"/>
                <a:ea typeface="Carlito" pitchFamily="34" charset="-122"/>
                <a:cs typeface="Carlito" pitchFamily="34" charset="-120"/>
              </a:rPr>
              <a:t>TRY IT: IN-PLACE METHODS</a:t>
            </a:r>
            <a:endParaRPr lang="en-US" sz="4400" dirty="0"/>
          </a:p>
        </p:txBody>
      </p:sp>
      <p:sp>
        <p:nvSpPr>
          <p:cNvPr id="3" name="Text 1"/>
          <p:cNvSpPr/>
          <p:nvPr/>
        </p:nvSpPr>
        <p:spPr>
          <a:xfrm>
            <a:off x="825500" y="1416050"/>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A · Predict the output</a:t>
            </a:r>
            <a:endParaRPr lang="en-US" sz="1200" dirty="0"/>
          </a:p>
        </p:txBody>
      </p:sp>
      <p:sp>
        <p:nvSpPr>
          <p:cNvPr id="4" name="Shape 2"/>
          <p:cNvSpPr/>
          <p:nvPr/>
        </p:nvSpPr>
        <p:spPr>
          <a:xfrm>
            <a:off x="828675" y="1685925"/>
            <a:ext cx="5073650" cy="1072092"/>
          </a:xfrm>
          <a:prstGeom prst="rect">
            <a:avLst/>
          </a:prstGeom>
          <a:solidFill>
            <a:srgbClr val="F8F8F8"/>
          </a:solidFill>
          <a:ln w="6350">
            <a:solidFill>
              <a:srgbClr val="D9D9D9"/>
            </a:solidFill>
            <a:prstDash val="solid"/>
          </a:ln>
        </p:spPr>
      </p:sp>
      <p:sp>
        <p:nvSpPr>
          <p:cNvPr id="5" name="Text 3"/>
          <p:cNvSpPr/>
          <p:nvPr/>
        </p:nvSpPr>
        <p:spPr>
          <a:xfrm>
            <a:off x="1009121" y="1840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nums</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8</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6" name="Text 4"/>
          <p:cNvSpPr/>
          <p:nvPr/>
        </p:nvSpPr>
        <p:spPr>
          <a:xfrm>
            <a:off x="1009121" y="2094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nums</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nums</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append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7" name="Text 5"/>
          <p:cNvSpPr/>
          <p:nvPr/>
        </p:nvSpPr>
        <p:spPr>
          <a:xfrm>
            <a:off x="1009121" y="2348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nums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8" name="Text 6"/>
          <p:cNvSpPr/>
          <p:nvPr/>
        </p:nvSpPr>
        <p:spPr>
          <a:xfrm>
            <a:off x="825500" y="2965450"/>
            <a:ext cx="5232400"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Where did the list go?</a:t>
            </a:r>
            <a:endParaRPr lang="en-US" sz="1600" dirty="0"/>
          </a:p>
        </p:txBody>
      </p:sp>
      <p:sp>
        <p:nvSpPr>
          <p:cNvPr id="9" name="Text 7"/>
          <p:cNvSpPr/>
          <p:nvPr/>
        </p:nvSpPr>
        <p:spPr>
          <a:xfrm>
            <a:off x="6299200" y="1416050"/>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B · Predict the output</a:t>
            </a:r>
            <a:endParaRPr lang="en-US" sz="1200" dirty="0"/>
          </a:p>
        </p:txBody>
      </p:sp>
      <p:sp>
        <p:nvSpPr>
          <p:cNvPr id="10" name="Shape 8"/>
          <p:cNvSpPr/>
          <p:nvPr/>
        </p:nvSpPr>
        <p:spPr>
          <a:xfrm>
            <a:off x="6302375" y="1685925"/>
            <a:ext cx="5073650" cy="1834092"/>
          </a:xfrm>
          <a:prstGeom prst="rect">
            <a:avLst/>
          </a:prstGeom>
          <a:solidFill>
            <a:srgbClr val="F8F8F8"/>
          </a:solidFill>
          <a:ln w="6350">
            <a:solidFill>
              <a:srgbClr val="D9D9D9"/>
            </a:solidFill>
            <a:prstDash val="solid"/>
          </a:ln>
        </p:spPr>
      </p:sp>
      <p:sp>
        <p:nvSpPr>
          <p:cNvPr id="11" name="Text 9"/>
          <p:cNvSpPr/>
          <p:nvPr/>
        </p:nvSpPr>
        <p:spPr>
          <a:xfrm>
            <a:off x="6482821" y="1840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2" name="Text 10"/>
          <p:cNvSpPr/>
          <p:nvPr/>
        </p:nvSpPr>
        <p:spPr>
          <a:xfrm>
            <a:off x="6482821" y="2094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a</a:t>
            </a:r>
            <a:endParaRPr lang="en-US" sz="1600" dirty="0"/>
          </a:p>
        </p:txBody>
      </p:sp>
      <p:sp>
        <p:nvSpPr>
          <p:cNvPr id="13" name="Text 11"/>
          <p:cNvSpPr/>
          <p:nvPr/>
        </p:nvSpPr>
        <p:spPr>
          <a:xfrm>
            <a:off x="6482821" y="2348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sort</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4" name="Text 12"/>
          <p:cNvSpPr/>
          <p:nvPr/>
        </p:nvSpPr>
        <p:spPr>
          <a:xfrm>
            <a:off x="6482821" y="2602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5" name="Text 13"/>
          <p:cNvSpPr/>
          <p:nvPr/>
        </p:nvSpPr>
        <p:spPr>
          <a:xfrm>
            <a:off x="6482821" y="2856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6" name="Text 14"/>
          <p:cNvSpPr/>
          <p:nvPr/>
        </p:nvSpPr>
        <p:spPr>
          <a:xfrm>
            <a:off x="6482821" y="3110973"/>
            <a:ext cx="4854141"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6</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7" name="Text 15"/>
          <p:cNvSpPr/>
          <p:nvPr/>
        </p:nvSpPr>
        <p:spPr>
          <a:xfrm>
            <a:off x="6299200" y="3727450"/>
            <a:ext cx="5232400"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Which line changed </a:t>
            </a:r>
            <a:r>
              <a:rPr lang="en-US" sz="1600" b="1" dirty="0">
                <a:solidFill>
                  <a:srgbClr val="001080"/>
                </a:solidFill>
                <a:latin typeface="Carlito" pitchFamily="34" charset="0"/>
                <a:ea typeface="Carlito" pitchFamily="34" charset="-122"/>
                <a:cs typeface="Carlito" pitchFamily="34" charset="-120"/>
              </a:rPr>
              <a:t>a</a:t>
            </a:r>
            <a:r>
              <a:rPr lang="en-US" sz="1600" dirty="0">
                <a:solidFill>
                  <a:srgbClr val="000000"/>
                </a:solidFill>
                <a:latin typeface="Carlito" pitchFamily="34" charset="0"/>
                <a:ea typeface="Carlito" pitchFamily="34" charset="-122"/>
                <a:cs typeface="Carlito" pitchFamily="34" charset="-120"/>
              </a:rPr>
              <a:t>, and which didn’t?</a:t>
            </a:r>
            <a:endParaRPr lang="en-US" sz="1600" dirty="0"/>
          </a:p>
        </p:txBody>
      </p:sp>
      <p:sp>
        <p:nvSpPr>
          <p:cNvPr id="18" name="Text 16"/>
          <p:cNvSpPr/>
          <p:nvPr/>
        </p:nvSpPr>
        <p:spPr>
          <a:xfrm>
            <a:off x="825500" y="4337050"/>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C · Sort these: in place, or new list?</a:t>
            </a:r>
            <a:endParaRPr lang="en-US" sz="1200" dirty="0"/>
          </a:p>
        </p:txBody>
      </p:sp>
      <p:sp>
        <p:nvSpPr>
          <p:cNvPr id="19" name="Shape 17"/>
          <p:cNvSpPr/>
          <p:nvPr/>
        </p:nvSpPr>
        <p:spPr>
          <a:xfrm>
            <a:off x="828675" y="4606925"/>
            <a:ext cx="10547350" cy="513292"/>
          </a:xfrm>
          <a:prstGeom prst="rect">
            <a:avLst/>
          </a:prstGeom>
          <a:solidFill>
            <a:srgbClr val="F8F8F8"/>
          </a:solidFill>
          <a:ln w="6350">
            <a:solidFill>
              <a:srgbClr val="D9D9D9"/>
            </a:solidFill>
            <a:prstDash val="solid"/>
          </a:ln>
        </p:spPr>
      </p:sp>
      <p:sp>
        <p:nvSpPr>
          <p:cNvPr id="20" name="Text 18"/>
          <p:cNvSpPr/>
          <p:nvPr/>
        </p:nvSpPr>
        <p:spPr>
          <a:xfrm>
            <a:off x="1009121" y="4736573"/>
            <a:ext cx="10492052"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001080"/>
                </a:solidFill>
                <a:latin typeface="Inconsolata" pitchFamily="34" charset="0"/>
                <a:ea typeface="Inconsolata" pitchFamily="34" charset="-122"/>
                <a:cs typeface="Inconsolata" pitchFamily="34" charset="-120"/>
              </a:rPr>
              <a:t>sort()   sorted()   append()   +   reverse()   [::-1]   extend()   copy()</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825500" y="533400"/>
            <a:ext cx="11118850" cy="640080"/>
          </a:xfrm>
          <a:prstGeom prst="rect">
            <a:avLst/>
          </a:prstGeom>
          <a:noFill/>
          <a:ln/>
        </p:spPr>
        <p:txBody>
          <a:bodyPr wrap="square" lIns="0" tIns="0" rIns="0" bIns="0" rtlCol="0" anchor="t">
            <a:normAutofit/>
          </a:bodyPr>
          <a:lstStyle/>
          <a:p>
            <a:pPr marL="0" indent="0" algn="l">
              <a:lnSpc>
                <a:spcPts val="4840"/>
              </a:lnSpc>
              <a:buNone/>
            </a:pPr>
            <a:r>
              <a:rPr lang="en-US" sz="4400" dirty="0">
                <a:solidFill>
                  <a:srgbClr val="000000"/>
                </a:solidFill>
                <a:latin typeface="Carlito" pitchFamily="34" charset="0"/>
                <a:ea typeface="Carlito" pitchFamily="34" charset="-122"/>
                <a:cs typeface="Carlito" pitchFamily="34" charset="-120"/>
              </a:rPr>
              <a:t>PASSING A LIST TO A FUNCTION</a:t>
            </a:r>
            <a:endParaRPr lang="en-US" sz="4400" dirty="0"/>
          </a:p>
        </p:txBody>
      </p:sp>
      <p:sp>
        <p:nvSpPr>
          <p:cNvPr id="3" name="Shape 3"/>
          <p:cNvSpPr/>
          <p:nvPr/>
        </p:nvSpPr>
        <p:spPr>
          <a:xfrm>
            <a:off x="5476875" y="1419225"/>
            <a:ext cx="5899150" cy="1834092"/>
          </a:xfrm>
          <a:prstGeom prst="rect">
            <a:avLst/>
          </a:prstGeom>
          <a:solidFill>
            <a:srgbClr val="F8F8F8"/>
          </a:solidFill>
          <a:ln w="6350">
            <a:solidFill>
              <a:srgbClr val="D9D9D9"/>
            </a:solidFill>
            <a:prstDash val="solid"/>
          </a:ln>
        </p:spPr>
      </p:sp>
      <p:sp>
        <p:nvSpPr>
          <p:cNvPr id="4" name="Text 4"/>
          <p:cNvSpPr txBox="1"/>
          <p:nvPr/>
        </p:nvSpPr>
        <p:spPr>
          <a:xfrm>
            <a:off x="5657321" y="1574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00FF"/>
                </a:solidFill>
                <a:latin typeface="Inconsolata" pitchFamily="34" charset="0"/>
                <a:ea typeface="Inconsolata" pitchFamily="34" charset="-122"/>
                <a:cs typeface="Inconsolata" pitchFamily="34" charset="-120"/>
              </a:rPr>
              <a:t>def</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add_bonus</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scores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5" name="Text 5"/>
          <p:cNvSpPr txBox="1"/>
          <p:nvPr/>
        </p:nvSpPr>
        <p:spPr>
          <a:xfrm>
            <a:off x="5657321" y="1828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scores</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append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98658"/>
                </a:solidFill>
                <a:latin typeface="Inconsolata" pitchFamily="34" charset="0"/>
                <a:ea typeface="Inconsolata" pitchFamily="34" charset="-122"/>
                <a:cs typeface="Inconsolata" pitchFamily="34" charset="-120"/>
              </a:rPr>
              <a:t>10</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6" name="Text 6"/>
          <p:cNvSpPr txBox="1"/>
          <p:nvPr/>
        </p:nvSpPr>
        <p:spPr>
          <a:xfrm>
            <a:off x="5657321" y="2082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endParaRPr lang="en-US" sz="1600" dirty="0"/>
          </a:p>
        </p:txBody>
      </p:sp>
      <p:sp>
        <p:nvSpPr>
          <p:cNvPr id="7" name="Text 7"/>
          <p:cNvSpPr txBox="1"/>
          <p:nvPr/>
        </p:nvSpPr>
        <p:spPr>
          <a:xfrm>
            <a:off x="5657321" y="2336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marks</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7</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8</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8" name="Text 8"/>
          <p:cNvSpPr txBox="1"/>
          <p:nvPr/>
        </p:nvSpPr>
        <p:spPr>
          <a:xfrm>
            <a:off x="5657321" y="2590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add_bonus</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marks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9" name="Text 9"/>
          <p:cNvSpPr txBox="1"/>
          <p:nvPr/>
        </p:nvSpPr>
        <p:spPr>
          <a:xfrm>
            <a:off x="5657321" y="2844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6</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marks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pic>
        <p:nvPicPr>
          <p:cNvPr id="10" name="Image 10" descr="arrow-right"/>
          <p:cNvPicPr>
            <a:picLocks noChangeAspect="1"/>
          </p:cNvPicPr>
          <p:nvPr/>
        </p:nvPicPr>
        <p:blipFill>
          <a:blip r:embed="rId3"/>
          <a:srcRect/>
          <a:stretch/>
        </p:blipFill>
        <p:spPr>
          <a:xfrm>
            <a:off x="4546600" y="1498600"/>
            <a:ext cx="787400" cy="412750"/>
          </a:xfrm>
          <a:prstGeom prst="rect">
            <a:avLst/>
          </a:prstGeom>
        </p:spPr>
      </p:pic>
      <p:sp>
        <p:nvSpPr>
          <p:cNvPr id="11" name="Text 11"/>
          <p:cNvSpPr txBox="1"/>
          <p:nvPr/>
        </p:nvSpPr>
        <p:spPr>
          <a:xfrm>
            <a:off x="825500" y="1447800"/>
            <a:ext cx="3550000"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1080"/>
                </a:solidFill>
                <a:latin typeface="Carlito" pitchFamily="34" charset="0"/>
                <a:ea typeface="Carlito" pitchFamily="34" charset="-122"/>
                <a:cs typeface="Carlito" pitchFamily="34" charset="-120"/>
              </a:rPr>
              <a:t>scores</a:t>
            </a:r>
            <a:r>
              <a:rPr lang="en-US" sz="1600" dirty="0">
                <a:solidFill>
                  <a:srgbClr val="000000"/>
                </a:solidFill>
                <a:latin typeface="Carlito" pitchFamily="34" charset="0"/>
                <a:ea typeface="Carlito" pitchFamily="34" charset="-122"/>
                <a:cs typeface="Carlito" pitchFamily="34" charset="-120"/>
              </a:rPr>
              <a:t> is a parameter: a new name for whatever list the caller passes in</a:t>
            </a:r>
            <a:endParaRPr lang="en-US" sz="1600" dirty="0"/>
          </a:p>
        </p:txBody>
      </p:sp>
      <p:pic>
        <p:nvPicPr>
          <p:cNvPr id="12" name="Image 12" descr="arrow-right"/>
          <p:cNvPicPr>
            <a:picLocks noChangeAspect="1"/>
          </p:cNvPicPr>
          <p:nvPr/>
        </p:nvPicPr>
        <p:blipFill>
          <a:blip r:embed="rId3"/>
          <a:srcRect/>
          <a:stretch/>
        </p:blipFill>
        <p:spPr>
          <a:xfrm>
            <a:off x="4546600" y="2514600"/>
            <a:ext cx="787400" cy="412750"/>
          </a:xfrm>
          <a:prstGeom prst="rect">
            <a:avLst/>
          </a:prstGeom>
        </p:spPr>
      </p:pic>
      <p:sp>
        <p:nvSpPr>
          <p:cNvPr id="13" name="Text 13"/>
          <p:cNvSpPr txBox="1"/>
          <p:nvPr/>
        </p:nvSpPr>
        <p:spPr>
          <a:xfrm>
            <a:off x="825500" y="2463800"/>
            <a:ext cx="3550000" cy="533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This call makes </a:t>
            </a:r>
            <a:r>
              <a:rPr lang="en-US" sz="1600" b="1" dirty="0">
                <a:solidFill>
                  <a:srgbClr val="001080"/>
                </a:solidFill>
                <a:latin typeface="Carlito" pitchFamily="34" charset="0"/>
                <a:ea typeface="Carlito" pitchFamily="34" charset="-122"/>
                <a:cs typeface="Carlito" pitchFamily="34" charset="-120"/>
              </a:rPr>
              <a:t>scores</a:t>
            </a:r>
            <a:r>
              <a:rPr lang="en-US" sz="1600" dirty="0">
                <a:solidFill>
                  <a:srgbClr val="000000"/>
                </a:solidFill>
                <a:latin typeface="Carlito" pitchFamily="34" charset="0"/>
                <a:ea typeface="Carlito" pitchFamily="34" charset="-122"/>
                <a:cs typeface="Carlito" pitchFamily="34" charset="-120"/>
              </a:rPr>
              <a:t> an alias for </a:t>
            </a:r>
            <a:r>
              <a:rPr lang="en-US" sz="1600" b="1" dirty="0">
                <a:solidFill>
                  <a:srgbClr val="001080"/>
                </a:solidFill>
                <a:latin typeface="Carlito" pitchFamily="34" charset="0"/>
                <a:ea typeface="Carlito" pitchFamily="34" charset="-122"/>
                <a:cs typeface="Carlito" pitchFamily="34" charset="-120"/>
              </a:rPr>
              <a:t>marks</a:t>
            </a:r>
            <a:r>
              <a:rPr lang="en-US" sz="1600" dirty="0">
                <a:solidFill>
                  <a:srgbClr val="000000"/>
                </a:solidFill>
                <a:latin typeface="Carlito" pitchFamily="34" charset="0"/>
                <a:ea typeface="Carlito" pitchFamily="34" charset="-122"/>
                <a:cs typeface="Carlito" pitchFamily="34" charset="-120"/>
              </a:rPr>
              <a:t>, just like </a:t>
            </a:r>
            <a:r>
              <a:rPr lang="en-US" sz="1600" b="1" dirty="0">
                <a:solidFill>
                  <a:srgbClr val="001080"/>
                </a:solidFill>
                <a:latin typeface="Carlito" pitchFamily="34" charset="0"/>
                <a:ea typeface="Carlito" pitchFamily="34" charset="-122"/>
                <a:cs typeface="Carlito" pitchFamily="34" charset="-120"/>
              </a:rPr>
              <a:t>c = a</a:t>
            </a:r>
            <a:endParaRPr lang="en-US" sz="1600" dirty="0"/>
          </a:p>
        </p:txBody>
      </p:sp>
      <p:sp>
        <p:nvSpPr>
          <p:cNvPr id="14" name="Text 14"/>
          <p:cNvSpPr txBox="1"/>
          <p:nvPr/>
        </p:nvSpPr>
        <p:spPr>
          <a:xfrm>
            <a:off x="5473700" y="3498850"/>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Output</a:t>
            </a:r>
            <a:endParaRPr lang="en-US" sz="1200" dirty="0"/>
          </a:p>
        </p:txBody>
      </p:sp>
      <p:sp>
        <p:nvSpPr>
          <p:cNvPr id="15" name="Shape 15"/>
          <p:cNvSpPr/>
          <p:nvPr/>
        </p:nvSpPr>
        <p:spPr>
          <a:xfrm>
            <a:off x="5473700" y="3765550"/>
            <a:ext cx="1555600" cy="533400"/>
          </a:xfrm>
          <a:prstGeom prst="rect">
            <a:avLst/>
          </a:prstGeom>
          <a:solidFill>
            <a:srgbClr val="EDEDED"/>
          </a:solidFill>
          <a:ln/>
        </p:spPr>
      </p:sp>
      <p:sp>
        <p:nvSpPr>
          <p:cNvPr id="16" name="Text 16"/>
          <p:cNvSpPr txBox="1"/>
          <p:nvPr/>
        </p:nvSpPr>
        <p:spPr>
          <a:xfrm>
            <a:off x="5651500" y="3905250"/>
            <a:ext cx="1250800"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1F1F1F"/>
                </a:solidFill>
                <a:latin typeface="Inconsolata" pitchFamily="34" charset="0"/>
                <a:ea typeface="Inconsolata" pitchFamily="34" charset="-122"/>
                <a:cs typeface="Inconsolata" pitchFamily="34" charset="-120"/>
              </a:rPr>
              <a:t>[7, 8, 10]</a:t>
            </a:r>
            <a:endParaRPr lang="en-US" sz="1600" dirty="0"/>
          </a:p>
        </p:txBody>
      </p:sp>
      <p:pic>
        <p:nvPicPr>
          <p:cNvPr id="17" name="Image 17" descr="arrow-right"/>
          <p:cNvPicPr>
            <a:picLocks noChangeAspect="1"/>
          </p:cNvPicPr>
          <p:nvPr/>
        </p:nvPicPr>
        <p:blipFill>
          <a:blip r:embed="rId3"/>
          <a:srcRect/>
          <a:stretch/>
        </p:blipFill>
        <p:spPr>
          <a:xfrm>
            <a:off x="4546600" y="3829577"/>
            <a:ext cx="787400" cy="412750"/>
          </a:xfrm>
          <a:prstGeom prst="rect">
            <a:avLst/>
          </a:prstGeom>
        </p:spPr>
      </p:pic>
      <p:sp>
        <p:nvSpPr>
          <p:cNvPr id="18" name="Text 18"/>
          <p:cNvSpPr txBox="1"/>
          <p:nvPr/>
        </p:nvSpPr>
        <p:spPr>
          <a:xfrm>
            <a:off x="825500" y="3778777"/>
            <a:ext cx="3550000"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1080"/>
                </a:solidFill>
                <a:latin typeface="Carlito" pitchFamily="34" charset="0"/>
                <a:ea typeface="Carlito" pitchFamily="34" charset="-122"/>
                <a:cs typeface="Carlito" pitchFamily="34" charset="-120"/>
              </a:rPr>
              <a:t>append</a:t>
            </a:r>
            <a:r>
              <a:rPr lang="en-US" sz="1600" dirty="0">
                <a:solidFill>
                  <a:srgbClr val="000000"/>
                </a:solidFill>
                <a:latin typeface="Carlito" pitchFamily="34" charset="0"/>
                <a:ea typeface="Carlito" pitchFamily="34" charset="-122"/>
                <a:cs typeface="Carlito" pitchFamily="34" charset="-120"/>
              </a:rPr>
              <a:t> changed the one shared list, so </a:t>
            </a:r>
            <a:r>
              <a:rPr lang="en-US" sz="1600" b="1" dirty="0">
                <a:solidFill>
                  <a:srgbClr val="001080"/>
                </a:solidFill>
                <a:latin typeface="Carlito" pitchFamily="34" charset="0"/>
                <a:ea typeface="Carlito" pitchFamily="34" charset="-122"/>
                <a:cs typeface="Carlito" pitchFamily="34" charset="-120"/>
              </a:rPr>
              <a:t>marks</a:t>
            </a:r>
            <a:r>
              <a:rPr lang="en-US" sz="1600" dirty="0">
                <a:solidFill>
                  <a:srgbClr val="000000"/>
                </a:solidFill>
                <a:latin typeface="Carlito" pitchFamily="34" charset="0"/>
                <a:ea typeface="Carlito" pitchFamily="34" charset="-122"/>
                <a:cs typeface="Carlito" pitchFamily="34" charset="-120"/>
              </a:rPr>
              <a:t> sees it</a:t>
            </a:r>
            <a:endParaRPr lang="en-US" sz="1600" dirty="0"/>
          </a:p>
        </p:txBody>
      </p:sp>
      <p:sp>
        <p:nvSpPr>
          <p:cNvPr id="19" name="Text 19"/>
          <p:cNvSpPr txBox="1"/>
          <p:nvPr/>
        </p:nvSpPr>
        <p:spPr>
          <a:xfrm>
            <a:off x="825500" y="4500000"/>
            <a:ext cx="3550000" cy="640080"/>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6E6E6E"/>
                </a:solidFill>
                <a:latin typeface="Carlito" pitchFamily="34" charset="0"/>
                <a:ea typeface="Carlito" pitchFamily="34" charset="-122"/>
                <a:cs typeface="Carlito" pitchFamily="34" charset="-120"/>
              </a:rPr>
              <a:t>Python never copies a list when you pass it in. Inside the call, </a:t>
            </a:r>
            <a:r>
              <a:rPr lang="en-US" sz="1200" b="1" dirty="0">
                <a:solidFill>
                  <a:srgbClr val="001080"/>
                </a:solidFill>
                <a:latin typeface="Carlito" pitchFamily="34" charset="0"/>
                <a:ea typeface="Carlito" pitchFamily="34" charset="-122"/>
                <a:cs typeface="Carlito" pitchFamily="34" charset="-120"/>
              </a:rPr>
              <a:t>scores is marks</a:t>
            </a:r>
            <a:r>
              <a:rPr lang="en-US" sz="1200" dirty="0">
                <a:solidFill>
                  <a:srgbClr val="6E6E6E"/>
                </a:solidFill>
                <a:latin typeface="Carlito" pitchFamily="34" charset="0"/>
                <a:ea typeface="Carlito" pitchFamily="34" charset="-122"/>
                <a:cs typeface="Carlito" pitchFamily="34" charset="-120"/>
              </a:rPr>
              <a:t> is True.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825500" y="533400"/>
            <a:ext cx="11118850" cy="640080"/>
          </a:xfrm>
          <a:prstGeom prst="rect">
            <a:avLst/>
          </a:prstGeom>
          <a:noFill/>
          <a:ln/>
        </p:spPr>
        <p:txBody>
          <a:bodyPr wrap="square" lIns="0" tIns="0" rIns="0" bIns="0" rtlCol="0" anchor="t">
            <a:normAutofit/>
          </a:bodyPr>
          <a:lstStyle/>
          <a:p>
            <a:pPr marL="0" indent="0" algn="l">
              <a:lnSpc>
                <a:spcPts val="4840"/>
              </a:lnSpc>
              <a:buNone/>
            </a:pPr>
            <a:r>
              <a:rPr lang="en-US" sz="4400" dirty="0">
                <a:solidFill>
                  <a:srgbClr val="000000"/>
                </a:solidFill>
                <a:latin typeface="Carlito" pitchFamily="34" charset="0"/>
                <a:ea typeface="Carlito" pitchFamily="34" charset="-122"/>
                <a:cs typeface="Carlito" pitchFamily="34" charset="-120"/>
              </a:rPr>
              <a:t>CHANGE IT OR REPLACE IT?</a:t>
            </a:r>
            <a:endParaRPr lang="en-US" sz="4400" dirty="0"/>
          </a:p>
        </p:txBody>
      </p:sp>
      <p:sp>
        <p:nvSpPr>
          <p:cNvPr id="3" name="Shape 3"/>
          <p:cNvSpPr/>
          <p:nvPr/>
        </p:nvSpPr>
        <p:spPr>
          <a:xfrm>
            <a:off x="5476875" y="1419225"/>
            <a:ext cx="5899150" cy="3104092"/>
          </a:xfrm>
          <a:prstGeom prst="rect">
            <a:avLst/>
          </a:prstGeom>
          <a:solidFill>
            <a:srgbClr val="F8F8F8"/>
          </a:solidFill>
          <a:ln w="6350">
            <a:solidFill>
              <a:srgbClr val="D9D9D9"/>
            </a:solidFill>
            <a:prstDash val="solid"/>
          </a:ln>
        </p:spPr>
      </p:sp>
      <p:sp>
        <p:nvSpPr>
          <p:cNvPr id="4" name="Text 4"/>
          <p:cNvSpPr txBox="1"/>
          <p:nvPr/>
        </p:nvSpPr>
        <p:spPr>
          <a:xfrm>
            <a:off x="5657321" y="1574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 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00FF"/>
                </a:solidFill>
                <a:latin typeface="Inconsolata" pitchFamily="34" charset="0"/>
                <a:ea typeface="Inconsolata" pitchFamily="34" charset="-122"/>
                <a:cs typeface="Inconsolata" pitchFamily="34" charset="-120"/>
              </a:rPr>
              <a:t>def</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empty_it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items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5" name="Text 5"/>
          <p:cNvSpPr txBox="1"/>
          <p:nvPr/>
        </p:nvSpPr>
        <p:spPr>
          <a:xfrm>
            <a:off x="5657321" y="1828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 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items</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clear</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6" name="Text 6"/>
          <p:cNvSpPr txBox="1"/>
          <p:nvPr/>
        </p:nvSpPr>
        <p:spPr>
          <a:xfrm>
            <a:off x="5657321" y="2082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 3</a:t>
            </a:r>
            <a:r>
              <a:rPr lang="en-US" sz="1600" dirty="0">
                <a:solidFill>
                  <a:srgbClr val="000000"/>
                </a:solidFill>
                <a:latin typeface="Inconsolata" pitchFamily="34" charset="0"/>
                <a:ea typeface="Inconsolata" pitchFamily="34" charset="-122"/>
                <a:cs typeface="Inconsolata" pitchFamily="34" charset="-120"/>
              </a:rPr>
              <a:t>  </a:t>
            </a:r>
            <a:endParaRPr lang="en-US" sz="1600" dirty="0"/>
          </a:p>
        </p:txBody>
      </p:sp>
      <p:sp>
        <p:nvSpPr>
          <p:cNvPr id="7" name="Text 7"/>
          <p:cNvSpPr txBox="1"/>
          <p:nvPr/>
        </p:nvSpPr>
        <p:spPr>
          <a:xfrm>
            <a:off x="5657321" y="2336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 4</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00FF"/>
                </a:solidFill>
                <a:latin typeface="Inconsolata" pitchFamily="34" charset="0"/>
                <a:ea typeface="Inconsolata" pitchFamily="34" charset="-122"/>
                <a:cs typeface="Inconsolata" pitchFamily="34" charset="-120"/>
              </a:rPr>
              <a:t>def</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replace_it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items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8" name="Text 8"/>
          <p:cNvSpPr txBox="1"/>
          <p:nvPr/>
        </p:nvSpPr>
        <p:spPr>
          <a:xfrm>
            <a:off x="5657321" y="2590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 5</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items</a:t>
            </a:r>
            <a:r>
              <a:rPr lang="en-US" sz="1600" dirty="0">
                <a:solidFill>
                  <a:srgbClr val="000000"/>
                </a:solidFill>
                <a:latin typeface="Inconsolata" pitchFamily="34" charset="0"/>
                <a:ea typeface="Inconsolata" pitchFamily="34" charset="-122"/>
                <a:cs typeface="Inconsolata" pitchFamily="34" charset="-120"/>
              </a:rPr>
              <a:t> = []</a:t>
            </a:r>
            <a:endParaRPr lang="en-US" sz="1600" dirty="0"/>
          </a:p>
        </p:txBody>
      </p:sp>
      <p:sp>
        <p:nvSpPr>
          <p:cNvPr id="9" name="Text 9"/>
          <p:cNvSpPr txBox="1"/>
          <p:nvPr/>
        </p:nvSpPr>
        <p:spPr>
          <a:xfrm>
            <a:off x="5657321" y="2844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 6</a:t>
            </a:r>
            <a:r>
              <a:rPr lang="en-US" sz="1600" dirty="0">
                <a:solidFill>
                  <a:srgbClr val="000000"/>
                </a:solidFill>
                <a:latin typeface="Inconsolata" pitchFamily="34" charset="0"/>
                <a:ea typeface="Inconsolata" pitchFamily="34" charset="-122"/>
                <a:cs typeface="Inconsolata" pitchFamily="34" charset="-120"/>
              </a:rPr>
              <a:t>  </a:t>
            </a:r>
            <a:endParaRPr lang="en-US" sz="1600" dirty="0"/>
          </a:p>
        </p:txBody>
      </p:sp>
      <p:sp>
        <p:nvSpPr>
          <p:cNvPr id="10" name="Text 10"/>
          <p:cNvSpPr txBox="1"/>
          <p:nvPr/>
        </p:nvSpPr>
        <p:spPr>
          <a:xfrm>
            <a:off x="5657321" y="3098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 7</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nums</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98658"/>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1" name="Text 11"/>
          <p:cNvSpPr txBox="1"/>
          <p:nvPr/>
        </p:nvSpPr>
        <p:spPr>
          <a:xfrm>
            <a:off x="5657321" y="3352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 8</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replace_it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nums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2" name="Text 12"/>
          <p:cNvSpPr txBox="1"/>
          <p:nvPr/>
        </p:nvSpPr>
        <p:spPr>
          <a:xfrm>
            <a:off x="5657321" y="3606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 9</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nums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3" name="Text 13"/>
          <p:cNvSpPr txBox="1"/>
          <p:nvPr/>
        </p:nvSpPr>
        <p:spPr>
          <a:xfrm>
            <a:off x="5657321" y="3860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10</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empty_it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nums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4" name="Text 14"/>
          <p:cNvSpPr txBox="1"/>
          <p:nvPr/>
        </p:nvSpPr>
        <p:spPr>
          <a:xfrm>
            <a:off x="5657321" y="4114273"/>
            <a:ext cx="57044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nums</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pic>
        <p:nvPicPr>
          <p:cNvPr id="15" name="Image 15" descr="arrow-right"/>
          <p:cNvPicPr>
            <a:picLocks noChangeAspect="1"/>
          </p:cNvPicPr>
          <p:nvPr/>
        </p:nvPicPr>
        <p:blipFill>
          <a:blip r:embed="rId3"/>
          <a:srcRect/>
          <a:stretch/>
        </p:blipFill>
        <p:spPr>
          <a:xfrm>
            <a:off x="4546600" y="1752600"/>
            <a:ext cx="787400" cy="412750"/>
          </a:xfrm>
          <a:prstGeom prst="rect">
            <a:avLst/>
          </a:prstGeom>
        </p:spPr>
      </p:pic>
      <p:sp>
        <p:nvSpPr>
          <p:cNvPr id="16" name="Text 16"/>
          <p:cNvSpPr txBox="1"/>
          <p:nvPr/>
        </p:nvSpPr>
        <p:spPr>
          <a:xfrm>
            <a:off x="825500" y="1701800"/>
            <a:ext cx="3550000"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1080"/>
                </a:solidFill>
                <a:latin typeface="Carlito" pitchFamily="34" charset="0"/>
                <a:ea typeface="Carlito" pitchFamily="34" charset="-122"/>
                <a:cs typeface="Carlito" pitchFamily="34" charset="-120"/>
              </a:rPr>
              <a:t>clear()</a:t>
            </a:r>
            <a:r>
              <a:rPr lang="en-US" sz="1600" dirty="0">
                <a:solidFill>
                  <a:srgbClr val="000000"/>
                </a:solidFill>
                <a:latin typeface="Carlito" pitchFamily="34" charset="0"/>
                <a:ea typeface="Carlito" pitchFamily="34" charset="-122"/>
                <a:cs typeface="Carlito" pitchFamily="34" charset="-120"/>
              </a:rPr>
              <a:t> changes the shared list, so the caller sees it</a:t>
            </a:r>
            <a:endParaRPr lang="en-US" sz="1600" dirty="0"/>
          </a:p>
        </p:txBody>
      </p:sp>
      <p:pic>
        <p:nvPicPr>
          <p:cNvPr id="17" name="Image 17" descr="arrow-right"/>
          <p:cNvPicPr>
            <a:picLocks noChangeAspect="1"/>
          </p:cNvPicPr>
          <p:nvPr/>
        </p:nvPicPr>
        <p:blipFill>
          <a:blip r:embed="rId3"/>
          <a:srcRect/>
          <a:stretch/>
        </p:blipFill>
        <p:spPr>
          <a:xfrm>
            <a:off x="4546600" y="2514600"/>
            <a:ext cx="787400" cy="412750"/>
          </a:xfrm>
          <a:prstGeom prst="rect">
            <a:avLst/>
          </a:prstGeom>
        </p:spPr>
      </p:pic>
      <p:sp>
        <p:nvSpPr>
          <p:cNvPr id="18" name="Text 18"/>
          <p:cNvSpPr txBox="1"/>
          <p:nvPr/>
        </p:nvSpPr>
        <p:spPr>
          <a:xfrm>
            <a:off x="825500" y="2463800"/>
            <a:ext cx="3550000"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1080"/>
                </a:solidFill>
                <a:latin typeface="Carlito" pitchFamily="34" charset="0"/>
                <a:ea typeface="Carlito" pitchFamily="34" charset="-122"/>
                <a:cs typeface="Carlito" pitchFamily="34" charset="-120"/>
              </a:rPr>
              <a:t>items = []</a:t>
            </a:r>
            <a:r>
              <a:rPr lang="en-US" sz="1600" dirty="0">
                <a:solidFill>
                  <a:srgbClr val="000000"/>
                </a:solidFill>
                <a:latin typeface="Carlito" pitchFamily="34" charset="0"/>
                <a:ea typeface="Carlito" pitchFamily="34" charset="-122"/>
                <a:cs typeface="Carlito" pitchFamily="34" charset="-120"/>
              </a:rPr>
              <a:t> only moves the local name to a new list. </a:t>
            </a:r>
            <a:r>
              <a:rPr lang="en-US" sz="1600" b="1" dirty="0">
                <a:solidFill>
                  <a:srgbClr val="001080"/>
                </a:solidFill>
                <a:latin typeface="Carlito" pitchFamily="34" charset="0"/>
                <a:ea typeface="Carlito" pitchFamily="34" charset="-122"/>
                <a:cs typeface="Carlito" pitchFamily="34" charset="-120"/>
              </a:rPr>
              <a:t>nums</a:t>
            </a:r>
            <a:r>
              <a:rPr lang="en-US" sz="1600" dirty="0">
                <a:solidFill>
                  <a:srgbClr val="000000"/>
                </a:solidFill>
                <a:latin typeface="Carlito" pitchFamily="34" charset="0"/>
                <a:ea typeface="Carlito" pitchFamily="34" charset="-122"/>
                <a:cs typeface="Carlito" pitchFamily="34" charset="-120"/>
              </a:rPr>
              <a:t> is untouched</a:t>
            </a:r>
            <a:endParaRPr lang="en-US" sz="1600" dirty="0"/>
          </a:p>
        </p:txBody>
      </p:sp>
      <p:sp>
        <p:nvSpPr>
          <p:cNvPr id="19" name="Text 19"/>
          <p:cNvSpPr txBox="1"/>
          <p:nvPr/>
        </p:nvSpPr>
        <p:spPr>
          <a:xfrm>
            <a:off x="5473700" y="4768850"/>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Output</a:t>
            </a:r>
            <a:endParaRPr lang="en-US" sz="1200" dirty="0"/>
          </a:p>
        </p:txBody>
      </p:sp>
      <p:sp>
        <p:nvSpPr>
          <p:cNvPr id="20" name="Shape 20"/>
          <p:cNvSpPr/>
          <p:nvPr/>
        </p:nvSpPr>
        <p:spPr>
          <a:xfrm>
            <a:off x="5473700" y="5035550"/>
            <a:ext cx="1295400" cy="787400"/>
          </a:xfrm>
          <a:prstGeom prst="rect">
            <a:avLst/>
          </a:prstGeom>
          <a:solidFill>
            <a:srgbClr val="EDEDED"/>
          </a:solidFill>
          <a:ln/>
        </p:spPr>
      </p:sp>
      <p:sp>
        <p:nvSpPr>
          <p:cNvPr id="21" name="Text 21"/>
          <p:cNvSpPr txBox="1"/>
          <p:nvPr/>
        </p:nvSpPr>
        <p:spPr>
          <a:xfrm>
            <a:off x="5651500" y="5175250"/>
            <a:ext cx="990600"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1F1F1F"/>
                </a:solidFill>
                <a:latin typeface="Inconsolata" pitchFamily="34" charset="0"/>
                <a:ea typeface="Inconsolata" pitchFamily="34" charset="-122"/>
                <a:cs typeface="Inconsolata" pitchFamily="34" charset="-120"/>
              </a:rPr>
              <a:t>[1, 2]</a:t>
            </a:r>
            <a:endParaRPr lang="en-US" sz="1600" dirty="0"/>
          </a:p>
        </p:txBody>
      </p:sp>
      <p:sp>
        <p:nvSpPr>
          <p:cNvPr id="22" name="Text 22"/>
          <p:cNvSpPr txBox="1"/>
          <p:nvPr/>
        </p:nvSpPr>
        <p:spPr>
          <a:xfrm>
            <a:off x="5651500" y="5429250"/>
            <a:ext cx="990600"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1F1F1F"/>
                </a:solidFill>
                <a:latin typeface="Inconsolata" pitchFamily="34" charset="0"/>
                <a:ea typeface="Inconsolata" pitchFamily="34" charset="-122"/>
                <a:cs typeface="Inconsolata" pitchFamily="34" charset="-120"/>
              </a:rPr>
              <a:t>[]</a:t>
            </a:r>
            <a:endParaRPr lang="en-US" sz="1600" dirty="0"/>
          </a:p>
        </p:txBody>
      </p:sp>
      <p:pic>
        <p:nvPicPr>
          <p:cNvPr id="23" name="Image 23" descr="arrow-right"/>
          <p:cNvPicPr>
            <a:picLocks noChangeAspect="1"/>
          </p:cNvPicPr>
          <p:nvPr/>
        </p:nvPicPr>
        <p:blipFill>
          <a:blip r:embed="rId3"/>
          <a:srcRect/>
          <a:stretch/>
        </p:blipFill>
        <p:spPr>
          <a:xfrm>
            <a:off x="4546600" y="5226577"/>
            <a:ext cx="787400" cy="412750"/>
          </a:xfrm>
          <a:prstGeom prst="rect">
            <a:avLst/>
          </a:prstGeom>
        </p:spPr>
      </p:pic>
      <p:sp>
        <p:nvSpPr>
          <p:cNvPr id="24" name="Text 24"/>
          <p:cNvSpPr txBox="1"/>
          <p:nvPr/>
        </p:nvSpPr>
        <p:spPr>
          <a:xfrm>
            <a:off x="825500" y="5175777"/>
            <a:ext cx="3550000"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1080"/>
                </a:solidFill>
                <a:latin typeface="Carlito" pitchFamily="34" charset="0"/>
                <a:ea typeface="Carlito" pitchFamily="34" charset="-122"/>
                <a:cs typeface="Carlito" pitchFamily="34" charset="-120"/>
              </a:rPr>
              <a:t>replace_it</a:t>
            </a:r>
            <a:r>
              <a:rPr lang="en-US" sz="1600" dirty="0">
                <a:solidFill>
                  <a:srgbClr val="000000"/>
                </a:solidFill>
                <a:latin typeface="Carlito" pitchFamily="34" charset="0"/>
                <a:ea typeface="Carlito" pitchFamily="34" charset="-122"/>
                <a:cs typeface="Carlito" pitchFamily="34" charset="-120"/>
              </a:rPr>
              <a:t> left </a:t>
            </a:r>
            <a:r>
              <a:rPr lang="en-US" sz="1600" b="1" dirty="0">
                <a:solidFill>
                  <a:srgbClr val="001080"/>
                </a:solidFill>
                <a:latin typeface="Carlito" pitchFamily="34" charset="0"/>
                <a:ea typeface="Carlito" pitchFamily="34" charset="-122"/>
                <a:cs typeface="Carlito" pitchFamily="34" charset="-120"/>
              </a:rPr>
              <a:t>nums</a:t>
            </a:r>
            <a:r>
              <a:rPr lang="en-US" sz="1600" dirty="0">
                <a:solidFill>
                  <a:srgbClr val="000000"/>
                </a:solidFill>
                <a:latin typeface="Carlito" pitchFamily="34" charset="0"/>
                <a:ea typeface="Carlito" pitchFamily="34" charset="-122"/>
                <a:cs typeface="Carlito" pitchFamily="34" charset="-120"/>
              </a:rPr>
              <a:t> alone; </a:t>
            </a:r>
            <a:r>
              <a:rPr lang="en-US" sz="1600" b="1" dirty="0">
                <a:solidFill>
                  <a:srgbClr val="001080"/>
                </a:solidFill>
                <a:latin typeface="Carlito" pitchFamily="34" charset="0"/>
                <a:ea typeface="Carlito" pitchFamily="34" charset="-122"/>
                <a:cs typeface="Carlito" pitchFamily="34" charset="-120"/>
              </a:rPr>
              <a:t>empty_it</a:t>
            </a:r>
            <a:r>
              <a:rPr lang="en-US" sz="1600" dirty="0">
                <a:solidFill>
                  <a:srgbClr val="000000"/>
                </a:solidFill>
                <a:latin typeface="Carlito" pitchFamily="34" charset="0"/>
                <a:ea typeface="Carlito" pitchFamily="34" charset="-122"/>
                <a:cs typeface="Carlito" pitchFamily="34" charset="-120"/>
              </a:rPr>
              <a:t> emptied it</a:t>
            </a:r>
            <a:endParaRPr lang="en-US" sz="1600" dirty="0"/>
          </a:p>
        </p:txBody>
      </p:sp>
      <p:sp>
        <p:nvSpPr>
          <p:cNvPr id="25" name="Text 25"/>
          <p:cNvSpPr txBox="1"/>
          <p:nvPr/>
        </p:nvSpPr>
        <p:spPr>
          <a:xfrm>
            <a:off x="825500" y="3350000"/>
            <a:ext cx="3550000" cy="640080"/>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6E6E6E"/>
                </a:solidFill>
                <a:latin typeface="Carlito" pitchFamily="34" charset="0"/>
                <a:ea typeface="Carlito" pitchFamily="34" charset="-122"/>
                <a:cs typeface="Carlito" pitchFamily="34" charset="-120"/>
              </a:rPr>
              <a:t>Changing the list (</a:t>
            </a:r>
            <a:r>
              <a:rPr lang="en-US" sz="1200" b="1" dirty="0">
                <a:solidFill>
                  <a:srgbClr val="001080"/>
                </a:solidFill>
                <a:latin typeface="Carlito" pitchFamily="34" charset="0"/>
                <a:ea typeface="Carlito" pitchFamily="34" charset="-122"/>
                <a:cs typeface="Carlito" pitchFamily="34" charset="-120"/>
              </a:rPr>
              <a:t>append</a:t>
            </a:r>
            <a:r>
              <a:rPr lang="en-US" sz="1200" dirty="0">
                <a:solidFill>
                  <a:srgbClr val="6E6E6E"/>
                </a:solidFill>
                <a:latin typeface="Carlito" pitchFamily="34" charset="0"/>
                <a:ea typeface="Carlito" pitchFamily="34" charset="-122"/>
                <a:cs typeface="Carlito" pitchFamily="34" charset="-120"/>
              </a:rPr>
              <a:t>, </a:t>
            </a:r>
            <a:r>
              <a:rPr lang="en-US" sz="1200" b="1" dirty="0">
                <a:solidFill>
                  <a:srgbClr val="001080"/>
                </a:solidFill>
                <a:latin typeface="Carlito" pitchFamily="34" charset="0"/>
                <a:ea typeface="Carlito" pitchFamily="34" charset="-122"/>
                <a:cs typeface="Carlito" pitchFamily="34" charset="-120"/>
              </a:rPr>
              <a:t>clear</a:t>
            </a:r>
            <a:r>
              <a:rPr lang="en-US" sz="1200" dirty="0">
                <a:solidFill>
                  <a:srgbClr val="6E6E6E"/>
                </a:solidFill>
                <a:latin typeface="Carlito" pitchFamily="34" charset="0"/>
                <a:ea typeface="Carlito" pitchFamily="34" charset="-122"/>
                <a:cs typeface="Carlito" pitchFamily="34" charset="-120"/>
              </a:rPr>
              <a:t>, </a:t>
            </a:r>
            <a:r>
              <a:rPr lang="en-US" sz="1200" b="1" dirty="0">
                <a:solidFill>
                  <a:srgbClr val="001080"/>
                </a:solidFill>
                <a:latin typeface="Carlito" pitchFamily="34" charset="0"/>
                <a:ea typeface="Carlito" pitchFamily="34" charset="-122"/>
                <a:cs typeface="Carlito" pitchFamily="34" charset="-120"/>
              </a:rPr>
              <a:t>x[i] = …</a:t>
            </a:r>
            <a:r>
              <a:rPr lang="en-US" sz="1200" dirty="0">
                <a:solidFill>
                  <a:srgbClr val="6E6E6E"/>
                </a:solidFill>
                <a:latin typeface="Carlito" pitchFamily="34" charset="0"/>
                <a:ea typeface="Carlito" pitchFamily="34" charset="-122"/>
                <a:cs typeface="Carlito" pitchFamily="34" charset="-120"/>
              </a:rPr>
              <a:t>, </a:t>
            </a:r>
            <a:r>
              <a:rPr lang="en-US" sz="1200" b="1" dirty="0">
                <a:solidFill>
                  <a:srgbClr val="001080"/>
                </a:solidFill>
                <a:latin typeface="Carlito" pitchFamily="34" charset="0"/>
                <a:ea typeface="Carlito" pitchFamily="34" charset="-122"/>
                <a:cs typeface="Carlito" pitchFamily="34" charset="-120"/>
              </a:rPr>
              <a:t>+=</a:t>
            </a:r>
            <a:r>
              <a:rPr lang="en-US" sz="1200" dirty="0">
                <a:solidFill>
                  <a:srgbClr val="6E6E6E"/>
                </a:solidFill>
                <a:latin typeface="Carlito" pitchFamily="34" charset="0"/>
                <a:ea typeface="Carlito" pitchFamily="34" charset="-122"/>
                <a:cs typeface="Carlito" pitchFamily="34" charset="-120"/>
              </a:rPr>
              <a:t>) reaches the caller. Using </a:t>
            </a:r>
            <a:r>
              <a:rPr lang="en-US" sz="1200" b="1" dirty="0">
                <a:solidFill>
                  <a:srgbClr val="001080"/>
                </a:solidFill>
                <a:latin typeface="Carlito" pitchFamily="34" charset="0"/>
                <a:ea typeface="Carlito" pitchFamily="34" charset="-122"/>
                <a:cs typeface="Carlito" pitchFamily="34" charset="-120"/>
              </a:rPr>
              <a:t>=</a:t>
            </a:r>
            <a:r>
              <a:rPr lang="en-US" sz="1200" dirty="0">
                <a:solidFill>
                  <a:srgbClr val="6E6E6E"/>
                </a:solidFill>
                <a:latin typeface="Carlito" pitchFamily="34" charset="0"/>
                <a:ea typeface="Carlito" pitchFamily="34" charset="-122"/>
                <a:cs typeface="Carlito" pitchFamily="34" charset="-120"/>
              </a:rPr>
              <a:t> on the parameter name does not.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825500" y="533400"/>
            <a:ext cx="11118850" cy="640080"/>
          </a:xfrm>
          <a:prstGeom prst="rect">
            <a:avLst/>
          </a:prstGeom>
          <a:noFill/>
          <a:ln/>
        </p:spPr>
        <p:txBody>
          <a:bodyPr wrap="square" lIns="0" tIns="0" rIns="0" bIns="0" rtlCol="0" anchor="t">
            <a:normAutofit/>
          </a:bodyPr>
          <a:lstStyle/>
          <a:p>
            <a:pPr marL="0" indent="0" algn="l">
              <a:lnSpc>
                <a:spcPts val="4840"/>
              </a:lnSpc>
              <a:buNone/>
            </a:pPr>
            <a:r>
              <a:rPr lang="en-US" sz="4400" dirty="0">
                <a:solidFill>
                  <a:srgbClr val="000000"/>
                </a:solidFill>
                <a:latin typeface="Carlito" pitchFamily="34" charset="0"/>
                <a:ea typeface="Carlito" pitchFamily="34" charset="-122"/>
                <a:cs typeface="Carlito" pitchFamily="34" charset="-120"/>
              </a:rPr>
              <a:t>TRY IT: LISTS AND FUNCTIONS</a:t>
            </a:r>
            <a:endParaRPr lang="en-US" sz="4400" dirty="0"/>
          </a:p>
        </p:txBody>
      </p:sp>
      <p:sp>
        <p:nvSpPr>
          <p:cNvPr id="3" name="Text 3"/>
          <p:cNvSpPr txBox="1"/>
          <p:nvPr/>
        </p:nvSpPr>
        <p:spPr>
          <a:xfrm>
            <a:off x="825500" y="1416050"/>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A · Predict, then fix</a:t>
            </a:r>
            <a:endParaRPr lang="en-US" sz="1200" dirty="0"/>
          </a:p>
        </p:txBody>
      </p:sp>
      <p:sp>
        <p:nvSpPr>
          <p:cNvPr id="4" name="Shape 4"/>
          <p:cNvSpPr/>
          <p:nvPr/>
        </p:nvSpPr>
        <p:spPr>
          <a:xfrm>
            <a:off x="828675" y="1685925"/>
            <a:ext cx="5073650" cy="2342092"/>
          </a:xfrm>
          <a:prstGeom prst="rect">
            <a:avLst/>
          </a:prstGeom>
          <a:solidFill>
            <a:srgbClr val="F8F8F8"/>
          </a:solidFill>
          <a:ln w="6350">
            <a:solidFill>
              <a:srgbClr val="D9D9D9"/>
            </a:solidFill>
            <a:prstDash val="solid"/>
          </a:ln>
        </p:spPr>
      </p:sp>
      <p:sp>
        <p:nvSpPr>
          <p:cNvPr id="5" name="Text 5"/>
          <p:cNvSpPr txBox="1"/>
          <p:nvPr/>
        </p:nvSpPr>
        <p:spPr>
          <a:xfrm>
            <a:off x="1009121" y="1840973"/>
            <a:ext cx="48789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00FF"/>
                </a:solidFill>
                <a:latin typeface="Inconsolata" pitchFamily="34" charset="0"/>
                <a:ea typeface="Inconsolata" pitchFamily="34" charset="-122"/>
                <a:cs typeface="Inconsolata" pitchFamily="34" charset="-120"/>
              </a:rPr>
              <a:t>def</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add_item</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bag</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item</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6" name="Text 6"/>
          <p:cNvSpPr txBox="1"/>
          <p:nvPr/>
        </p:nvSpPr>
        <p:spPr>
          <a:xfrm>
            <a:off x="1009121" y="2094973"/>
            <a:ext cx="48789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bag</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795E26"/>
                </a:solidFill>
                <a:latin typeface="Inconsolata" pitchFamily="34" charset="0"/>
                <a:ea typeface="Inconsolata" pitchFamily="34" charset="-122"/>
                <a:cs typeface="Inconsolata" pitchFamily="34" charset="-120"/>
              </a:rPr>
              <a:t>append</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item</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7" name="Text 7"/>
          <p:cNvSpPr txBox="1"/>
          <p:nvPr/>
        </p:nvSpPr>
        <p:spPr>
          <a:xfrm>
            <a:off x="1009121" y="2348973"/>
            <a:ext cx="48789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AF00DB"/>
                </a:solidFill>
                <a:latin typeface="Inconsolata" pitchFamily="34" charset="0"/>
                <a:ea typeface="Inconsolata" pitchFamily="34" charset="-122"/>
                <a:cs typeface="Inconsolata" pitchFamily="34" charset="-120"/>
              </a:rPr>
              <a:t>return</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bag</a:t>
            </a:r>
            <a:endParaRPr lang="en-US" sz="1600" dirty="0"/>
          </a:p>
        </p:txBody>
      </p:sp>
      <p:sp>
        <p:nvSpPr>
          <p:cNvPr id="8" name="Text 8"/>
          <p:cNvSpPr txBox="1"/>
          <p:nvPr/>
        </p:nvSpPr>
        <p:spPr>
          <a:xfrm>
            <a:off x="1009121" y="2602973"/>
            <a:ext cx="48789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endParaRPr lang="en-US" sz="1600" dirty="0"/>
          </a:p>
        </p:txBody>
      </p:sp>
      <p:sp>
        <p:nvSpPr>
          <p:cNvPr id="9" name="Text 9"/>
          <p:cNvSpPr txBox="1"/>
          <p:nvPr/>
        </p:nvSpPr>
        <p:spPr>
          <a:xfrm>
            <a:off x="1009121" y="2856973"/>
            <a:ext cx="48789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mine</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A31515"/>
                </a:solidFill>
                <a:latin typeface="Inconsolata" pitchFamily="34" charset="0"/>
                <a:ea typeface="Inconsolata" pitchFamily="34" charset="-122"/>
                <a:cs typeface="Inconsolata" pitchFamily="34" charset="-120"/>
              </a:rPr>
              <a:t>'pen'</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0" name="Text 10"/>
          <p:cNvSpPr txBox="1"/>
          <p:nvPr/>
        </p:nvSpPr>
        <p:spPr>
          <a:xfrm>
            <a:off x="1009121" y="3110973"/>
            <a:ext cx="48789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6</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yours</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795E26"/>
                </a:solidFill>
                <a:latin typeface="Inconsolata" pitchFamily="34" charset="0"/>
                <a:ea typeface="Inconsolata" pitchFamily="34" charset="-122"/>
                <a:cs typeface="Inconsolata" pitchFamily="34" charset="-120"/>
              </a:rPr>
              <a:t>add_item</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mine</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A31515"/>
                </a:solidFill>
                <a:latin typeface="Inconsolata" pitchFamily="34" charset="0"/>
                <a:ea typeface="Inconsolata" pitchFamily="34" charset="-122"/>
                <a:cs typeface="Inconsolata" pitchFamily="34" charset="-120"/>
              </a:rPr>
              <a:t>'cup'</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1" name="Text 11"/>
          <p:cNvSpPr txBox="1"/>
          <p:nvPr/>
        </p:nvSpPr>
        <p:spPr>
          <a:xfrm>
            <a:off x="1009121" y="3364973"/>
            <a:ext cx="48789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7</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mine</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2" name="Text 12"/>
          <p:cNvSpPr txBox="1"/>
          <p:nvPr/>
        </p:nvSpPr>
        <p:spPr>
          <a:xfrm>
            <a:off x="1009121" y="3618973"/>
            <a:ext cx="48789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8</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yours</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00FF"/>
                </a:solidFill>
                <a:latin typeface="Inconsolata" pitchFamily="34" charset="0"/>
                <a:ea typeface="Inconsolata" pitchFamily="34" charset="-122"/>
                <a:cs typeface="Inconsolata" pitchFamily="34" charset="-120"/>
              </a:rPr>
              <a:t>is</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mine</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3" name="Text 13"/>
          <p:cNvSpPr txBox="1"/>
          <p:nvPr/>
        </p:nvSpPr>
        <p:spPr>
          <a:xfrm>
            <a:off x="825500" y="4235450"/>
            <a:ext cx="5073650" cy="533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Fix </a:t>
            </a:r>
            <a:r>
              <a:rPr lang="en-US" sz="1600" b="1" dirty="0">
                <a:solidFill>
                  <a:srgbClr val="001080"/>
                </a:solidFill>
                <a:latin typeface="Carlito" pitchFamily="34" charset="0"/>
                <a:ea typeface="Carlito" pitchFamily="34" charset="-122"/>
                <a:cs typeface="Carlito" pitchFamily="34" charset="-120"/>
              </a:rPr>
              <a:t>add_item</a:t>
            </a:r>
            <a:r>
              <a:rPr lang="en-US" sz="1600" dirty="0">
                <a:solidFill>
                  <a:srgbClr val="000000"/>
                </a:solidFill>
                <a:latin typeface="Carlito" pitchFamily="34" charset="0"/>
                <a:ea typeface="Carlito" pitchFamily="34" charset="-122"/>
                <a:cs typeface="Carlito" pitchFamily="34" charset="-120"/>
              </a:rPr>
              <a:t> so </a:t>
            </a:r>
            <a:r>
              <a:rPr lang="en-US" sz="1600" b="1" dirty="0">
                <a:solidFill>
                  <a:srgbClr val="001080"/>
                </a:solidFill>
                <a:latin typeface="Carlito" pitchFamily="34" charset="0"/>
                <a:ea typeface="Carlito" pitchFamily="34" charset="-122"/>
                <a:cs typeface="Carlito" pitchFamily="34" charset="-120"/>
              </a:rPr>
              <a:t>mine</a:t>
            </a:r>
            <a:r>
              <a:rPr lang="en-US" sz="1600" dirty="0">
                <a:solidFill>
                  <a:srgbClr val="000000"/>
                </a:solidFill>
                <a:latin typeface="Carlito" pitchFamily="34" charset="0"/>
                <a:ea typeface="Carlito" pitchFamily="34" charset="-122"/>
                <a:cs typeface="Carlito" pitchFamily="34" charset="-120"/>
              </a:rPr>
              <a:t> stays </a:t>
            </a:r>
            <a:r>
              <a:rPr lang="en-US" sz="1600" b="1" dirty="0">
                <a:solidFill>
                  <a:srgbClr val="001080"/>
                </a:solidFill>
                <a:latin typeface="Carlito" pitchFamily="34" charset="0"/>
                <a:ea typeface="Carlito" pitchFamily="34" charset="-122"/>
                <a:cs typeface="Carlito" pitchFamily="34" charset="-120"/>
              </a:rPr>
              <a:t>['pen']</a:t>
            </a:r>
            <a:r>
              <a:rPr lang="en-US" sz="1600" dirty="0">
                <a:solidFill>
                  <a:srgbClr val="000000"/>
                </a:solidFill>
                <a:latin typeface="Carlito" pitchFamily="34" charset="0"/>
                <a:ea typeface="Carlito" pitchFamily="34" charset="-122"/>
                <a:cs typeface="Carlito" pitchFamily="34" charset="-120"/>
              </a:rPr>
              <a:t>.</a:t>
            </a:r>
            <a:endParaRPr lang="en-US" sz="1600" dirty="0"/>
          </a:p>
        </p:txBody>
      </p:sp>
      <p:sp>
        <p:nvSpPr>
          <p:cNvPr id="14" name="Text 14"/>
          <p:cNvSpPr txBox="1"/>
          <p:nvPr/>
        </p:nvSpPr>
        <p:spPr>
          <a:xfrm>
            <a:off x="6299200" y="1416050"/>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6E6E"/>
                </a:solidFill>
                <a:latin typeface="Carlito" pitchFamily="34" charset="0"/>
                <a:ea typeface="Carlito" pitchFamily="34" charset="-122"/>
                <a:cs typeface="Carlito" pitchFamily="34" charset="-120"/>
              </a:rPr>
              <a:t>B · Predict the output</a:t>
            </a:r>
            <a:endParaRPr lang="en-US" sz="1200" dirty="0"/>
          </a:p>
        </p:txBody>
      </p:sp>
      <p:sp>
        <p:nvSpPr>
          <p:cNvPr id="15" name="Shape 15"/>
          <p:cNvSpPr/>
          <p:nvPr/>
        </p:nvSpPr>
        <p:spPr>
          <a:xfrm>
            <a:off x="6302375" y="1685925"/>
            <a:ext cx="5073650" cy="2342092"/>
          </a:xfrm>
          <a:prstGeom prst="rect">
            <a:avLst/>
          </a:prstGeom>
          <a:solidFill>
            <a:srgbClr val="F8F8F8"/>
          </a:solidFill>
          <a:ln w="6350">
            <a:solidFill>
              <a:srgbClr val="D9D9D9"/>
            </a:solidFill>
            <a:prstDash val="solid"/>
          </a:ln>
        </p:spPr>
      </p:sp>
      <p:sp>
        <p:nvSpPr>
          <p:cNvPr id="16" name="Text 16"/>
          <p:cNvSpPr txBox="1"/>
          <p:nvPr/>
        </p:nvSpPr>
        <p:spPr>
          <a:xfrm>
            <a:off x="6482821" y="1840973"/>
            <a:ext cx="48789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00FF"/>
                </a:solidFill>
                <a:latin typeface="Inconsolata" pitchFamily="34" charset="0"/>
                <a:ea typeface="Inconsolata" pitchFamily="34" charset="-122"/>
                <a:cs typeface="Inconsolata" pitchFamily="34" charset="-120"/>
              </a:rPr>
              <a:t>def</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grow</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7" name="Text 17"/>
          <p:cNvSpPr txBox="1"/>
          <p:nvPr/>
        </p:nvSpPr>
        <p:spPr>
          <a:xfrm>
            <a:off x="6482821" y="2094973"/>
            <a:ext cx="48789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2</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a</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9</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8" name="Text 18"/>
          <p:cNvSpPr txBox="1"/>
          <p:nvPr/>
        </p:nvSpPr>
        <p:spPr>
          <a:xfrm>
            <a:off x="6482821" y="2348973"/>
            <a:ext cx="48789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3</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01080"/>
                </a:solidFill>
                <a:latin typeface="Inconsolata" pitchFamily="34" charset="0"/>
                <a:ea typeface="Inconsolata" pitchFamily="34" charset="-122"/>
                <a:cs typeface="Inconsolata" pitchFamily="34" charset="-120"/>
              </a:rPr>
              <a:t>b</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9</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19" name="Text 19"/>
          <p:cNvSpPr txBox="1"/>
          <p:nvPr/>
        </p:nvSpPr>
        <p:spPr>
          <a:xfrm>
            <a:off x="6482821" y="2602973"/>
            <a:ext cx="48789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4</a:t>
            </a:r>
            <a:r>
              <a:rPr lang="en-US" sz="1600" dirty="0">
                <a:solidFill>
                  <a:srgbClr val="000000"/>
                </a:solidFill>
                <a:latin typeface="Inconsolata" pitchFamily="34" charset="0"/>
                <a:ea typeface="Inconsolata" pitchFamily="34" charset="-122"/>
                <a:cs typeface="Inconsolata" pitchFamily="34" charset="-120"/>
              </a:rPr>
              <a:t>  </a:t>
            </a:r>
            <a:endParaRPr lang="en-US" sz="1600" dirty="0"/>
          </a:p>
        </p:txBody>
      </p:sp>
      <p:sp>
        <p:nvSpPr>
          <p:cNvPr id="20" name="Text 20"/>
          <p:cNvSpPr txBox="1"/>
          <p:nvPr/>
        </p:nvSpPr>
        <p:spPr>
          <a:xfrm>
            <a:off x="6482821" y="2856973"/>
            <a:ext cx="48789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5</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x</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21" name="Text 21"/>
          <p:cNvSpPr txBox="1"/>
          <p:nvPr/>
        </p:nvSpPr>
        <p:spPr>
          <a:xfrm>
            <a:off x="6482821" y="3110973"/>
            <a:ext cx="48789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6</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y</a:t>
            </a:r>
            <a:r>
              <a:rPr lang="en-US" sz="1600" dirty="0">
                <a:solidFill>
                  <a:srgbClr val="000000"/>
                </a:solidFill>
                <a:latin typeface="Inconsolata" pitchFamily="34" charset="0"/>
                <a:ea typeface="Inconsolata" pitchFamily="34" charset="-122"/>
                <a:cs typeface="Inconsolata" pitchFamily="34" charset="-120"/>
              </a:rPr>
              <a:t> = [</a:t>
            </a:r>
            <a:r>
              <a:rPr lang="en-US" sz="1600" dirty="0">
                <a:solidFill>
                  <a:srgbClr val="098658"/>
                </a:solidFill>
                <a:latin typeface="Inconsolata" pitchFamily="34" charset="0"/>
                <a:ea typeface="Inconsolata" pitchFamily="34" charset="-122"/>
                <a:cs typeface="Inconsolata" pitchFamily="34" charset="-120"/>
              </a:rPr>
              <a:t>1</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22" name="Text 22"/>
          <p:cNvSpPr txBox="1"/>
          <p:nvPr/>
        </p:nvSpPr>
        <p:spPr>
          <a:xfrm>
            <a:off x="6482821" y="3364973"/>
            <a:ext cx="48789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7</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grow</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x</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y</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23" name="Text 23"/>
          <p:cNvSpPr txBox="1"/>
          <p:nvPr/>
        </p:nvSpPr>
        <p:spPr>
          <a:xfrm>
            <a:off x="6482821" y="3618973"/>
            <a:ext cx="4878906" cy="279400"/>
          </a:xfrm>
          <a:prstGeom prst="rect">
            <a:avLst/>
          </a:prstGeom>
          <a:noFill/>
          <a:ln/>
        </p:spPr>
        <p:txBody>
          <a:bodyPr wrap="none" lIns="0" tIns="0" rIns="0" bIns="0" rtlCol="0" anchor="t">
            <a:normAutofit/>
          </a:bodyPr>
          <a:lstStyle/>
          <a:p>
            <a:pPr marL="0" indent="0" algn="l">
              <a:lnSpc>
                <a:spcPts val="2000"/>
              </a:lnSpc>
              <a:buNone/>
            </a:pPr>
            <a:r>
              <a:rPr lang="en-US" sz="1600" dirty="0">
                <a:solidFill>
                  <a:srgbClr val="237893"/>
                </a:solidFill>
                <a:latin typeface="Inconsolata" pitchFamily="34" charset="0"/>
                <a:ea typeface="Inconsolata" pitchFamily="34" charset="-122"/>
                <a:cs typeface="Inconsolata" pitchFamily="34" charset="-120"/>
              </a:rPr>
              <a:t>8</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795E26"/>
                </a:solidFill>
                <a:latin typeface="Inconsolata" pitchFamily="34" charset="0"/>
                <a:ea typeface="Inconsolata" pitchFamily="34" charset="-122"/>
                <a:cs typeface="Inconsolata" pitchFamily="34" charset="-120"/>
              </a:rPr>
              <a:t>print</a:t>
            </a:r>
            <a:r>
              <a:rPr lang="en-US" sz="1600" dirty="0">
                <a:solidFill>
                  <a:srgbClr val="000000"/>
                </a:solidFill>
                <a:latin typeface="Inconsolata" pitchFamily="34" charset="0"/>
                <a:ea typeface="Inconsolata" pitchFamily="34" charset="-122"/>
                <a:cs typeface="Inconsolata" pitchFamily="34" charset="-120"/>
              </a:rPr>
              <a:t>(</a:t>
            </a:r>
            <a:r>
              <a:rPr lang="en-US" sz="1600" dirty="0">
                <a:solidFill>
                  <a:srgbClr val="001080"/>
                </a:solidFill>
                <a:latin typeface="Inconsolata" pitchFamily="34" charset="0"/>
                <a:ea typeface="Inconsolata" pitchFamily="34" charset="-122"/>
                <a:cs typeface="Inconsolata" pitchFamily="34" charset="-120"/>
              </a:rPr>
              <a:t>x</a:t>
            </a:r>
            <a:r>
              <a:rPr lang="en-US" sz="1600" dirty="0">
                <a:solidFill>
                  <a:srgbClr val="000000"/>
                </a:solidFill>
                <a:latin typeface="Inconsolata" pitchFamily="34" charset="0"/>
                <a:ea typeface="Inconsolata" pitchFamily="34" charset="-122"/>
                <a:cs typeface="Inconsolata" pitchFamily="34" charset="-120"/>
              </a:rPr>
              <a:t>, </a:t>
            </a:r>
            <a:r>
              <a:rPr lang="en-US" sz="1600" dirty="0">
                <a:solidFill>
                  <a:srgbClr val="001080"/>
                </a:solidFill>
                <a:latin typeface="Inconsolata" pitchFamily="34" charset="0"/>
                <a:ea typeface="Inconsolata" pitchFamily="34" charset="-122"/>
                <a:cs typeface="Inconsolata" pitchFamily="34" charset="-120"/>
              </a:rPr>
              <a:t>y</a:t>
            </a:r>
            <a:r>
              <a:rPr lang="en-US" sz="1600" dirty="0">
                <a:solidFill>
                  <a:srgbClr val="000000"/>
                </a:solidFill>
                <a:latin typeface="Inconsolata" pitchFamily="34" charset="0"/>
                <a:ea typeface="Inconsolata" pitchFamily="34" charset="-122"/>
                <a:cs typeface="Inconsolata" pitchFamily="34" charset="-120"/>
              </a:rPr>
              <a:t>)</a:t>
            </a:r>
            <a:endParaRPr lang="en-US" sz="1600" dirty="0"/>
          </a:p>
        </p:txBody>
      </p:sp>
      <p:sp>
        <p:nvSpPr>
          <p:cNvPr id="24" name="Text 24"/>
          <p:cNvSpPr txBox="1"/>
          <p:nvPr/>
        </p:nvSpPr>
        <p:spPr>
          <a:xfrm>
            <a:off x="6299200" y="4235450"/>
            <a:ext cx="5073650" cy="533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Which parameter reached the caller’s list? Why?</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5500" y="533400"/>
            <a:ext cx="11118850" cy="640080"/>
          </a:xfrm>
          <a:prstGeom prst="rect">
            <a:avLst/>
          </a:prstGeom>
          <a:noFill/>
          <a:ln/>
        </p:spPr>
        <p:txBody>
          <a:bodyPr wrap="square" lIns="0" tIns="0" rIns="0" bIns="0" rtlCol="0" anchor="t">
            <a:normAutofit/>
          </a:bodyPr>
          <a:lstStyle/>
          <a:p>
            <a:pPr marL="0" indent="0" algn="l">
              <a:lnSpc>
                <a:spcPts val="4840"/>
              </a:lnSpc>
              <a:buNone/>
            </a:pPr>
            <a:r>
              <a:rPr lang="en-US" sz="4400" dirty="0">
                <a:solidFill>
                  <a:srgbClr val="000000"/>
                </a:solidFill>
                <a:latin typeface="Carlito" pitchFamily="34" charset="0"/>
                <a:ea typeface="Carlito" pitchFamily="34" charset="-122"/>
                <a:cs typeface="Carlito" pitchFamily="34" charset="-120"/>
              </a:rPr>
              <a:t>SUMMARY</a:t>
            </a:r>
            <a:endParaRPr lang="en-US" sz="4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87500"/>
          <a:ext cx="10541001" cy="1753448"/>
        </p:xfrm>
        <a:graphic>
          <a:graphicData uri="http://schemas.openxmlformats.org/drawingml/2006/table">
            <a:tbl>
              <a:tblPr/>
              <a:tblGrid>
                <a:gridCol w="3513667">
                  <a:extLst>
                    <a:ext uri="{9D8B030D-6E8A-4147-A177-3AD203B41FA5}">
                      <a16:colId xmlns:a16="http://schemas.microsoft.com/office/drawing/2014/main" val="20000"/>
                    </a:ext>
                  </a:extLst>
                </a:gridCol>
                <a:gridCol w="3513667">
                  <a:extLst>
                    <a:ext uri="{9D8B030D-6E8A-4147-A177-3AD203B41FA5}">
                      <a16:colId xmlns:a16="http://schemas.microsoft.com/office/drawing/2014/main" val="20001"/>
                    </a:ext>
                  </a:extLst>
                </a:gridCol>
                <a:gridCol w="3513667">
                  <a:extLst>
                    <a:ext uri="{9D8B030D-6E8A-4147-A177-3AD203B41FA5}">
                      <a16:colId xmlns:a16="http://schemas.microsoft.com/office/drawing/2014/main" val="20002"/>
                    </a:ext>
                  </a:extLst>
                </a:gridCol>
              </a:tblGrid>
              <a:tr h="438362">
                <a:tc>
                  <a:txBody>
                    <a:bodyPr/>
                    <a:lstStyle/>
                    <a:p>
                      <a:pPr marL="0" indent="0">
                        <a:lnSpc>
                          <a:spcPts val="2240"/>
                        </a:lnSpc>
                        <a:buNone/>
                      </a:pPr>
                      <a:r>
                        <a:rPr lang="en-US" sz="1600" b="1" dirty="0">
                          <a:solidFill>
                            <a:srgbClr val="000000"/>
                          </a:solidFill>
                          <a:latin typeface="Carlito" pitchFamily="34" charset="0"/>
                          <a:ea typeface="Carlito" pitchFamily="34" charset="-122"/>
                          <a:cs typeface="Carlito" pitchFamily="34" charset="-120"/>
                        </a:rPr>
                        <a:t>Code</a:t>
                      </a:r>
                      <a:endParaRPr lang="en-US" sz="1600" dirty="0">
                        <a:latin typeface="Carlito" charset="0"/>
                        <a:ea typeface="Carlito" charset="0"/>
                        <a:cs typeface="Carlito" charset="0"/>
                      </a:endParaRPr>
                    </a:p>
                  </a:txBody>
                  <a:tcPr marL="71120" marR="71120" marT="71120" marB="71120">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7C7C7"/>
                      </a:solidFill>
                      <a:prstDash val="solid"/>
                      <a:round/>
                      <a:headEnd type="none" w="med" len="med"/>
                      <a:tailEnd type="none" w="med" len="med"/>
                    </a:lnB>
                    <a:solidFill>
                      <a:srgbClr val="EDEDED"/>
                    </a:solidFill>
                  </a:tcPr>
                </a:tc>
                <a:tc>
                  <a:txBody>
                    <a:bodyPr/>
                    <a:lstStyle/>
                    <a:p>
                      <a:pPr marL="0" indent="0">
                        <a:lnSpc>
                          <a:spcPts val="2240"/>
                        </a:lnSpc>
                        <a:buNone/>
                      </a:pPr>
                      <a:r>
                        <a:rPr lang="en-US" sz="1600" b="1" dirty="0">
                          <a:solidFill>
                            <a:srgbClr val="000000"/>
                          </a:solidFill>
                          <a:latin typeface="Carlito" pitchFamily="34" charset="0"/>
                          <a:ea typeface="Carlito" pitchFamily="34" charset="-122"/>
                          <a:cs typeface="Carlito" pitchFamily="34" charset="-120"/>
                        </a:rPr>
                        <a:t>New outer list?</a:t>
                      </a:r>
                      <a:endParaRPr lang="en-US" sz="1600" dirty="0">
                        <a:latin typeface="Carlito" charset="0"/>
                        <a:ea typeface="Carlito" charset="0"/>
                        <a:cs typeface="Carlito" charset="0"/>
                      </a:endParaRPr>
                    </a:p>
                  </a:txBody>
                  <a:tcPr marL="71120" marR="71120" marT="71120" marB="71120">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7C7C7"/>
                      </a:solidFill>
                      <a:prstDash val="solid"/>
                      <a:round/>
                      <a:headEnd type="none" w="med" len="med"/>
                      <a:tailEnd type="none" w="med" len="med"/>
                    </a:lnB>
                    <a:solidFill>
                      <a:srgbClr val="EDEDED"/>
                    </a:solidFill>
                  </a:tcPr>
                </a:tc>
                <a:tc>
                  <a:txBody>
                    <a:bodyPr/>
                    <a:lstStyle/>
                    <a:p>
                      <a:pPr marL="0" indent="0">
                        <a:lnSpc>
                          <a:spcPts val="2240"/>
                        </a:lnSpc>
                        <a:buNone/>
                      </a:pPr>
                      <a:r>
                        <a:rPr lang="en-US" sz="1600" b="1" dirty="0">
                          <a:solidFill>
                            <a:srgbClr val="000000"/>
                          </a:solidFill>
                          <a:latin typeface="Carlito" pitchFamily="34" charset="0"/>
                          <a:ea typeface="Carlito" pitchFamily="34" charset="-122"/>
                          <a:cs typeface="Carlito" pitchFamily="34" charset="-120"/>
                        </a:rPr>
                        <a:t>New inner lists?</a:t>
                      </a:r>
                      <a:endParaRPr lang="en-US" sz="1600" dirty="0">
                        <a:latin typeface="Carlito" charset="0"/>
                        <a:ea typeface="Carlito" charset="0"/>
                        <a:cs typeface="Carlito" charset="0"/>
                      </a:endParaRPr>
                    </a:p>
                  </a:txBody>
                  <a:tcPr marL="71120" marR="71120" marT="71120" marB="71120">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7C7C7"/>
                      </a:solidFill>
                      <a:prstDash val="solid"/>
                      <a:round/>
                      <a:headEnd type="none" w="med" len="med"/>
                      <a:tailEnd type="none" w="med" len="med"/>
                    </a:lnB>
                    <a:solidFill>
                      <a:srgbClr val="EDEDED"/>
                    </a:solidFill>
                  </a:tcPr>
                </a:tc>
                <a:extLst>
                  <a:ext uri="{0D108BD9-81ED-4DB2-BD59-A6C34878D82A}">
                    <a16:rowId xmlns:a16="http://schemas.microsoft.com/office/drawing/2014/main" val="10000"/>
                  </a:ext>
                </a:extLst>
              </a:tr>
              <a:tr h="438362">
                <a:tc>
                  <a:txBody>
                    <a:bodyPr/>
                    <a:lstStyle/>
                    <a:p>
                      <a:pPr marL="0" indent="0">
                        <a:lnSpc>
                          <a:spcPts val="2240"/>
                        </a:lnSpc>
                        <a:buNone/>
                      </a:pPr>
                      <a:r>
                        <a:rPr lang="en-US" sz="1600" dirty="0">
                          <a:solidFill>
                            <a:srgbClr val="000000"/>
                          </a:solidFill>
                          <a:latin typeface="Carlito" pitchFamily="34" charset="0"/>
                          <a:ea typeface="Carlito" pitchFamily="34" charset="-122"/>
                          <a:cs typeface="Carlito" pitchFamily="34" charset="-120"/>
                        </a:rPr>
                        <a:t>b = a</a:t>
                      </a:r>
                      <a:endParaRPr lang="en-US" sz="1600" dirty="0">
                        <a:latin typeface="Carlito" charset="0"/>
                        <a:ea typeface="Carlito" charset="0"/>
                        <a:cs typeface="Carlito" charset="0"/>
                      </a:endParaRPr>
                    </a:p>
                  </a:txBody>
                  <a:tcPr marL="71120" marR="71120" marT="71120" marB="71120">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marL="0" indent="0">
                        <a:lnSpc>
                          <a:spcPts val="2240"/>
                        </a:lnSpc>
                        <a:buNone/>
                      </a:pPr>
                      <a:r>
                        <a:rPr lang="en-US" sz="1600" dirty="0">
                          <a:solidFill>
                            <a:srgbClr val="000000"/>
                          </a:solidFill>
                          <a:latin typeface="Carlito" pitchFamily="34" charset="0"/>
                          <a:ea typeface="Carlito" pitchFamily="34" charset="-122"/>
                          <a:cs typeface="Carlito" pitchFamily="34" charset="-120"/>
                        </a:rPr>
                        <a:t>No</a:t>
                      </a:r>
                      <a:endParaRPr lang="en-US" sz="1600" dirty="0">
                        <a:latin typeface="Carlito" charset="0"/>
                        <a:ea typeface="Carlito" charset="0"/>
                        <a:cs typeface="Carlito" charset="0"/>
                      </a:endParaRPr>
                    </a:p>
                  </a:txBody>
                  <a:tcPr marL="71120" marR="71120" marT="71120" marB="71120">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marL="0" indent="0">
                        <a:lnSpc>
                          <a:spcPts val="2240"/>
                        </a:lnSpc>
                        <a:buNone/>
                      </a:pPr>
                      <a:r>
                        <a:rPr lang="en-US" sz="1600" dirty="0">
                          <a:solidFill>
                            <a:srgbClr val="000000"/>
                          </a:solidFill>
                          <a:latin typeface="Carlito" pitchFamily="34" charset="0"/>
                          <a:ea typeface="Carlito" pitchFamily="34" charset="-122"/>
                          <a:cs typeface="Carlito" pitchFamily="34" charset="-120"/>
                        </a:rPr>
                        <a:t>No</a:t>
                      </a:r>
                      <a:endParaRPr lang="en-US" sz="1600" dirty="0">
                        <a:latin typeface="Carlito" charset="0"/>
                        <a:ea typeface="Carlito" charset="0"/>
                        <a:cs typeface="Carlito" charset="0"/>
                      </a:endParaRPr>
                    </a:p>
                  </a:txBody>
                  <a:tcPr marL="71120" marR="71120" marT="71120" marB="71120">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extLst>
                  <a:ext uri="{0D108BD9-81ED-4DB2-BD59-A6C34878D82A}">
                    <a16:rowId xmlns:a16="http://schemas.microsoft.com/office/drawing/2014/main" val="10001"/>
                  </a:ext>
                </a:extLst>
              </a:tr>
              <a:tr h="438362">
                <a:tc>
                  <a:txBody>
                    <a:bodyPr/>
                    <a:lstStyle/>
                    <a:p>
                      <a:pPr marL="0" indent="0">
                        <a:lnSpc>
                          <a:spcPts val="2240"/>
                        </a:lnSpc>
                        <a:buNone/>
                      </a:pPr>
                      <a:r>
                        <a:rPr lang="en-US" sz="1600" dirty="0">
                          <a:solidFill>
                            <a:srgbClr val="000000"/>
                          </a:solidFill>
                          <a:latin typeface="Carlito" pitchFamily="34" charset="0"/>
                          <a:ea typeface="Carlito" pitchFamily="34" charset="-122"/>
                          <a:cs typeface="Carlito" pitchFamily="34" charset="-120"/>
                        </a:rPr>
                        <a:t>b = a.copy()  or  b = a[:]</a:t>
                      </a:r>
                      <a:endParaRPr lang="en-US" sz="1600" dirty="0">
                        <a:latin typeface="Carlito" charset="0"/>
                        <a:ea typeface="Carlito" charset="0"/>
                        <a:cs typeface="Carlito" charset="0"/>
                      </a:endParaRPr>
                    </a:p>
                  </a:txBody>
                  <a:tcPr marL="71120" marR="71120" marT="71120" marB="71120">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marL="0" indent="0">
                        <a:lnSpc>
                          <a:spcPts val="2240"/>
                        </a:lnSpc>
                        <a:buNone/>
                      </a:pPr>
                      <a:r>
                        <a:rPr lang="en-US" sz="1600" dirty="0">
                          <a:solidFill>
                            <a:srgbClr val="000000"/>
                          </a:solidFill>
                          <a:latin typeface="Carlito" pitchFamily="34" charset="0"/>
                          <a:ea typeface="Carlito" pitchFamily="34" charset="-122"/>
                          <a:cs typeface="Carlito" pitchFamily="34" charset="-120"/>
                        </a:rPr>
                        <a:t>Yes</a:t>
                      </a:r>
                      <a:endParaRPr lang="en-US" sz="1600" dirty="0">
                        <a:latin typeface="Carlito" charset="0"/>
                        <a:ea typeface="Carlito" charset="0"/>
                        <a:cs typeface="Carlito" charset="0"/>
                      </a:endParaRPr>
                    </a:p>
                  </a:txBody>
                  <a:tcPr marL="71120" marR="71120" marT="71120" marB="71120">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marL="0" indent="0">
                        <a:lnSpc>
                          <a:spcPts val="2240"/>
                        </a:lnSpc>
                        <a:buNone/>
                      </a:pPr>
                      <a:r>
                        <a:rPr lang="en-US" sz="1600" dirty="0">
                          <a:solidFill>
                            <a:srgbClr val="000000"/>
                          </a:solidFill>
                          <a:latin typeface="Carlito" pitchFamily="34" charset="0"/>
                          <a:ea typeface="Carlito" pitchFamily="34" charset="-122"/>
                          <a:cs typeface="Carlito" pitchFamily="34" charset="-120"/>
                        </a:rPr>
                        <a:t>No, shared</a:t>
                      </a:r>
                      <a:endParaRPr lang="en-US" sz="1600" dirty="0">
                        <a:latin typeface="Carlito" charset="0"/>
                        <a:ea typeface="Carlito" charset="0"/>
                        <a:cs typeface="Carlito" charset="0"/>
                      </a:endParaRPr>
                    </a:p>
                  </a:txBody>
                  <a:tcPr marL="71120" marR="71120" marT="71120" marB="71120">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extLst>
                  <a:ext uri="{0D108BD9-81ED-4DB2-BD59-A6C34878D82A}">
                    <a16:rowId xmlns:a16="http://schemas.microsoft.com/office/drawing/2014/main" val="10002"/>
                  </a:ext>
                </a:extLst>
              </a:tr>
              <a:tr h="438362">
                <a:tc>
                  <a:txBody>
                    <a:bodyPr/>
                    <a:lstStyle/>
                    <a:p>
                      <a:pPr marL="0" indent="0">
                        <a:lnSpc>
                          <a:spcPts val="2240"/>
                        </a:lnSpc>
                        <a:buNone/>
                      </a:pPr>
                      <a:r>
                        <a:rPr lang="en-US" sz="1600" dirty="0">
                          <a:solidFill>
                            <a:srgbClr val="000000"/>
                          </a:solidFill>
                          <a:latin typeface="Carlito" pitchFamily="34" charset="0"/>
                          <a:ea typeface="Carlito" pitchFamily="34" charset="-122"/>
                          <a:cs typeface="Carlito" pitchFamily="34" charset="-120"/>
                        </a:rPr>
                        <a:t>b = copy.deepcopy(a)</a:t>
                      </a:r>
                      <a:endParaRPr lang="en-US" sz="1600" dirty="0">
                        <a:latin typeface="Carlito" charset="0"/>
                        <a:ea typeface="Carlito" charset="0"/>
                        <a:cs typeface="Carlito" charset="0"/>
                      </a:endParaRPr>
                    </a:p>
                  </a:txBody>
                  <a:tcPr marL="71120" marR="71120" marT="71120" marB="71120">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marL="0" indent="0">
                        <a:lnSpc>
                          <a:spcPts val="2240"/>
                        </a:lnSpc>
                        <a:buNone/>
                      </a:pPr>
                      <a:r>
                        <a:rPr lang="en-US" sz="1600" dirty="0">
                          <a:solidFill>
                            <a:srgbClr val="000000"/>
                          </a:solidFill>
                          <a:latin typeface="Carlito" pitchFamily="34" charset="0"/>
                          <a:ea typeface="Carlito" pitchFamily="34" charset="-122"/>
                          <a:cs typeface="Carlito" pitchFamily="34" charset="-120"/>
                        </a:rPr>
                        <a:t>Yes</a:t>
                      </a:r>
                      <a:endParaRPr lang="en-US" sz="1600" dirty="0">
                        <a:latin typeface="Carlito" charset="0"/>
                        <a:ea typeface="Carlito" charset="0"/>
                        <a:cs typeface="Carlito" charset="0"/>
                      </a:endParaRPr>
                    </a:p>
                  </a:txBody>
                  <a:tcPr marL="71120" marR="71120" marT="71120" marB="71120">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marL="0" indent="0">
                        <a:lnSpc>
                          <a:spcPts val="2240"/>
                        </a:lnSpc>
                        <a:buNone/>
                      </a:pPr>
                      <a:r>
                        <a:rPr lang="en-US" sz="1600" dirty="0">
                          <a:solidFill>
                            <a:srgbClr val="000000"/>
                          </a:solidFill>
                          <a:latin typeface="Carlito" pitchFamily="34" charset="0"/>
                          <a:ea typeface="Carlito" pitchFamily="34" charset="-122"/>
                          <a:cs typeface="Carlito" pitchFamily="34" charset="-120"/>
                        </a:rPr>
                        <a:t>Yes</a:t>
                      </a:r>
                      <a:endParaRPr lang="en-US" sz="1600" dirty="0">
                        <a:latin typeface="Carlito" charset="0"/>
                        <a:ea typeface="Carlito" charset="0"/>
                        <a:cs typeface="Carlito" charset="0"/>
                      </a:endParaRPr>
                    </a:p>
                  </a:txBody>
                  <a:tcPr marL="71120" marR="71120" marT="71120" marB="71120">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 1"/>
          <p:cNvSpPr/>
          <p:nvPr/>
        </p:nvSpPr>
        <p:spPr>
          <a:xfrm>
            <a:off x="825500" y="3866412"/>
            <a:ext cx="10857230"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1080"/>
                </a:solidFill>
                <a:latin typeface="Carlito" pitchFamily="34" charset="0"/>
                <a:ea typeface="Carlito" pitchFamily="34" charset="-122"/>
                <a:cs typeface="Carlito" pitchFamily="34" charset="-120"/>
              </a:rPr>
              <a:t>==</a:t>
            </a:r>
            <a:r>
              <a:rPr lang="en-US" sz="1600" dirty="0">
                <a:solidFill>
                  <a:srgbClr val="000000"/>
                </a:solidFill>
                <a:latin typeface="Carlito" pitchFamily="34" charset="0"/>
                <a:ea typeface="Carlito" pitchFamily="34" charset="-122"/>
                <a:cs typeface="Carlito" pitchFamily="34" charset="-120"/>
              </a:rPr>
              <a:t> compares contents; </a:t>
            </a:r>
            <a:r>
              <a:rPr lang="en-US" sz="1600" b="1" dirty="0">
                <a:solidFill>
                  <a:srgbClr val="001080"/>
                </a:solidFill>
                <a:latin typeface="Carlito" pitchFamily="34" charset="0"/>
                <a:ea typeface="Carlito" pitchFamily="34" charset="-122"/>
                <a:cs typeface="Carlito" pitchFamily="34" charset="-120"/>
              </a:rPr>
              <a:t>is</a:t>
            </a:r>
            <a:r>
              <a:rPr lang="en-US" sz="1600" dirty="0">
                <a:solidFill>
                  <a:srgbClr val="000000"/>
                </a:solidFill>
                <a:latin typeface="Carlito" pitchFamily="34" charset="0"/>
                <a:ea typeface="Carlito" pitchFamily="34" charset="-122"/>
                <a:cs typeface="Carlito" pitchFamily="34" charset="-120"/>
              </a:rPr>
              <a:t> checks for the same object.</a:t>
            </a:r>
            <a:endParaRPr lang="en-US" sz="1600" dirty="0"/>
          </a:p>
        </p:txBody>
      </p:sp>
      <p:sp>
        <p:nvSpPr>
          <p:cNvPr id="5" name="Text 2"/>
          <p:cNvSpPr/>
          <p:nvPr/>
        </p:nvSpPr>
        <p:spPr>
          <a:xfrm>
            <a:off x="825500" y="4425212"/>
            <a:ext cx="10857230"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1080"/>
                </a:solidFill>
                <a:latin typeface="Carlito" pitchFamily="34" charset="0"/>
                <a:ea typeface="Carlito" pitchFamily="34" charset="-122"/>
                <a:cs typeface="Carlito" pitchFamily="34" charset="-120"/>
              </a:rPr>
              <a:t>*</a:t>
            </a:r>
            <a:r>
              <a:rPr lang="en-US" sz="1600" dirty="0">
                <a:solidFill>
                  <a:srgbClr val="000000"/>
                </a:solidFill>
                <a:latin typeface="Carlito" pitchFamily="34" charset="0"/>
                <a:ea typeface="Carlito" pitchFamily="34" charset="-122"/>
                <a:cs typeface="Carlito" pitchFamily="34" charset="-120"/>
              </a:rPr>
              <a:t> on a list of lists repeats one inner list. Build rows with a comprehension.</a:t>
            </a:r>
            <a:endParaRPr lang="en-US" sz="1600" dirty="0"/>
          </a:p>
        </p:txBody>
      </p:sp>
      <p:sp>
        <p:nvSpPr>
          <p:cNvPr id="6" name="Text 3"/>
          <p:cNvSpPr/>
          <p:nvPr/>
        </p:nvSpPr>
        <p:spPr>
          <a:xfrm>
            <a:off x="825500" y="4984012"/>
            <a:ext cx="10857230"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000000"/>
                </a:solidFill>
                <a:latin typeface="Carlito" pitchFamily="34" charset="0"/>
                <a:ea typeface="Carlito" pitchFamily="34" charset="-122"/>
                <a:cs typeface="Carlito" pitchFamily="34" charset="-120"/>
              </a:rPr>
              <a:t>In-place methods return </a:t>
            </a:r>
            <a:r>
              <a:rPr lang="en-US" sz="1600" b="1" dirty="0">
                <a:solidFill>
                  <a:srgbClr val="001080"/>
                </a:solidFill>
                <a:latin typeface="Carlito" pitchFamily="34" charset="0"/>
                <a:ea typeface="Carlito" pitchFamily="34" charset="-122"/>
                <a:cs typeface="Carlito" pitchFamily="34" charset="-120"/>
              </a:rPr>
              <a:t>None</a:t>
            </a:r>
            <a:r>
              <a:rPr lang="en-US" sz="1600" dirty="0">
                <a:solidFill>
                  <a:srgbClr val="000000"/>
                </a:solidFill>
                <a:latin typeface="Carlito" pitchFamily="34" charset="0"/>
                <a:ea typeface="Carlito" pitchFamily="34" charset="-122"/>
                <a:cs typeface="Carlito" pitchFamily="34" charset="-120"/>
              </a:rPr>
              <a:t>: never assign their result back to the list.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TotalTime>
  <Words>2905</Words>
  <Application>Microsoft Macintosh PowerPoint</Application>
  <PresentationFormat>Widescreen</PresentationFormat>
  <Paragraphs>297</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Carlito</vt:lpstr>
      <vt:lpstr>Inconsolata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Lists: Mutability Drills</dc:title>
  <dc:subject>PptxGenJS Presentation</dc:subject>
  <dc:creator>PptxGenJS</dc:creator>
  <cp:lastModifiedBy>Ben Allen</cp:lastModifiedBy>
  <cp:revision>2</cp:revision>
  <dcterms:created xsi:type="dcterms:W3CDTF">2026-09-23T18:00:25Z</dcterms:created>
  <dcterms:modified xsi:type="dcterms:W3CDTF">2026-09-30T19:23:40Z</dcterms:modified>
</cp:coreProperties>
</file>