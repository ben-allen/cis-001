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84" r:id="rId5"/>
    <p:sldId id="259" r:id="rId6"/>
    <p:sldId id="260" r:id="rId7"/>
    <p:sldId id="261" r:id="rId8"/>
    <p:sldId id="295" r:id="rId9"/>
    <p:sldId id="262" r:id="rId10"/>
    <p:sldId id="263" r:id="rId11"/>
    <p:sldId id="294" r:id="rId12"/>
    <p:sldId id="264" r:id="rId13"/>
    <p:sldId id="265" r:id="rId14"/>
    <p:sldId id="266" r:id="rId15"/>
    <p:sldId id="286" r:id="rId16"/>
    <p:sldId id="287" r:id="rId17"/>
    <p:sldId id="267" r:id="rId18"/>
    <p:sldId id="268" r:id="rId19"/>
    <p:sldId id="269" r:id="rId20"/>
    <p:sldId id="270" r:id="rId21"/>
    <p:sldId id="271" r:id="rId22"/>
    <p:sldId id="272" r:id="rId23"/>
    <p:sldId id="293" r:id="rId24"/>
    <p:sldId id="292" r:id="rId25"/>
    <p:sldId id="291" r:id="rId26"/>
    <p:sldId id="274" r:id="rId27"/>
    <p:sldId id="275" r:id="rId28"/>
    <p:sldId id="276" r:id="rId29"/>
    <p:sldId id="290" r:id="rId30"/>
    <p:sldId id="277" r:id="rId31"/>
    <p:sldId id="289" r:id="rId32"/>
    <p:sldId id="278" r:id="rId33"/>
    <p:sldId id="279" r:id="rId34"/>
    <p:sldId id="280" r:id="rId35"/>
    <p:sldId id="285" r:id="rId36"/>
    <p:sldId id="281" r:id="rId37"/>
    <p:sldId id="282" r:id="rId38"/>
    <p:sldId id="288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20"/>
    <p:restoredTop sz="95814"/>
  </p:normalViewPr>
  <p:slideViewPr>
    <p:cSldViewPr snapToGrid="0" snapToObjects="1">
      <p:cViewPr varScale="1">
        <p:scale>
          <a:sx n="107" d="100"/>
          <a:sy n="107" d="100"/>
        </p:scale>
        <p:origin x="20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A7EA6-09C2-3D45-A953-0B8615C5046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57598-AF73-9442-BFE7-CED5D57A8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87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About 55 minutes with all the predict pauses. To get back to 45, cut PACKING ARGUMENTS, INVERTING A DICTIONARY, and WHEN THE LENGTHS DON'T MATCH. Section timings are in the notes on the first slide of each section</a:t>
            </a:r>
          </a:p>
          <a:p>
            <a:r>
              <a:t>• Each section boundary is a natural place to split the video</a:t>
            </a:r>
          </a:p>
          <a:p>
            <a:r>
              <a:t>• Think Python Chapter 11. Skipped: structshape (11.9); worth a mention when the exercises get to nested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SECTION 1: WHAT A TUPLE IS (15 min, slides 2-13)</a:t>
            </a:r>
          </a:p>
          <a:p>
            <a:r>
              <a:t>• Callback to WHAT CAN BE A KEY? from the dictionaries deck</a:t>
            </a:r>
          </a:p>
          <a:p>
            <a:r>
              <a:t>• A seat really is two numbers: row 3, seat 7. Turning it into a string like "3-7" works but is clumsy</a:t>
            </a:r>
          </a:p>
          <a:p>
            <a:r>
              <a:t>• Leave it unsolved; slide 12 comes back to it, and so does the very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name: rhymes with "supple" or with "quadruple"; Downey notes both are fine</a:t>
            </a:r>
          </a:p>
          <a:p>
            <a:r>
              <a:t>• Everything here is review: it's how lists and strings already work</a:t>
            </a:r>
          </a:p>
          <a:p>
            <a:r>
              <a:t>• A slice of a tuple is a new tuple, the same way a slice of a list is a new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• type() is from Chapter 1; a quick reminder if needed</a:t>
            </a:r>
          </a:p>
          <a:p>
            <a:r>
              <a:rPr dirty="0"/>
              <a:t>• ("Ada") is just "Ada" in parentheses, the same as (2 + 3) is just 5</a:t>
            </a:r>
          </a:p>
          <a:p>
            <a:r>
              <a:rPr dirty="0"/>
              <a:t>• Most people guess tuple for </a:t>
            </a:r>
            <a:r>
              <a:rPr lang="en-US" dirty="0"/>
              <a:t>two</a:t>
            </a:r>
            <a:endParaRPr dirty="0"/>
          </a:p>
          <a:p>
            <a:r>
              <a:rPr dirty="0"/>
              <a:t>• tuple() turns any sequence into a tuple, the way list() does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64849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• type() is from Chapter 1; a quick reminder if needed</a:t>
            </a:r>
          </a:p>
          <a:p>
            <a:r>
              <a:rPr dirty="0"/>
              <a:t>• ("Ada") is just "Ada" in parentheses, the same as (2 + 3) is just 5</a:t>
            </a:r>
          </a:p>
          <a:p>
            <a:r>
              <a:rPr dirty="0"/>
              <a:t>• Most people guess tuple for </a:t>
            </a:r>
            <a:r>
              <a:rPr lang="en-US" dirty="0"/>
              <a:t>two</a:t>
            </a:r>
            <a:endParaRPr dirty="0"/>
          </a:p>
          <a:p>
            <a:r>
              <a:rPr dirty="0"/>
              <a:t>• tuple() turns any sequence into a tuple, the way list() does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Same layout as REMEMBER THIS? in the lists deck, with tuple in the string's place</a:t>
            </a:r>
          </a:p>
          <a:p>
            <a:r>
              <a:t>• No append, remove, sort, or any method that changes it: AttributeError: 'tuple' object has no attribute 'append'</a:t>
            </a:r>
          </a:p>
          <a:p>
            <a:r>
              <a:t>• sorted(t) still works; it returns a new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PREDICT: answer and explanation on the next slide</a:t>
            </a:r>
          </a:p>
          <a:p>
            <a:r>
              <a:t>• Ask: does changing a change b? Have them draw it before you advance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Same picture as ALIASING AND STRINGS in the lists deck</a:t>
            </a:r>
          </a:p>
          <a:p>
            <a:r>
              <a:t>• + builds a new tuple; nothing changed the old one, so b still sees it</a:t>
            </a:r>
          </a:p>
          <a:p>
            <a:r>
              <a:t>• Note ("London",) with the comma: a + "London" is a TypeError (can only concatenate tuple to tuple)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Same picture as WHAT A LIST LOOKS LIKE INSIDE, with tuple on the label</a:t>
            </a:r>
          </a:p>
          <a:p>
            <a:r>
              <a:t>• From here on, small values get drawn inside the cells, as in the dictionaries deck</a:t>
            </a:r>
          </a:p>
          <a:p>
            <a:r>
              <a:t>• For you: in CPython a tuple is a fixed-size array of pointers allocated in one block. Think final Object[] where the array can't grow and the slots can't be reassigned; or a std::tuple of pointers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PREDICT: answer and explanation on the next slide</a:t>
            </a:r>
          </a:p>
          <a:p>
            <a:r>
              <a:t>• Many people expect line 2 to fail: tuples are immutable, after 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Exercise 11.11.2 is built on this</a:t>
            </a:r>
          </a:p>
          <a:p>
            <a:r>
              <a:t>• Same idea as COPIES ARE SHALLOW: the tuple is about its own arrows; it says nothing about what they point to</a:t>
            </a:r>
          </a:p>
          <a:p>
            <a:r>
              <a:t>• team[1] = ["Katherine"] would fail: that tries to move an arrow</a:t>
            </a:r>
          </a:p>
          <a:p>
            <a:r>
              <a:t>• Pause before revealing: many people expect line 2 to fail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Payoff for slide 2</a:t>
            </a:r>
          </a:p>
          <a:p>
            <a:r>
              <a:t>• seats[3, 7] works because the commas make a tuple; the brackets don't need extra parentheses</a:t>
            </a:r>
          </a:p>
          <a:p>
            <a:r>
              <a:t>• For you: tuples hash by combining their elements' hashes, so a tuple is hashable only if everything in it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Stand-ins for the questions the room would ask in person</a:t>
            </a:r>
          </a:p>
          <a:p>
            <a:r>
              <a:t>• Rule of thumb from the book's spirit: a list for a collection of similar things that can grow; a tuple for a fixed group of things that belong together</a:t>
            </a:r>
          </a:p>
          <a:p>
            <a:r>
              <a:t>• The error is exercise 11.11.2's answer: tuples are hashable only when everything inside them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SECTION 2: TUPLE ASSIGNMENT (14 min, slides 14-21)</a:t>
            </a:r>
          </a:p>
          <a:p>
            <a:r>
              <a:t>• The right side can be any sequence: a tuple, a list, a string</a:t>
            </a:r>
          </a:p>
          <a:p>
            <a:r>
              <a:t>• split returns a list of two strings here, and they land in user and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Goes right before SWAPPING TWO VARIABLES</a:t>
            </a:r>
          </a:p>
          <a:p>
            <a:r>
              <a:t>• Give them 2-3 minutes on paper before showing the next slide</a:t>
            </a:r>
          </a:p>
          <a:p>
            <a:r>
              <a:t>• Expect most first attempts to be a = b then b = a; that's the point of the next slide</a:t>
            </a:r>
          </a:p>
          <a:p>
            <a:r>
              <a:t>• If someone writes a = 2 and b = 1: true for these values, but the code should work no matter what a and b start as</a:t>
            </a:r>
          </a:p>
          <a:p>
            <a:r>
              <a:t>• If someone already knows a, b = b, a: ask them to do it without that, for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Ask first: what goes wrong with the first try? Have someone trace it</a:t>
            </a:r>
          </a:p>
          <a:p>
            <a:r>
              <a:t>• a = b moves a's arrow to 2; nothing refers to 1 anymore, so b = a just copies 2 back</a:t>
            </a:r>
          </a:p>
          <a:p>
            <a:r>
              <a:t>• The fix: save a's old value before it's lost</a:t>
            </a:r>
          </a:p>
          <a:p>
            <a:r>
              <a:t>• Any name works for the extra variable; temp is the usual one</a:t>
            </a:r>
          </a:p>
          <a:p>
            <a:r>
              <a:t>• Next slide: Python's shortcut, a, b = b,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Payoff for the tangent: Python does the temp bookkeeping for you</a:t>
            </a:r>
          </a:p>
          <a:p>
            <a:r>
              <a:t>• The right side becomes a tuple (2, 1) first, then gets unpacked into a and b</a:t>
            </a:r>
          </a:p>
          <a:p>
            <a:r>
              <a:t>• Diagram: the int objects stay put; the two arrows trade places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Read the error out loud: 'expected 2' tells you how many names were on the left</a:t>
            </a:r>
          </a:p>
          <a:p>
            <a:r>
              <a:t>• The other direction: name, year, city = ("Ada", 1815) gives 'not enough values to unpack (expected 3, got 2)'</a:t>
            </a:r>
          </a:p>
          <a:p>
            <a:r>
              <a:t>• Common source: data shaped differently than you thought, like three-part tuples where you expected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Pays off "Chapter 11 has items()... not yet" from LOOPING OVER A DICTIONARY</a:t>
            </a:r>
          </a:p>
          <a:p>
            <a:r>
              <a:t>• items() isn't quite a list (it's a dict_items), but it loops like a list of tuples</a:t>
            </a:r>
          </a:p>
          <a:p>
            <a:r>
              <a:t>• Each time through, one tuple gets unpacked into name and 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divmod is new; // and % are from Chapter 2</a:t>
            </a:r>
          </a:p>
          <a:p>
            <a:r>
              <a:t>• min_max is Downey's example</a:t>
            </a:r>
          </a:p>
          <a:p>
            <a:r>
              <a:t>• Without unpacking, you get the tuple itself (last line)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Cut this slide first if running long</a:t>
            </a:r>
          </a:p>
          <a:p>
            <a:r>
              <a:t>• args is just the conventional name; the * is what matters</a:t>
            </a:r>
          </a:p>
          <a:p>
            <a:r>
              <a:t>• For you: like Java varargs (double... args), except args arrives as a tuple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SECTION 3: ZIP AND ENUMERATE (10 min, slides 22-28)</a:t>
            </a:r>
          </a:p>
          <a:p>
            <a:r>
              <a:t>• Same two lists as the first slide of the dictionaries deck</a:t>
            </a:r>
          </a:p>
          <a:p>
            <a:r>
              <a:t>• Printing the zip object shows nothing useful; it hands out pairs as you loop over it. list() collects them</a:t>
            </a:r>
          </a:p>
          <a:p>
            <a:r>
              <a:t>• Different lengths: the next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PREDICT: answer on the next slide</a:t>
            </a:r>
          </a:p>
          <a:p>
            <a:r>
              <a:t>• Guesses to expect: an error, or a pair with nothing in it like ('d', None)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No error and no warning: the leftover elements just get dropped</a:t>
            </a:r>
          </a:p>
          <a:p>
            <a:r>
              <a:t>• Worth a sentence: if your lists should be the same length and aren't, zip won't tell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Downey's example: two teams' scores, game by game</a:t>
            </a:r>
          </a:p>
          <a:p>
            <a:r>
              <a:t>• Compare with range(len(scores1)) and scores1[i] &gt; scores2[i]: same thing, more to get wrong</a:t>
            </a:r>
          </a:p>
          <a:p>
            <a:r>
              <a:t>• Trace the first three games aloud; let the rest go by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Callback to BUILDING A DICTIONARY IN A LOOP</a:t>
            </a:r>
          </a:p>
          <a:p>
            <a:r>
              <a:t>• dict() takes any sequence of pairs: the first of each pair becomes the key</a:t>
            </a:r>
          </a:p>
          <a:p>
            <a:r>
              <a:t>• Both give the same dictionary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Another place range(len(...)) used to go</a:t>
            </a:r>
          </a:p>
          <a:p>
            <a:r>
              <a:t>• enumerate starts counting at 0, like indexes</a:t>
            </a:r>
          </a:p>
          <a:p>
            <a:r>
              <a:t>• Downey's example is enumerate('abc'); same idea on a list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PREDICT: answer and explanation on the next slide</a:t>
            </a:r>
          </a:p>
          <a:p>
            <a:r>
              <a:t>• SECTION 4: COMPARING AND SORTING (14 min, slides 29-37)</a:t>
            </a:r>
          </a:p>
          <a:p>
            <a:r>
              <a:t>• The bullets give the rule; the question is whether they apply it to line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Same rule as comparing strings letter by letter: "Ada" &lt; "Al" because d &lt; l</a:t>
            </a:r>
          </a:p>
          <a:p>
            <a:r>
              <a:t>• Line 2 is the one people get wrong: 2000000 is never looked 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PREDICT: answer and explanation on the next slide</a:t>
            </a:r>
          </a:p>
          <a:p>
            <a:r>
              <a:t>• The trap: some will expect sorting by count. The bullets say first elements 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counts is value_counts("banana") from last week, written out</a:t>
            </a:r>
          </a:p>
          <a:p>
            <a:r>
              <a:t>• sorted compares whole tuples, so the first element (the letter) decides</a:t>
            </a:r>
          </a:p>
          <a:p>
            <a:r>
              <a:t>• Ask: what if we want them in order of count? Next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second_element is Downey's helper</a:t>
            </a:r>
          </a:p>
          <a:p>
            <a:r>
              <a:t>• New idea: passing a function as an argument. A function is an object like any other (Chapter 3's function object); sorted calls it once per item</a:t>
            </a:r>
          </a:p>
          <a:p>
            <a:r>
              <a:t>• max takes a key too: the item with the largest count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With parentheses, Python calls second_element right away, with no argument, before sorted even starts</a:t>
            </a:r>
          </a:p>
          <a:p>
            <a:r>
              <a:t>• Read the error: it's complaining about second_element, not sorted</a:t>
            </a:r>
          </a:p>
          <a:p>
            <a:r>
              <a:t>• Same idea as print vs. print(): the name is the function; the parentheses call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Callback to FINDING THE SMALLEST: min(born) compared keys alphabetically</a:t>
            </a:r>
          </a:p>
          <a:p>
            <a:r>
              <a:t>• max(born) gives Grace: alphabetically last, not the youngest</a:t>
            </a:r>
          </a:p>
          <a:p>
            <a:r>
              <a:t>• In-class Q10 (most_common) and leader in the scoreboard can be written this 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Callback to FINDING THE SMALLEST: min(born) compared keys alphabetically</a:t>
            </a:r>
          </a:p>
          <a:p>
            <a:r>
              <a:t>• max(born) gives Grace: alphabetically last, not the youngest</a:t>
            </a:r>
          </a:p>
          <a:p>
            <a:r>
              <a:t>• In-class Q10 (most_common) and leader in the scoreboard can be written this 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829458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Downey's invert_dict; counts is value_counts("parrot")</a:t>
            </a:r>
          </a:p>
          <a:p>
            <a:r>
              <a:t>• Same shape as value_counts: first time, start a list; after that, append</a:t>
            </a:r>
          </a:p>
          <a:p>
            <a:r>
              <a:t>• Cut if running long; the anagram exercise (11.11.5) uses this pattern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SECTION 5: WRAP-UP (3 min)</a:t>
            </a:r>
          </a:p>
          <a:p>
            <a:r>
              <a:t>• Answers are on the next slide</a:t>
            </a:r>
          </a:p>
          <a:p>
            <a:r>
              <a:t>• Close by going back to slide 2: seats[3, 7] = "Ada"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('a', ['b', 'c']): u is an alias, and append changes the list inside, which the tuple's arrow still points to</a:t>
            </a:r>
          </a:p>
          <a:p>
            <a:r>
              <a:t>• 2 3: the right side is worked out first, using the old x</a:t>
            </a:r>
          </a:p>
          <a:p>
            <a:r>
              <a:t>• 1: d[1, 2] and d[(1, 2)] are the same key, so the second assignment replaces the first</a:t>
            </a:r>
          </a:p>
          <a:p>
            <a:r>
              <a:t>• Close by going back to slide 2: seats[3, 7] = "Ada"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59ED-E689-6C42-AC2D-0AF717036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5B0FBA-E90E-8243-8271-E8C1FA1A8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A73F-96C7-1642-A79F-83EB8BFD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6F38-F93D-A447-865E-C2421B0BD7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61C0F-C9C5-5B41-A694-0CC657838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AD2C5-AF7A-844B-8038-3ABA96DF8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B3E9-BD10-8E45-8704-A9E0B4C10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16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DF27-1AE7-1C47-A3D1-CE54109C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875B7-E982-9F4E-9FE3-676CED5F7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F543-A1E8-DC43-8A85-29E1A171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6F38-F93D-A447-865E-C2421B0BD7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369BF-B164-4C4C-A67D-A4F638F16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1C558-36FC-1647-9F8C-8028CB2B4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B3E9-BD10-8E45-8704-A9E0B4C10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46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4433B-B1CB-A042-8F19-0E457A4FF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8B984-2DB1-AC4A-A6C7-ECCD32A16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AE41C-B0BB-2C46-9CFB-A73A70A9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6F38-F93D-A447-865E-C2421B0BD7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169A9-7CBA-B34F-A546-5C76EF993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0CDF4-8AAD-654B-B44D-D4BEB2A2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B3E9-BD10-8E45-8704-A9E0B4C10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51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A4DF7-ABEE-4A45-8253-EFDDD1B47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96B9C-4CC6-D64C-95BD-8FC0461D8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DD910-E8BF-1C45-B1CB-44C1E7E53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F0406-21CE-8544-B62B-2CEBB832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6F38-F93D-A447-865E-C2421B0BD7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D554B-5EA4-7B4E-8CF1-ACB86002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74A54-EF83-DF4F-8390-CC4A2841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B3E9-BD10-8E45-8704-A9E0B4C10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64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E7931-F56F-FC4E-89D6-8BF18B4B5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762C4-9A01-A247-8668-F57C43210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DFE53-7EC5-0842-979C-4975754FD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D7A62-5670-6949-A4A7-BEE76A545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5DFB53-F19E-AB4C-A805-A857DE803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2C4398-AA5D-984D-A4A0-276063F1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6F38-F93D-A447-865E-C2421B0BD7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139FB-F122-BF4C-9FC2-590D1F1A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F84F24-FC40-594B-806A-D76477F4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B3E9-BD10-8E45-8704-A9E0B4C10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03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23BD3-9741-F54D-A4B8-08F2C8EED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BD52BA-5A1E-7449-9271-D7A4A206C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6F38-F93D-A447-865E-C2421B0BD7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F6C3A-1A9A-6748-A815-85747D80D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06440-3C7C-8742-84C3-BEE5DE16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B3E9-BD10-8E45-8704-A9E0B4C10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72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46E1D-756C-9845-843C-F4DFCAD1C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6F38-F93D-A447-865E-C2421B0BD7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D132AC-9007-0145-A314-9D5154E8C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B8849-7EC3-B649-9884-A3B8B9174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B3E9-BD10-8E45-8704-A9E0B4C10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505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4DD04-0AB9-FC47-9BAF-A9ED45BC9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180DE-2333-4D4F-8D29-E4302C0A6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18BD8-9D87-9342-9422-86F9AC449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7879C-7F01-BC43-8660-7A711BD7A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6F38-F93D-A447-865E-C2421B0BD7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9085F-4AB0-9940-AE5A-F5284BF1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F0E43-63B1-C644-993B-8862FBEC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B3E9-BD10-8E45-8704-A9E0B4C10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77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E27F-DCD4-0444-A21F-69C707A4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5120A7-ADD7-BC4E-BE39-21EA6E69B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9D1F3-5BC8-2C4B-A1EF-EB7FA280F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896B8-C92C-E545-A198-CC2271FB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6F38-F93D-A447-865E-C2421B0BD7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248D6-8E33-A04F-AED3-665832570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5DA50-4C3D-BF45-B562-3014E6C40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B3E9-BD10-8E45-8704-A9E0B4C10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5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B308D-48A5-444A-ADF9-CBD356FAA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B58A1-D4C5-7A4B-BFA9-C0C9454C6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FF24F-3CC1-1848-BF9D-FC380325D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6F38-F93D-A447-865E-C2421B0BD7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82AD8-BC1A-D04E-8AF9-2CBB9119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21C0B-4653-8E4F-830E-A8664A991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B3E9-BD10-8E45-8704-A9E0B4C10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44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2D2187-2CE8-C24F-A926-724488CB7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C7EFB-F362-BF48-911E-AE3E6031F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A9F9D-F291-054B-A996-1611D8A66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6F38-F93D-A447-865E-C2421B0BD7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19CEB-9228-E94B-9D01-D2822A9F2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2D20A-D2AA-8646-94DE-C1B1C464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B3E9-BD10-8E45-8704-A9E0B4C10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1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718A9-F0A7-1742-BB6F-F78519425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82BE2-5A51-484F-83F4-A9CFC1FAF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34202-5FB7-424A-84DF-02970490FC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96F38-F93D-A447-865E-C2421B0BD711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D0B2F-735A-F442-B368-F1AA2EC31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0B039-7712-8C4E-B373-0638BAE0A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BB3E9-BD10-8E45-8704-A9E0B4C10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5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KEY WITH TWO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/>
              <a:t>You're making a seating chart: who sits where?</a:t>
            </a:r>
          </a:p>
          <a:p>
            <a:r>
              <a:rPr sz="2000"/>
              <a:t>A seat has two parts: a row and a seat number</a:t>
            </a:r>
          </a:p>
          <a:p>
            <a:r>
              <a:rPr sz="2000"/>
              <a:t>Last week: a list can't be a key, because it can change</a:t>
            </a:r>
          </a:p>
          <a:p>
            <a:r>
              <a:rPr sz="2000"/>
              <a:t>We need a sequence that </a:t>
            </a:r>
            <a:r>
              <a:rPr sz="2000" b="1"/>
              <a:t>can't</a:t>
            </a:r>
            <a:r>
              <a:rPr sz="2000"/>
              <a:t> change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3154680" cy="74980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seats</a:t>
            </a:r>
            <a:r>
              <a:rPr sz="1600">
                <a:solidFill>
                  <a:srgbClr val="000000"/>
                </a:solidFill>
                <a:latin typeface="Courier New"/>
              </a:rPr>
              <a:t> = {}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seats</a:t>
            </a:r>
            <a:r>
              <a:rPr sz="1600">
                <a:solidFill>
                  <a:srgbClr val="000000"/>
                </a:solidFill>
                <a:latin typeface="Courier New"/>
              </a:rPr>
              <a:t>[[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7</a:t>
            </a:r>
            <a:r>
              <a:rPr sz="1600">
                <a:solidFill>
                  <a:srgbClr val="000000"/>
                </a:solidFill>
                <a:latin typeface="Courier New"/>
              </a:rPr>
              <a:t>]] = 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675120" y="2423160"/>
            <a:ext cx="4511040" cy="301752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C62828"/>
                </a:solidFill>
                <a:latin typeface="Courier New"/>
              </a:rPr>
              <a:t>TypeError: unhashable type: 'list'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1463040" y="359359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595959"/>
                </a:solidFill>
              </a:rPr>
              <a:t>seat</a:t>
            </a:r>
          </a:p>
        </p:txBody>
      </p:sp>
      <p:sp>
        <p:nvSpPr>
          <p:cNvPr id="7" name="Caption"/>
          <p:cNvSpPr txBox="1"/>
          <p:nvPr/>
        </p:nvSpPr>
        <p:spPr>
          <a:xfrm>
            <a:off x="1463040" y="386791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4472C4"/>
                </a:solidFill>
              </a:rPr>
              <a:t>6</a:t>
            </a:r>
          </a:p>
        </p:txBody>
      </p:sp>
      <p:sp>
        <p:nvSpPr>
          <p:cNvPr id="8" name="Caption"/>
          <p:cNvSpPr txBox="1"/>
          <p:nvPr/>
        </p:nvSpPr>
        <p:spPr>
          <a:xfrm>
            <a:off x="2148840" y="386791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4472C4"/>
                </a:solidFill>
              </a:rPr>
              <a:t>7</a:t>
            </a:r>
          </a:p>
        </p:txBody>
      </p:sp>
      <p:sp>
        <p:nvSpPr>
          <p:cNvPr id="9" name="Caption"/>
          <p:cNvSpPr txBox="1"/>
          <p:nvPr/>
        </p:nvSpPr>
        <p:spPr>
          <a:xfrm>
            <a:off x="2834640" y="386791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4472C4"/>
                </a:solidFill>
              </a:rPr>
              <a:t>8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3520440" y="386791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4472C4"/>
                </a:solidFill>
              </a:rPr>
              <a:t>9</a:t>
            </a:r>
          </a:p>
        </p:txBody>
      </p:sp>
      <p:sp>
        <p:nvSpPr>
          <p:cNvPr id="11" name="Caption"/>
          <p:cNvSpPr txBox="1"/>
          <p:nvPr/>
        </p:nvSpPr>
        <p:spPr>
          <a:xfrm>
            <a:off x="1051560" y="41605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>
                <a:solidFill>
                  <a:srgbClr val="4472C4"/>
                </a:solidFill>
              </a:rPr>
              <a:t>2</a:t>
            </a:r>
          </a:p>
        </p:txBody>
      </p:sp>
      <p:sp>
        <p:nvSpPr>
          <p:cNvPr id="12" name="Box"/>
          <p:cNvSpPr/>
          <p:nvPr/>
        </p:nvSpPr>
        <p:spPr>
          <a:xfrm>
            <a:off x="1463040" y="4160520"/>
            <a:ext cx="6858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13" name="Box"/>
          <p:cNvSpPr/>
          <p:nvPr/>
        </p:nvSpPr>
        <p:spPr>
          <a:xfrm>
            <a:off x="2148840" y="4160520"/>
            <a:ext cx="6858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14" name="Box"/>
          <p:cNvSpPr/>
          <p:nvPr/>
        </p:nvSpPr>
        <p:spPr>
          <a:xfrm>
            <a:off x="2834640" y="4160520"/>
            <a:ext cx="6858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15" name="Box"/>
          <p:cNvSpPr/>
          <p:nvPr/>
        </p:nvSpPr>
        <p:spPr>
          <a:xfrm>
            <a:off x="3520440" y="4160520"/>
            <a:ext cx="6858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16" name="Caption"/>
          <p:cNvSpPr txBox="1"/>
          <p:nvPr/>
        </p:nvSpPr>
        <p:spPr>
          <a:xfrm>
            <a:off x="1051560" y="46177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>
                <a:solidFill>
                  <a:srgbClr val="4472C4"/>
                </a:solidFill>
              </a:rPr>
              <a:t>3</a:t>
            </a:r>
          </a:p>
        </p:txBody>
      </p:sp>
      <p:sp>
        <p:nvSpPr>
          <p:cNvPr id="17" name="Box"/>
          <p:cNvSpPr/>
          <p:nvPr/>
        </p:nvSpPr>
        <p:spPr>
          <a:xfrm>
            <a:off x="1463040" y="4617720"/>
            <a:ext cx="6858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18" name="Box"/>
          <p:cNvSpPr/>
          <p:nvPr/>
        </p:nvSpPr>
        <p:spPr>
          <a:xfrm>
            <a:off x="2148840" y="4617720"/>
            <a:ext cx="685800" cy="457200"/>
          </a:xfrm>
          <a:prstGeom prst="rect">
            <a:avLst/>
          </a:prstGeom>
          <a:solidFill>
            <a:srgbClr val="EAF1FB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100">
                <a:solidFill>
                  <a:srgbClr val="000000"/>
                </a:solidFill>
                <a:latin typeface="Courier New"/>
              </a:rPr>
              <a:t>"Ada"</a:t>
            </a:r>
          </a:p>
        </p:txBody>
      </p:sp>
      <p:sp>
        <p:nvSpPr>
          <p:cNvPr id="19" name="Box"/>
          <p:cNvSpPr/>
          <p:nvPr/>
        </p:nvSpPr>
        <p:spPr>
          <a:xfrm>
            <a:off x="2834640" y="4617720"/>
            <a:ext cx="6858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20" name="Box"/>
          <p:cNvSpPr/>
          <p:nvPr/>
        </p:nvSpPr>
        <p:spPr>
          <a:xfrm>
            <a:off x="3520440" y="4617720"/>
            <a:ext cx="6858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21" name="Caption"/>
          <p:cNvSpPr txBox="1"/>
          <p:nvPr/>
        </p:nvSpPr>
        <p:spPr>
          <a:xfrm>
            <a:off x="1051560" y="507492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>
                <a:solidFill>
                  <a:srgbClr val="4472C4"/>
                </a:solidFill>
              </a:rPr>
              <a:t>4</a:t>
            </a:r>
          </a:p>
        </p:txBody>
      </p:sp>
      <p:sp>
        <p:nvSpPr>
          <p:cNvPr id="22" name="Box"/>
          <p:cNvSpPr/>
          <p:nvPr/>
        </p:nvSpPr>
        <p:spPr>
          <a:xfrm>
            <a:off x="1463040" y="5074920"/>
            <a:ext cx="6858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23" name="Box"/>
          <p:cNvSpPr/>
          <p:nvPr/>
        </p:nvSpPr>
        <p:spPr>
          <a:xfrm>
            <a:off x="2148840" y="5074920"/>
            <a:ext cx="6858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24" name="Box"/>
          <p:cNvSpPr/>
          <p:nvPr/>
        </p:nvSpPr>
        <p:spPr>
          <a:xfrm>
            <a:off x="2834640" y="5074920"/>
            <a:ext cx="6858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25" name="Box"/>
          <p:cNvSpPr/>
          <p:nvPr/>
        </p:nvSpPr>
        <p:spPr>
          <a:xfrm>
            <a:off x="3520440" y="5074920"/>
            <a:ext cx="6858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26" name="Caption"/>
          <p:cNvSpPr txBox="1"/>
          <p:nvPr/>
        </p:nvSpPr>
        <p:spPr>
          <a:xfrm>
            <a:off x="502920" y="4617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>
                <a:solidFill>
                  <a:srgbClr val="595959"/>
                </a:solidFill>
              </a:rPr>
              <a:t>row</a:t>
            </a:r>
          </a:p>
        </p:txBody>
      </p:sp>
      <p:sp>
        <p:nvSpPr>
          <p:cNvPr id="27" name="Caption"/>
          <p:cNvSpPr txBox="1"/>
          <p:nvPr/>
        </p:nvSpPr>
        <p:spPr>
          <a:xfrm>
            <a:off x="1463040" y="564184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row 3, seat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 TUPLE IS A</a:t>
            </a:r>
            <a:r>
              <a:rPr lang="en-US" dirty="0"/>
              <a:t>N IMMUTABLE </a:t>
            </a:r>
            <a:r>
              <a:rPr dirty="0"/>
              <a:t>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 dirty="0"/>
              <a:t>A tuple is a sequence of values, like a list</a:t>
            </a:r>
          </a:p>
          <a:p>
            <a:r>
              <a:rPr sz="2000" dirty="0"/>
              <a:t>Make one with parentheses, commas between the elements</a:t>
            </a:r>
          </a:p>
          <a:p>
            <a:r>
              <a:rPr sz="2000" dirty="0"/>
              <a:t>Indexing, slicing, </a:t>
            </a:r>
            <a:r>
              <a:rPr sz="2000" dirty="0" err="1">
                <a:latin typeface="Courier New"/>
              </a:rPr>
              <a:t>len</a:t>
            </a:r>
            <a:r>
              <a:rPr sz="2000" dirty="0"/>
              <a:t>, </a:t>
            </a:r>
            <a:r>
              <a:rPr sz="2000" dirty="0">
                <a:latin typeface="Courier New"/>
              </a:rPr>
              <a:t>in</a:t>
            </a:r>
            <a:r>
              <a:rPr sz="2000" dirty="0"/>
              <a:t>, and </a:t>
            </a:r>
            <a:r>
              <a:rPr sz="2000" dirty="0">
                <a:latin typeface="Courier New"/>
              </a:rPr>
              <a:t>for</a:t>
            </a:r>
            <a:r>
              <a:rPr sz="2000" dirty="0"/>
              <a:t> all work the same way they do on lists</a:t>
            </a:r>
          </a:p>
          <a:p>
            <a:r>
              <a:rPr lang="en-US" sz="2000" dirty="0"/>
              <a:t>Unlike lists, tuples are </a:t>
            </a:r>
            <a:r>
              <a:rPr lang="en-US" sz="2000" i="1" dirty="0"/>
              <a:t>immutable</a:t>
            </a:r>
            <a:r>
              <a:rPr lang="en-US" sz="2000" dirty="0"/>
              <a:t>. </a:t>
            </a:r>
            <a:endParaRPr sz="2000" dirty="0"/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4495800" cy="157276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person</a:t>
            </a:r>
            <a:r>
              <a:rPr sz="1600">
                <a:solidFill>
                  <a:srgbClr val="000000"/>
                </a:solidFill>
                <a:latin typeface="Courier New"/>
              </a:rPr>
              <a:t> = (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1815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"London"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person</a:t>
            </a:r>
            <a:r>
              <a:rPr sz="1600">
                <a:solidFill>
                  <a:srgbClr val="000000"/>
                </a:solidFill>
                <a:latin typeface="Courier New"/>
              </a:rPr>
              <a:t>[</a:t>
            </a:r>
            <a:r>
              <a:rPr sz="1600">
                <a:solidFill>
                  <a:srgbClr val="098658"/>
                </a:solidFill>
                <a:latin typeface="Courier New"/>
              </a:rPr>
              <a:t>0</a:t>
            </a:r>
            <a:r>
              <a:rPr sz="1600">
                <a:solidFill>
                  <a:srgbClr val="000000"/>
                </a:solidFill>
                <a:latin typeface="Courier New"/>
              </a:rPr>
              <a:t>])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person</a:t>
            </a:r>
            <a:r>
              <a:rPr sz="1600">
                <a:solidFill>
                  <a:srgbClr val="000000"/>
                </a:solidFill>
                <a:latin typeface="Courier New"/>
              </a:rPr>
              <a:t>[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:])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len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person</a:t>
            </a:r>
            <a:r>
              <a:rPr sz="160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98658"/>
                </a:solidFill>
                <a:latin typeface="Courier New"/>
              </a:rPr>
              <a:t>1815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0000FF"/>
                </a:solidFill>
                <a:latin typeface="Courier New"/>
              </a:rPr>
              <a:t>in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001080"/>
                </a:solidFill>
                <a:latin typeface="Courier New"/>
              </a:rPr>
              <a:t>person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675120" y="3246120"/>
            <a:ext cx="2316480" cy="1207008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Ada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(1815, 'London')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3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True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7223760" y="445312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tuple</a:t>
            </a:r>
          </a:p>
        </p:txBody>
      </p:sp>
      <p:sp>
        <p:nvSpPr>
          <p:cNvPr id="7" name="Box"/>
          <p:cNvSpPr/>
          <p:nvPr/>
        </p:nvSpPr>
        <p:spPr>
          <a:xfrm>
            <a:off x="7223760" y="4983480"/>
            <a:ext cx="118872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"Ada"</a:t>
            </a:r>
          </a:p>
        </p:txBody>
      </p:sp>
      <p:sp>
        <p:nvSpPr>
          <p:cNvPr id="8" name="Caption"/>
          <p:cNvSpPr txBox="1"/>
          <p:nvPr/>
        </p:nvSpPr>
        <p:spPr>
          <a:xfrm>
            <a:off x="7223760" y="470916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4472C4"/>
                </a:solidFill>
              </a:rPr>
              <a:t>0</a:t>
            </a:r>
          </a:p>
        </p:txBody>
      </p:sp>
      <p:sp>
        <p:nvSpPr>
          <p:cNvPr id="9" name="Box"/>
          <p:cNvSpPr/>
          <p:nvPr/>
        </p:nvSpPr>
        <p:spPr>
          <a:xfrm>
            <a:off x="8412480" y="4983480"/>
            <a:ext cx="118872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1815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8412480" y="470916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4472C4"/>
                </a:solidFill>
              </a:rPr>
              <a:t>1</a:t>
            </a:r>
          </a:p>
        </p:txBody>
      </p:sp>
      <p:sp>
        <p:nvSpPr>
          <p:cNvPr id="11" name="Box"/>
          <p:cNvSpPr/>
          <p:nvPr/>
        </p:nvSpPr>
        <p:spPr>
          <a:xfrm>
            <a:off x="9601200" y="4983480"/>
            <a:ext cx="118872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"London"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9601200" y="470916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4472C4"/>
                </a:solidFill>
              </a:rPr>
              <a:t>2</a:t>
            </a:r>
          </a:p>
        </p:txBody>
      </p:sp>
      <p:sp>
        <p:nvSpPr>
          <p:cNvPr id="13" name="Caption"/>
          <p:cNvSpPr txBox="1"/>
          <p:nvPr/>
        </p:nvSpPr>
        <p:spPr>
          <a:xfrm>
            <a:off x="5806440" y="500634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person</a:t>
            </a:r>
          </a:p>
        </p:txBody>
      </p:sp>
      <p:cxnSp>
        <p:nvCxnSpPr>
          <p:cNvPr id="14" name="Reference"/>
          <p:cNvCxnSpPr/>
          <p:nvPr/>
        </p:nvCxnSpPr>
        <p:spPr>
          <a:xfrm>
            <a:off x="6720840" y="5189220"/>
            <a:ext cx="50292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TUPLES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>
            <a:normAutofit fontScale="92500" lnSpcReduction="10000"/>
          </a:bodyPr>
          <a:lstStyle/>
          <a:p>
            <a:r>
              <a:rPr sz="2000" dirty="0"/>
              <a:t>Python makes a tuple out of values with commas between them; the parentheses are optional</a:t>
            </a:r>
          </a:p>
          <a:p>
            <a:r>
              <a:rPr sz="2000" dirty="0"/>
              <a:t>A one-element tuple needs a comma at the end</a:t>
            </a:r>
          </a:p>
          <a:p>
            <a:r>
              <a:rPr sz="2000" dirty="0"/>
              <a:t>Parentheses around one value don't make a tuple</a:t>
            </a:r>
            <a:endParaRPr lang="en-US" sz="2000" dirty="0"/>
          </a:p>
          <a:p>
            <a:r>
              <a:rPr lang="en-US" sz="2000" dirty="0"/>
              <a:t>S</a:t>
            </a:r>
            <a:r>
              <a:rPr lang="en-US" sz="2000" b="0" dirty="0"/>
              <a:t>tandard practice is to write the parentheses when </a:t>
            </a:r>
            <a:r>
              <a:rPr lang="en-US" sz="2000" b="0" i="1" dirty="0"/>
              <a:t>making</a:t>
            </a:r>
            <a:r>
              <a:rPr lang="en-US" sz="2000" b="0" dirty="0"/>
              <a:t> a tuple, but not when unpacking or returning</a:t>
            </a:r>
            <a:endParaRPr sz="2000" dirty="0"/>
          </a:p>
          <a:p>
            <a:r>
              <a:rPr sz="2000" dirty="0">
                <a:latin typeface="Courier New"/>
              </a:rPr>
              <a:t>tuple(s)</a:t>
            </a:r>
            <a:r>
              <a:rPr sz="2000" dirty="0"/>
              <a:t> makes a tuple from any sequence; </a:t>
            </a:r>
            <a:r>
              <a:rPr sz="2000" dirty="0">
                <a:latin typeface="Courier New"/>
              </a:rPr>
              <a:t>()</a:t>
            </a:r>
            <a:r>
              <a:rPr sz="2000" dirty="0"/>
              <a:t> is the empty tuple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3032760" cy="212140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 dirty="0">
                <a:solidFill>
                  <a:srgbClr val="001080"/>
                </a:solidFill>
                <a:latin typeface="Courier New"/>
              </a:rPr>
              <a:t>t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 = </a:t>
            </a:r>
            <a:r>
              <a:rPr sz="1600" dirty="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, </a:t>
            </a:r>
            <a:r>
              <a:rPr sz="1600" dirty="0">
                <a:solidFill>
                  <a:srgbClr val="098658"/>
                </a:solidFill>
                <a:latin typeface="Courier New"/>
              </a:rPr>
              <a:t>1815</a:t>
            </a:r>
          </a:p>
          <a:p>
            <a:pPr algn="l"/>
            <a:r>
              <a:rPr sz="1600" dirty="0">
                <a:solidFill>
                  <a:srgbClr val="001080"/>
                </a:solidFill>
                <a:latin typeface="Courier New"/>
              </a:rPr>
              <a:t>one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 = (</a:t>
            </a:r>
            <a:r>
              <a:rPr sz="1600" dirty="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,)</a:t>
            </a:r>
          </a:p>
          <a:p>
            <a:pPr algn="l"/>
            <a:r>
              <a:rPr lang="en-US" sz="1600" dirty="0">
                <a:solidFill>
                  <a:srgbClr val="001080"/>
                </a:solidFill>
                <a:latin typeface="Courier New"/>
              </a:rPr>
              <a:t>two 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= (</a:t>
            </a:r>
            <a:r>
              <a:rPr sz="1600" dirty="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 dirty="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1600" dirty="0">
                <a:solidFill>
                  <a:srgbClr val="795E26"/>
                </a:solidFill>
                <a:latin typeface="Courier New"/>
              </a:rPr>
              <a:t>type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1600" dirty="0">
                <a:solidFill>
                  <a:srgbClr val="001080"/>
                </a:solidFill>
                <a:latin typeface="Courier New"/>
              </a:rPr>
              <a:t>t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600" dirty="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1600" dirty="0">
                <a:solidFill>
                  <a:srgbClr val="795E26"/>
                </a:solidFill>
                <a:latin typeface="Courier New"/>
              </a:rPr>
              <a:t>type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1600" dirty="0">
                <a:solidFill>
                  <a:srgbClr val="001080"/>
                </a:solidFill>
                <a:latin typeface="Courier New"/>
              </a:rPr>
              <a:t>one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600" dirty="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1600" dirty="0">
                <a:solidFill>
                  <a:srgbClr val="795E26"/>
                </a:solidFill>
                <a:latin typeface="Courier New"/>
              </a:rPr>
              <a:t>type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sz="1600" dirty="0">
                <a:solidFill>
                  <a:srgbClr val="001080"/>
                </a:solidFill>
                <a:latin typeface="Courier New"/>
              </a:rPr>
              <a:t>two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600" dirty="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1600" dirty="0">
                <a:solidFill>
                  <a:srgbClr val="795E26"/>
                </a:solidFill>
                <a:latin typeface="Courier New"/>
              </a:rPr>
              <a:t>tuple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1600" dirty="0">
                <a:solidFill>
                  <a:srgbClr val="A31515"/>
                </a:solidFill>
                <a:latin typeface="Courier New"/>
              </a:rPr>
              <a:t>"</a:t>
            </a:r>
            <a:r>
              <a:rPr sz="1600" dirty="0" err="1">
                <a:solidFill>
                  <a:srgbClr val="A31515"/>
                </a:solidFill>
                <a:latin typeface="Courier New"/>
              </a:rPr>
              <a:t>abc</a:t>
            </a:r>
            <a:r>
              <a:rPr sz="1600" dirty="0">
                <a:solidFill>
                  <a:srgbClr val="A31515"/>
                </a:solidFill>
                <a:latin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))</a:t>
            </a:r>
          </a:p>
        </p:txBody>
      </p:sp>
      <p:sp>
        <p:nvSpPr>
          <p:cNvPr id="7" name="Pause">
            <a:extLst>
              <a:ext uri="{FF2B5EF4-FFF2-40B4-BE49-F238E27FC236}">
                <a16:creationId xmlns:a16="http://schemas.microsoft.com/office/drawing/2014/main" id="{9BC36DCD-CF61-E348-8093-952105783A0C}"/>
              </a:ext>
            </a:extLst>
          </p:cNvPr>
          <p:cNvSpPr txBox="1"/>
          <p:nvPr/>
        </p:nvSpPr>
        <p:spPr>
          <a:xfrm>
            <a:off x="6691162" y="4258538"/>
            <a:ext cx="49377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 dirty="0">
                <a:solidFill>
                  <a:srgbClr val="4472C4"/>
                </a:solidFill>
              </a:rPr>
              <a:t>Predict:</a:t>
            </a:r>
            <a:r>
              <a:rPr sz="1400" b="1" dirty="0">
                <a:solidFill>
                  <a:srgbClr val="4472C4"/>
                </a:solidFill>
              </a:rPr>
              <a:t> </a:t>
            </a:r>
            <a:r>
              <a:rPr sz="1400" dirty="0">
                <a:solidFill>
                  <a:srgbClr val="4472C4"/>
                </a:solidFill>
              </a:rPr>
              <a:t>what type is </a:t>
            </a:r>
            <a:r>
              <a:rPr lang="en-US" sz="1400" dirty="0">
                <a:solidFill>
                  <a:srgbClr val="4472C4"/>
                </a:solidFill>
                <a:latin typeface="Courier New"/>
              </a:rPr>
              <a:t>two</a:t>
            </a:r>
            <a:r>
              <a:rPr sz="1400" dirty="0">
                <a:solidFill>
                  <a:srgbClr val="4472C4"/>
                </a:solidFill>
              </a:rPr>
              <a:t>?</a:t>
            </a:r>
          </a:p>
        </p:txBody>
      </p:sp>
      <p:sp>
        <p:nvSpPr>
          <p:cNvPr id="8" name="Pause">
            <a:extLst>
              <a:ext uri="{FF2B5EF4-FFF2-40B4-BE49-F238E27FC236}">
                <a16:creationId xmlns:a16="http://schemas.microsoft.com/office/drawing/2014/main" id="{B0B5E8DD-2FD3-2070-7CD0-CECDEC06F2EE}"/>
              </a:ext>
            </a:extLst>
          </p:cNvPr>
          <p:cNvSpPr txBox="1"/>
          <p:nvPr/>
        </p:nvSpPr>
        <p:spPr>
          <a:xfrm>
            <a:off x="6691162" y="4741239"/>
            <a:ext cx="49377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 dirty="0">
                <a:solidFill>
                  <a:srgbClr val="4472C4"/>
                </a:solidFill>
              </a:rPr>
              <a:t>Predict:</a:t>
            </a:r>
            <a:r>
              <a:rPr sz="1400" b="1" dirty="0">
                <a:solidFill>
                  <a:srgbClr val="4472C4"/>
                </a:solidFill>
              </a:rPr>
              <a:t> </a:t>
            </a:r>
            <a:r>
              <a:rPr sz="1400" dirty="0">
                <a:solidFill>
                  <a:srgbClr val="4472C4"/>
                </a:solidFill>
              </a:rPr>
              <a:t>what </a:t>
            </a:r>
            <a:r>
              <a:rPr lang="en-US" sz="1400" dirty="0">
                <a:solidFill>
                  <a:srgbClr val="4472C4"/>
                </a:solidFill>
              </a:rPr>
              <a:t>does the final line print</a:t>
            </a:r>
            <a:r>
              <a:rPr sz="1400" dirty="0">
                <a:solidFill>
                  <a:srgbClr val="4472C4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2571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TUPLES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>
            <a:normAutofit fontScale="92500" lnSpcReduction="10000"/>
          </a:bodyPr>
          <a:lstStyle/>
          <a:p>
            <a:r>
              <a:rPr sz="2000" dirty="0"/>
              <a:t>Python makes a tuple out of values with commas between them; the parentheses are optional</a:t>
            </a:r>
          </a:p>
          <a:p>
            <a:r>
              <a:rPr sz="2000" dirty="0"/>
              <a:t>A one-element tuple needs a comma at the end</a:t>
            </a:r>
          </a:p>
          <a:p>
            <a:r>
              <a:rPr sz="2000" dirty="0"/>
              <a:t>Parentheses around one value don't make a tuple</a:t>
            </a:r>
            <a:endParaRPr lang="en-US" sz="2000" dirty="0"/>
          </a:p>
          <a:p>
            <a:r>
              <a:rPr lang="en-US" sz="2000" dirty="0"/>
              <a:t>S</a:t>
            </a:r>
            <a:r>
              <a:rPr lang="en-US" sz="2000" b="0" dirty="0"/>
              <a:t>tandard practice is to write the parentheses when </a:t>
            </a:r>
            <a:r>
              <a:rPr lang="en-US" sz="2000" b="0" i="1" dirty="0"/>
              <a:t>making</a:t>
            </a:r>
            <a:r>
              <a:rPr lang="en-US" sz="2000" b="0" dirty="0"/>
              <a:t> a tuple, but not when unpacking or returning</a:t>
            </a:r>
            <a:endParaRPr lang="en-US" sz="2000" dirty="0"/>
          </a:p>
          <a:p>
            <a:r>
              <a:rPr sz="2000" dirty="0">
                <a:latin typeface="Courier New"/>
              </a:rPr>
              <a:t>tuple(s)</a:t>
            </a:r>
            <a:r>
              <a:rPr sz="2000" dirty="0"/>
              <a:t> makes a tuple from any sequence; </a:t>
            </a:r>
            <a:r>
              <a:rPr sz="2000" dirty="0">
                <a:latin typeface="Courier New"/>
              </a:rPr>
              <a:t>()</a:t>
            </a:r>
            <a:r>
              <a:rPr sz="2000" dirty="0"/>
              <a:t> is the empty tuple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3032760" cy="212140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 dirty="0">
                <a:solidFill>
                  <a:srgbClr val="001080"/>
                </a:solidFill>
                <a:latin typeface="Courier New"/>
              </a:rPr>
              <a:t>t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 = </a:t>
            </a:r>
            <a:r>
              <a:rPr sz="1600" dirty="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, </a:t>
            </a:r>
            <a:r>
              <a:rPr sz="1600" dirty="0">
                <a:solidFill>
                  <a:srgbClr val="098658"/>
                </a:solidFill>
                <a:latin typeface="Courier New"/>
              </a:rPr>
              <a:t>1815</a:t>
            </a:r>
          </a:p>
          <a:p>
            <a:pPr algn="l"/>
            <a:r>
              <a:rPr sz="1600" dirty="0">
                <a:solidFill>
                  <a:srgbClr val="001080"/>
                </a:solidFill>
                <a:latin typeface="Courier New"/>
              </a:rPr>
              <a:t>one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 = (</a:t>
            </a:r>
            <a:r>
              <a:rPr sz="1600" dirty="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,)</a:t>
            </a:r>
          </a:p>
          <a:p>
            <a:pPr algn="l"/>
            <a:r>
              <a:rPr lang="en-US" sz="1600" dirty="0">
                <a:solidFill>
                  <a:srgbClr val="001080"/>
                </a:solidFill>
                <a:latin typeface="Courier New"/>
              </a:rPr>
              <a:t>two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 = (</a:t>
            </a:r>
            <a:r>
              <a:rPr sz="1600" dirty="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 dirty="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1600" dirty="0">
                <a:solidFill>
                  <a:srgbClr val="795E26"/>
                </a:solidFill>
                <a:latin typeface="Courier New"/>
              </a:rPr>
              <a:t>type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1600" dirty="0">
                <a:solidFill>
                  <a:srgbClr val="001080"/>
                </a:solidFill>
                <a:latin typeface="Courier New"/>
              </a:rPr>
              <a:t>t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600" dirty="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1600" dirty="0">
                <a:solidFill>
                  <a:srgbClr val="795E26"/>
                </a:solidFill>
                <a:latin typeface="Courier New"/>
              </a:rPr>
              <a:t>type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1600" dirty="0">
                <a:solidFill>
                  <a:srgbClr val="001080"/>
                </a:solidFill>
                <a:latin typeface="Courier New"/>
              </a:rPr>
              <a:t>one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600" dirty="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1600" dirty="0">
                <a:solidFill>
                  <a:srgbClr val="795E26"/>
                </a:solidFill>
                <a:latin typeface="Courier New"/>
              </a:rPr>
              <a:t>type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sz="1600" dirty="0">
                <a:solidFill>
                  <a:srgbClr val="001080"/>
                </a:solidFill>
                <a:latin typeface="Courier New"/>
              </a:rPr>
              <a:t>two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600" dirty="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1600" dirty="0">
                <a:solidFill>
                  <a:srgbClr val="795E26"/>
                </a:solidFill>
                <a:latin typeface="Courier New"/>
              </a:rPr>
              <a:t>tuple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1600" dirty="0">
                <a:solidFill>
                  <a:srgbClr val="A31515"/>
                </a:solidFill>
                <a:latin typeface="Courier New"/>
              </a:rPr>
              <a:t>"</a:t>
            </a:r>
            <a:r>
              <a:rPr sz="1600" dirty="0" err="1">
                <a:solidFill>
                  <a:srgbClr val="A31515"/>
                </a:solidFill>
                <a:latin typeface="Courier New"/>
              </a:rPr>
              <a:t>abc</a:t>
            </a:r>
            <a:r>
              <a:rPr sz="1600" dirty="0">
                <a:solidFill>
                  <a:srgbClr val="A31515"/>
                </a:solidFill>
                <a:latin typeface="Courier New"/>
              </a:rPr>
              <a:t>"</a:t>
            </a:r>
            <a:r>
              <a:rPr sz="1600" dirty="0">
                <a:solidFill>
                  <a:srgbClr val="000000"/>
                </a:solidFill>
                <a:latin typeface="Courier New"/>
              </a:rPr>
              <a:t>))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675120" y="3794760"/>
            <a:ext cx="2194560" cy="1207008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&lt;class 'tuple'&gt;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&lt;class 'tuple'&gt;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&lt;class 'str'&gt;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('a', 'b', 'c')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MOVE, DIFFERENT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9601200" cy="1005840"/>
          </a:xfrm>
        </p:spPr>
        <p:txBody>
          <a:bodyPr/>
          <a:lstStyle/>
          <a:p>
            <a:r>
              <a:rPr sz="2000"/>
              <a:t>Tuples are immutable, like strings: you can't change an element</a:t>
            </a:r>
          </a:p>
          <a:p>
            <a:r>
              <a:rPr sz="2000"/>
              <a:t>There's no </a:t>
            </a:r>
            <a:r>
              <a:rPr sz="2000">
                <a:latin typeface="Courier New"/>
              </a:rPr>
              <a:t>append</a:t>
            </a:r>
            <a:r>
              <a:rPr sz="2000"/>
              <a:t> or </a:t>
            </a:r>
            <a:r>
              <a:rPr sz="2000">
                <a:latin typeface="Courier New"/>
              </a:rPr>
              <a:t>remove</a:t>
            </a:r>
            <a:r>
              <a:rPr sz="2000"/>
              <a:t> either: a tuple has no methods that change it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841248" y="26060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i="1">
                <a:solidFill>
                  <a:srgbClr val="595959"/>
                </a:solidFill>
              </a:rPr>
              <a:t>list</a:t>
            </a:r>
          </a:p>
        </p:txBody>
      </p:sp>
      <p:sp>
        <p:nvSpPr>
          <p:cNvPr id="5" name="Code"/>
          <p:cNvSpPr/>
          <p:nvPr/>
        </p:nvSpPr>
        <p:spPr>
          <a:xfrm>
            <a:off x="841248" y="2971800"/>
            <a:ext cx="3520440" cy="102412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names</a:t>
            </a:r>
            <a:r>
              <a:rPr sz="1600">
                <a:solidFill>
                  <a:srgbClr val="000000"/>
                </a:solidFill>
                <a:latin typeface="Courier New"/>
              </a:rPr>
              <a:t> = [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"Grace"</a:t>
            </a:r>
            <a:r>
              <a:rPr sz="1600">
                <a:solidFill>
                  <a:srgbClr val="000000"/>
                </a:solidFill>
                <a:latin typeface="Courier New"/>
              </a:rPr>
              <a:t>]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names</a:t>
            </a:r>
            <a:r>
              <a:rPr sz="1600">
                <a:solidFill>
                  <a:srgbClr val="000000"/>
                </a:solidFill>
                <a:latin typeface="Courier New"/>
              </a:rPr>
              <a:t>[</a:t>
            </a:r>
            <a:r>
              <a:rPr sz="1600">
                <a:solidFill>
                  <a:srgbClr val="098658"/>
                </a:solidFill>
                <a:latin typeface="Courier New"/>
              </a:rPr>
              <a:t>0</a:t>
            </a:r>
            <a:r>
              <a:rPr sz="1600">
                <a:solidFill>
                  <a:srgbClr val="000000"/>
                </a:solidFill>
                <a:latin typeface="Courier New"/>
              </a:rPr>
              <a:t>] = </a:t>
            </a:r>
            <a:r>
              <a:rPr sz="1600">
                <a:solidFill>
                  <a:srgbClr val="A31515"/>
                </a:solidFill>
                <a:latin typeface="Courier New"/>
              </a:rPr>
              <a:t>"Alan"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names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6" name="Output"/>
          <p:cNvSpPr txBox="1"/>
          <p:nvPr/>
        </p:nvSpPr>
        <p:spPr>
          <a:xfrm>
            <a:off x="841248" y="4069080"/>
            <a:ext cx="2438400" cy="301752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['Alan', 'Grace']</a:t>
            </a:r>
          </a:p>
        </p:txBody>
      </p:sp>
      <p:sp>
        <p:nvSpPr>
          <p:cNvPr id="7" name="Caption"/>
          <p:cNvSpPr txBox="1"/>
          <p:nvPr/>
        </p:nvSpPr>
        <p:spPr>
          <a:xfrm>
            <a:off x="5852160" y="26060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i="1">
                <a:solidFill>
                  <a:srgbClr val="595959"/>
                </a:solidFill>
              </a:rPr>
              <a:t>tuple</a:t>
            </a:r>
          </a:p>
        </p:txBody>
      </p:sp>
      <p:sp>
        <p:nvSpPr>
          <p:cNvPr id="8" name="Code"/>
          <p:cNvSpPr/>
          <p:nvPr/>
        </p:nvSpPr>
        <p:spPr>
          <a:xfrm>
            <a:off x="5852160" y="2971800"/>
            <a:ext cx="3520440" cy="74980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names</a:t>
            </a:r>
            <a:r>
              <a:rPr sz="1600">
                <a:solidFill>
                  <a:srgbClr val="000000"/>
                </a:solidFill>
                <a:latin typeface="Courier New"/>
              </a:rPr>
              <a:t> = (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"Grace"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names</a:t>
            </a:r>
            <a:r>
              <a:rPr sz="1600">
                <a:solidFill>
                  <a:srgbClr val="000000"/>
                </a:solidFill>
                <a:latin typeface="Courier New"/>
              </a:rPr>
              <a:t>[</a:t>
            </a:r>
            <a:r>
              <a:rPr sz="1600">
                <a:solidFill>
                  <a:srgbClr val="098658"/>
                </a:solidFill>
                <a:latin typeface="Courier New"/>
              </a:rPr>
              <a:t>0</a:t>
            </a:r>
            <a:r>
              <a:rPr sz="1600">
                <a:solidFill>
                  <a:srgbClr val="000000"/>
                </a:solidFill>
                <a:latin typeface="Courier New"/>
              </a:rPr>
              <a:t>] = </a:t>
            </a:r>
            <a:r>
              <a:rPr sz="1600">
                <a:solidFill>
                  <a:srgbClr val="A31515"/>
                </a:solidFill>
                <a:latin typeface="Courier New"/>
              </a:rPr>
              <a:t>"Alan"</a:t>
            </a:r>
          </a:p>
        </p:txBody>
      </p:sp>
      <p:sp>
        <p:nvSpPr>
          <p:cNvPr id="9" name="Output"/>
          <p:cNvSpPr txBox="1"/>
          <p:nvPr/>
        </p:nvSpPr>
        <p:spPr>
          <a:xfrm>
            <a:off x="5852160" y="3794760"/>
            <a:ext cx="4511040" cy="603504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C62828"/>
                </a:solidFill>
                <a:latin typeface="Courier New"/>
              </a:rPr>
              <a:t>TypeError: 'tuple' object does not</a:t>
            </a:r>
          </a:p>
          <a:p>
            <a:r>
              <a:rPr sz="1600">
                <a:solidFill>
                  <a:srgbClr val="C62828"/>
                </a:solidFill>
                <a:latin typeface="Courier New"/>
              </a:rPr>
              <a:t>support item assignment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ALIASING A TUPLE IS SAFE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/>
              <a:t>"Changing" a tuple means building a new one</a:t>
            </a:r>
          </a:p>
          <a:p>
            <a:r>
              <a:rPr sz="2000">
                <a:latin typeface="Courier New"/>
              </a:rPr>
              <a:t>+</a:t>
            </a:r>
            <a:r>
              <a:rPr sz="2000"/>
              <a:t> and </a:t>
            </a:r>
            <a:r>
              <a:rPr sz="2000">
                <a:latin typeface="Courier New"/>
              </a:rPr>
              <a:t>*</a:t>
            </a:r>
            <a:r>
              <a:rPr sz="2000"/>
              <a:t> build new tuples, just like with strings</a:t>
            </a:r>
          </a:p>
          <a:p>
            <a:r>
              <a:rPr sz="2000"/>
              <a:t>The old tuple is still there for anyone else who refers to it</a:t>
            </a:r>
          </a:p>
          <a:p>
            <a:r>
              <a:rPr sz="2000"/>
              <a:t>So a tuple, like a string, is safe to share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2910840" cy="157276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 = (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1815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 + (</a:t>
            </a:r>
            <a:r>
              <a:rPr sz="1600">
                <a:solidFill>
                  <a:srgbClr val="A31515"/>
                </a:solidFill>
                <a:latin typeface="Courier New"/>
              </a:rPr>
              <a:t>"London"</a:t>
            </a:r>
            <a:r>
              <a:rPr sz="1600">
                <a:solidFill>
                  <a:srgbClr val="000000"/>
                </a:solidFill>
                <a:latin typeface="Courier New"/>
              </a:rPr>
              <a:t>,)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5" name="Pause"/>
          <p:cNvSpPr txBox="1"/>
          <p:nvPr/>
        </p:nvSpPr>
        <p:spPr>
          <a:xfrm>
            <a:off x="6675120" y="340156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4472C4"/>
                </a:solidFill>
              </a:rPr>
              <a:t>Predict: </a:t>
            </a:r>
            <a:r>
              <a:rPr sz="1400">
                <a:solidFill>
                  <a:srgbClr val="4472C4"/>
                </a:solidFill>
              </a:rPr>
              <a:t>what do the last two lines print?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ALIASING A TUPLE IS SAFE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/>
              <a:t>"Changing" a tuple means building a new one</a:t>
            </a:r>
          </a:p>
          <a:p>
            <a:r>
              <a:rPr sz="2000">
                <a:latin typeface="Courier New"/>
              </a:rPr>
              <a:t>+</a:t>
            </a:r>
            <a:r>
              <a:rPr sz="2000"/>
              <a:t> and </a:t>
            </a:r>
            <a:r>
              <a:rPr sz="2000">
                <a:latin typeface="Courier New"/>
              </a:rPr>
              <a:t>*</a:t>
            </a:r>
            <a:r>
              <a:rPr sz="2000"/>
              <a:t> build new tuples, just like with strings</a:t>
            </a:r>
          </a:p>
          <a:p>
            <a:r>
              <a:rPr sz="2000"/>
              <a:t>The old tuple is still there for anyone else who refers to it</a:t>
            </a:r>
          </a:p>
          <a:p>
            <a:r>
              <a:rPr sz="2000"/>
              <a:t>So a tuple, like a string, is safe to share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2910840" cy="157276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 = (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1815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 + (</a:t>
            </a:r>
            <a:r>
              <a:rPr sz="1600">
                <a:solidFill>
                  <a:srgbClr val="A31515"/>
                </a:solidFill>
                <a:latin typeface="Courier New"/>
              </a:rPr>
              <a:t>"London"</a:t>
            </a:r>
            <a:r>
              <a:rPr sz="1600">
                <a:solidFill>
                  <a:srgbClr val="000000"/>
                </a:solidFill>
                <a:latin typeface="Courier New"/>
              </a:rPr>
              <a:t>,)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675120" y="3246120"/>
            <a:ext cx="3169920" cy="603504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('Ada', 1815, 'London')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('Ada', 1815)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1737360" y="429768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tuple</a:t>
            </a:r>
          </a:p>
        </p:txBody>
      </p:sp>
      <p:sp>
        <p:nvSpPr>
          <p:cNvPr id="7" name="Box"/>
          <p:cNvSpPr/>
          <p:nvPr/>
        </p:nvSpPr>
        <p:spPr>
          <a:xfrm>
            <a:off x="1737360" y="4572000"/>
            <a:ext cx="118872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"Ada"</a:t>
            </a:r>
          </a:p>
        </p:txBody>
      </p:sp>
      <p:sp>
        <p:nvSpPr>
          <p:cNvPr id="8" name="Box"/>
          <p:cNvSpPr/>
          <p:nvPr/>
        </p:nvSpPr>
        <p:spPr>
          <a:xfrm>
            <a:off x="2926080" y="4572000"/>
            <a:ext cx="118872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1815</a:t>
            </a:r>
          </a:p>
        </p:txBody>
      </p:sp>
      <p:sp>
        <p:nvSpPr>
          <p:cNvPr id="9" name="Box"/>
          <p:cNvSpPr/>
          <p:nvPr/>
        </p:nvSpPr>
        <p:spPr>
          <a:xfrm>
            <a:off x="4114800" y="4572000"/>
            <a:ext cx="118872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"London"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1737360" y="53492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tuple</a:t>
            </a:r>
          </a:p>
        </p:txBody>
      </p:sp>
      <p:sp>
        <p:nvSpPr>
          <p:cNvPr id="11" name="Box"/>
          <p:cNvSpPr/>
          <p:nvPr/>
        </p:nvSpPr>
        <p:spPr>
          <a:xfrm>
            <a:off x="1737360" y="5623560"/>
            <a:ext cx="118872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"Ada"</a:t>
            </a:r>
          </a:p>
        </p:txBody>
      </p:sp>
      <p:sp>
        <p:nvSpPr>
          <p:cNvPr id="12" name="Box"/>
          <p:cNvSpPr/>
          <p:nvPr/>
        </p:nvSpPr>
        <p:spPr>
          <a:xfrm>
            <a:off x="2926080" y="5623560"/>
            <a:ext cx="118872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1815</a:t>
            </a:r>
          </a:p>
        </p:txBody>
      </p:sp>
      <p:sp>
        <p:nvSpPr>
          <p:cNvPr id="13" name="Caption"/>
          <p:cNvSpPr txBox="1"/>
          <p:nvPr/>
        </p:nvSpPr>
        <p:spPr>
          <a:xfrm>
            <a:off x="548640" y="45902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a</a:t>
            </a:r>
          </a:p>
        </p:txBody>
      </p:sp>
      <p:cxnSp>
        <p:nvCxnSpPr>
          <p:cNvPr id="14" name="Reference"/>
          <p:cNvCxnSpPr/>
          <p:nvPr/>
        </p:nvCxnSpPr>
        <p:spPr>
          <a:xfrm>
            <a:off x="1097280" y="477774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ption"/>
          <p:cNvSpPr txBox="1"/>
          <p:nvPr/>
        </p:nvSpPr>
        <p:spPr>
          <a:xfrm>
            <a:off x="548640" y="56418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b</a:t>
            </a:r>
          </a:p>
        </p:txBody>
      </p:sp>
      <p:cxnSp>
        <p:nvCxnSpPr>
          <p:cNvPr id="16" name="Reference"/>
          <p:cNvCxnSpPr/>
          <p:nvPr/>
        </p:nvCxnSpPr>
        <p:spPr>
          <a:xfrm>
            <a:off x="1097280" y="582930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eference"/>
          <p:cNvCxnSpPr/>
          <p:nvPr/>
        </p:nvCxnSpPr>
        <p:spPr>
          <a:xfrm>
            <a:off x="1097280" y="4846320"/>
            <a:ext cx="640080" cy="868680"/>
          </a:xfrm>
          <a:prstGeom prst="line">
            <a:avLst/>
          </a:prstGeom>
          <a:ln w="19050">
            <a:solidFill>
              <a:srgbClr val="A6A6A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ption"/>
          <p:cNvSpPr txBox="1"/>
          <p:nvPr/>
        </p:nvSpPr>
        <p:spPr>
          <a:xfrm>
            <a:off x="4251960" y="57150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a's old arrow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TUPLE LOOKS LIKE INSIDE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/>
              <a:t>Like a list, a tuple holds references (arrows) to its elements</a:t>
            </a:r>
          </a:p>
          <a:p>
            <a:r>
              <a:rPr sz="2000"/>
              <a:t>Once a tuple is made, its arrows are fixed</a:t>
            </a:r>
          </a:p>
          <a:p>
            <a:r>
              <a:rPr sz="2000"/>
              <a:t>No arrow can be pointed somewhere else, and no arrows can be added or taken away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4495800" cy="47548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names</a:t>
            </a:r>
            <a:r>
              <a:rPr sz="1600">
                <a:solidFill>
                  <a:srgbClr val="000000"/>
                </a:solidFill>
                <a:latin typeface="Courier New"/>
              </a:rPr>
              <a:t> = (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"Grace"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"Alan"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5" name="Caption"/>
          <p:cNvSpPr txBox="1"/>
          <p:nvPr/>
        </p:nvSpPr>
        <p:spPr>
          <a:xfrm>
            <a:off x="2194560" y="39319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tuple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3840480" y="39319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str objects</a:t>
            </a:r>
          </a:p>
        </p:txBody>
      </p:sp>
      <p:sp>
        <p:nvSpPr>
          <p:cNvPr id="7" name="Caption"/>
          <p:cNvSpPr txBox="1"/>
          <p:nvPr/>
        </p:nvSpPr>
        <p:spPr>
          <a:xfrm>
            <a:off x="548640" y="463600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names</a:t>
            </a:r>
          </a:p>
        </p:txBody>
      </p:sp>
      <p:cxnSp>
        <p:nvCxnSpPr>
          <p:cNvPr id="8" name="Reference"/>
          <p:cNvCxnSpPr/>
          <p:nvPr/>
        </p:nvCxnSpPr>
        <p:spPr>
          <a:xfrm>
            <a:off x="1645920" y="4823460"/>
            <a:ext cx="54864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ox"/>
          <p:cNvSpPr/>
          <p:nvPr/>
        </p:nvSpPr>
        <p:spPr>
          <a:xfrm>
            <a:off x="2194560" y="4206240"/>
            <a:ext cx="73152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10" name="Caption"/>
          <p:cNvSpPr txBox="1"/>
          <p:nvPr/>
        </p:nvSpPr>
        <p:spPr>
          <a:xfrm>
            <a:off x="2240280" y="427939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4472C4"/>
                </a:solidFill>
              </a:rPr>
              <a:t>0</a:t>
            </a:r>
          </a:p>
        </p:txBody>
      </p:sp>
      <p:sp>
        <p:nvSpPr>
          <p:cNvPr id="11" name="Dot"/>
          <p:cNvSpPr/>
          <p:nvPr/>
        </p:nvSpPr>
        <p:spPr>
          <a:xfrm>
            <a:off x="2651760" y="4366260"/>
            <a:ext cx="91440" cy="91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x"/>
          <p:cNvSpPr/>
          <p:nvPr/>
        </p:nvSpPr>
        <p:spPr>
          <a:xfrm>
            <a:off x="3840480" y="4160520"/>
            <a:ext cx="10972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"Ada"</a:t>
            </a:r>
          </a:p>
        </p:txBody>
      </p:sp>
      <p:cxnSp>
        <p:nvCxnSpPr>
          <p:cNvPr id="13" name="Reference"/>
          <p:cNvCxnSpPr/>
          <p:nvPr/>
        </p:nvCxnSpPr>
        <p:spPr>
          <a:xfrm flipV="1">
            <a:off x="2743200" y="4366260"/>
            <a:ext cx="1097280" cy="457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Box"/>
          <p:cNvSpPr/>
          <p:nvPr/>
        </p:nvSpPr>
        <p:spPr>
          <a:xfrm>
            <a:off x="2194560" y="4617720"/>
            <a:ext cx="73152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15" name="Caption"/>
          <p:cNvSpPr txBox="1"/>
          <p:nvPr/>
        </p:nvSpPr>
        <p:spPr>
          <a:xfrm>
            <a:off x="2240280" y="469087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4472C4"/>
                </a:solidFill>
              </a:rPr>
              <a:t>1</a:t>
            </a:r>
          </a:p>
        </p:txBody>
      </p:sp>
      <p:sp>
        <p:nvSpPr>
          <p:cNvPr id="16" name="Dot"/>
          <p:cNvSpPr/>
          <p:nvPr/>
        </p:nvSpPr>
        <p:spPr>
          <a:xfrm>
            <a:off x="2651760" y="4777740"/>
            <a:ext cx="91440" cy="91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ox"/>
          <p:cNvSpPr/>
          <p:nvPr/>
        </p:nvSpPr>
        <p:spPr>
          <a:xfrm>
            <a:off x="3840480" y="4709160"/>
            <a:ext cx="10972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"Grace"</a:t>
            </a:r>
          </a:p>
        </p:txBody>
      </p:sp>
      <p:cxnSp>
        <p:nvCxnSpPr>
          <p:cNvPr id="18" name="Reference"/>
          <p:cNvCxnSpPr/>
          <p:nvPr/>
        </p:nvCxnSpPr>
        <p:spPr>
          <a:xfrm>
            <a:off x="2743200" y="4823460"/>
            <a:ext cx="1097280" cy="9144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Box"/>
          <p:cNvSpPr/>
          <p:nvPr/>
        </p:nvSpPr>
        <p:spPr>
          <a:xfrm>
            <a:off x="2194560" y="5029200"/>
            <a:ext cx="73152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20" name="Caption"/>
          <p:cNvSpPr txBox="1"/>
          <p:nvPr/>
        </p:nvSpPr>
        <p:spPr>
          <a:xfrm>
            <a:off x="2240280" y="510235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4472C4"/>
                </a:solidFill>
              </a:rPr>
              <a:t>2</a:t>
            </a:r>
          </a:p>
        </p:txBody>
      </p:sp>
      <p:sp>
        <p:nvSpPr>
          <p:cNvPr id="21" name="Dot"/>
          <p:cNvSpPr/>
          <p:nvPr/>
        </p:nvSpPr>
        <p:spPr>
          <a:xfrm>
            <a:off x="2651760" y="5189220"/>
            <a:ext cx="91440" cy="91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x"/>
          <p:cNvSpPr/>
          <p:nvPr/>
        </p:nvSpPr>
        <p:spPr>
          <a:xfrm>
            <a:off x="3840480" y="5257800"/>
            <a:ext cx="10972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"Alan"</a:t>
            </a:r>
          </a:p>
        </p:txBody>
      </p:sp>
      <p:cxnSp>
        <p:nvCxnSpPr>
          <p:cNvPr id="23" name="Reference"/>
          <p:cNvCxnSpPr/>
          <p:nvPr/>
        </p:nvCxnSpPr>
        <p:spPr>
          <a:xfrm>
            <a:off x="2743200" y="5234940"/>
            <a:ext cx="1097280" cy="22860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FIXED ARROWS, NOT FIXED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193792" cy="2743200"/>
          </a:xfrm>
        </p:spPr>
        <p:txBody>
          <a:bodyPr/>
          <a:lstStyle/>
          <a:p>
            <a:r>
              <a:rPr sz="2000"/>
              <a:t>A tuple can't change which objects it refers to</a:t>
            </a:r>
          </a:p>
          <a:p>
            <a:r>
              <a:rPr sz="2000"/>
              <a:t>But an object it refers to can still change, if it's mutable</a:t>
            </a:r>
          </a:p>
          <a:p>
            <a:r>
              <a:rPr sz="2000"/>
              <a:t>Here the list inside the tuple gets a new element</a:t>
            </a:r>
          </a:p>
          <a:p>
            <a:r>
              <a:rPr sz="2000"/>
              <a:t>The tuple's arrows never moved</a:t>
            </a:r>
          </a:p>
        </p:txBody>
      </p:sp>
      <p:sp>
        <p:nvSpPr>
          <p:cNvPr id="4" name="Code"/>
          <p:cNvSpPr/>
          <p:nvPr/>
        </p:nvSpPr>
        <p:spPr>
          <a:xfrm>
            <a:off x="6309360" y="1600200"/>
            <a:ext cx="4617720" cy="102412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team</a:t>
            </a:r>
            <a:r>
              <a:rPr sz="1600">
                <a:solidFill>
                  <a:srgbClr val="000000"/>
                </a:solidFill>
                <a:latin typeface="Courier New"/>
              </a:rPr>
              <a:t> = (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, [</a:t>
            </a:r>
            <a:r>
              <a:rPr sz="1600">
                <a:solidFill>
                  <a:srgbClr val="A31515"/>
                </a:solidFill>
                <a:latin typeface="Courier New"/>
              </a:rPr>
              <a:t>"Grace"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"Alan"</a:t>
            </a:r>
            <a:r>
              <a:rPr sz="1600">
                <a:solidFill>
                  <a:srgbClr val="000000"/>
                </a:solidFill>
                <a:latin typeface="Courier New"/>
              </a:rPr>
              <a:t>])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team</a:t>
            </a:r>
            <a:r>
              <a:rPr sz="1600">
                <a:solidFill>
                  <a:srgbClr val="000000"/>
                </a:solidFill>
                <a:latin typeface="Courier New"/>
              </a:rPr>
              <a:t>[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].</a:t>
            </a:r>
            <a:r>
              <a:rPr sz="1600">
                <a:solidFill>
                  <a:srgbClr val="795E26"/>
                </a:solidFill>
                <a:latin typeface="Courier New"/>
              </a:rPr>
              <a:t>append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A31515"/>
                </a:solidFill>
                <a:latin typeface="Courier New"/>
              </a:rPr>
              <a:t>"Katherine"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team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5" name="Pause"/>
          <p:cNvSpPr txBox="1"/>
          <p:nvPr/>
        </p:nvSpPr>
        <p:spPr>
          <a:xfrm>
            <a:off x="6309360" y="28529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4472C4"/>
                </a:solidFill>
              </a:rPr>
              <a:t>Predict: </a:t>
            </a:r>
            <a:r>
              <a:rPr sz="1400">
                <a:solidFill>
                  <a:srgbClr val="4472C4"/>
                </a:solidFill>
              </a:rPr>
              <a:t>does line 2 work? If it does, what does line 3 print?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FIXED ARROWS, NOT FIXED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193792" cy="2743200"/>
          </a:xfrm>
        </p:spPr>
        <p:txBody>
          <a:bodyPr/>
          <a:lstStyle/>
          <a:p>
            <a:r>
              <a:rPr sz="2000"/>
              <a:t>A tuple can't change which objects it refers to</a:t>
            </a:r>
          </a:p>
          <a:p>
            <a:r>
              <a:rPr sz="2000"/>
              <a:t>But an object it refers to can still change, if it's mutable</a:t>
            </a:r>
          </a:p>
          <a:p>
            <a:r>
              <a:rPr sz="2000"/>
              <a:t>Here the list inside the tuple gets a new element</a:t>
            </a:r>
          </a:p>
          <a:p>
            <a:r>
              <a:rPr sz="2000"/>
              <a:t>The tuple's arrows never moved</a:t>
            </a:r>
          </a:p>
        </p:txBody>
      </p:sp>
      <p:sp>
        <p:nvSpPr>
          <p:cNvPr id="4" name="Code"/>
          <p:cNvSpPr/>
          <p:nvPr/>
        </p:nvSpPr>
        <p:spPr>
          <a:xfrm>
            <a:off x="6309360" y="1600200"/>
            <a:ext cx="4617720" cy="102412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team</a:t>
            </a:r>
            <a:r>
              <a:rPr sz="1600">
                <a:solidFill>
                  <a:srgbClr val="000000"/>
                </a:solidFill>
                <a:latin typeface="Courier New"/>
              </a:rPr>
              <a:t> = (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, [</a:t>
            </a:r>
            <a:r>
              <a:rPr sz="1600">
                <a:solidFill>
                  <a:srgbClr val="A31515"/>
                </a:solidFill>
                <a:latin typeface="Courier New"/>
              </a:rPr>
              <a:t>"Grace"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"Alan"</a:t>
            </a:r>
            <a:r>
              <a:rPr sz="1600">
                <a:solidFill>
                  <a:srgbClr val="000000"/>
                </a:solidFill>
                <a:latin typeface="Courier New"/>
              </a:rPr>
              <a:t>])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team</a:t>
            </a:r>
            <a:r>
              <a:rPr sz="1600">
                <a:solidFill>
                  <a:srgbClr val="000000"/>
                </a:solidFill>
                <a:latin typeface="Courier New"/>
              </a:rPr>
              <a:t>[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].</a:t>
            </a:r>
            <a:r>
              <a:rPr sz="1600">
                <a:solidFill>
                  <a:srgbClr val="795E26"/>
                </a:solidFill>
                <a:latin typeface="Courier New"/>
              </a:rPr>
              <a:t>append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A31515"/>
                </a:solidFill>
                <a:latin typeface="Courier New"/>
              </a:rPr>
              <a:t>"Katherine"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team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309360" y="2697480"/>
            <a:ext cx="5120640" cy="301752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('Ada', ['Grace', 'Alan', 'Katherine'])</a:t>
            </a:r>
          </a:p>
        </p:txBody>
      </p:sp>
      <p:sp>
        <p:nvSpPr>
          <p:cNvPr id="7" name="Caption"/>
          <p:cNvSpPr txBox="1"/>
          <p:nvPr/>
        </p:nvSpPr>
        <p:spPr>
          <a:xfrm>
            <a:off x="1920240" y="429768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tuple</a:t>
            </a:r>
          </a:p>
        </p:txBody>
      </p:sp>
      <p:sp>
        <p:nvSpPr>
          <p:cNvPr id="8" name="Box"/>
          <p:cNvSpPr/>
          <p:nvPr/>
        </p:nvSpPr>
        <p:spPr>
          <a:xfrm>
            <a:off x="1920240" y="4572000"/>
            <a:ext cx="10515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"Ada"</a:t>
            </a:r>
          </a:p>
        </p:txBody>
      </p:sp>
      <p:sp>
        <p:nvSpPr>
          <p:cNvPr id="9" name="Box"/>
          <p:cNvSpPr/>
          <p:nvPr/>
        </p:nvSpPr>
        <p:spPr>
          <a:xfrm>
            <a:off x="2971800" y="4572000"/>
            <a:ext cx="10515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10" name="Dot"/>
          <p:cNvSpPr/>
          <p:nvPr/>
        </p:nvSpPr>
        <p:spPr>
          <a:xfrm>
            <a:off x="3451860" y="4732020"/>
            <a:ext cx="91440" cy="91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ption"/>
          <p:cNvSpPr txBox="1"/>
          <p:nvPr/>
        </p:nvSpPr>
        <p:spPr>
          <a:xfrm>
            <a:off x="365760" y="45902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team</a:t>
            </a:r>
          </a:p>
        </p:txBody>
      </p:sp>
      <p:cxnSp>
        <p:nvCxnSpPr>
          <p:cNvPr id="12" name="Reference"/>
          <p:cNvCxnSpPr/>
          <p:nvPr/>
        </p:nvCxnSpPr>
        <p:spPr>
          <a:xfrm>
            <a:off x="1371600" y="4777740"/>
            <a:ext cx="54864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ption"/>
          <p:cNvSpPr txBox="1"/>
          <p:nvPr/>
        </p:nvSpPr>
        <p:spPr>
          <a:xfrm>
            <a:off x="4937760" y="507492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list</a:t>
            </a:r>
          </a:p>
        </p:txBody>
      </p:sp>
      <p:sp>
        <p:nvSpPr>
          <p:cNvPr id="14" name="Box"/>
          <p:cNvSpPr/>
          <p:nvPr/>
        </p:nvSpPr>
        <p:spPr>
          <a:xfrm>
            <a:off x="4937760" y="5349240"/>
            <a:ext cx="15544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"Grace"</a:t>
            </a:r>
          </a:p>
        </p:txBody>
      </p:sp>
      <p:sp>
        <p:nvSpPr>
          <p:cNvPr id="15" name="Box"/>
          <p:cNvSpPr/>
          <p:nvPr/>
        </p:nvSpPr>
        <p:spPr>
          <a:xfrm>
            <a:off x="6492240" y="5349240"/>
            <a:ext cx="15544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"Alan"</a:t>
            </a:r>
          </a:p>
        </p:txBody>
      </p:sp>
      <p:sp>
        <p:nvSpPr>
          <p:cNvPr id="16" name="Box"/>
          <p:cNvSpPr/>
          <p:nvPr/>
        </p:nvSpPr>
        <p:spPr>
          <a:xfrm>
            <a:off x="8046720" y="5349240"/>
            <a:ext cx="1554480" cy="411480"/>
          </a:xfrm>
          <a:prstGeom prst="rect">
            <a:avLst/>
          </a:prstGeom>
          <a:solidFill>
            <a:srgbClr val="EAF1FB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"Katherine"</a:t>
            </a:r>
          </a:p>
        </p:txBody>
      </p:sp>
      <p:cxnSp>
        <p:nvCxnSpPr>
          <p:cNvPr id="17" name="Reference"/>
          <p:cNvCxnSpPr/>
          <p:nvPr/>
        </p:nvCxnSpPr>
        <p:spPr>
          <a:xfrm>
            <a:off x="3497580" y="4777740"/>
            <a:ext cx="1440180" cy="70866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TUPLES AS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/>
              <a:t>A tuple can't change, so it can be a dictionary key</a:t>
            </a:r>
          </a:p>
          <a:p>
            <a:r>
              <a:rPr sz="2000"/>
              <a:t>No extra parentheses needed: </a:t>
            </a:r>
            <a:r>
              <a:rPr sz="2000">
                <a:latin typeface="Courier New"/>
              </a:rPr>
              <a:t>seats[3, 7]</a:t>
            </a:r>
            <a:r>
              <a:rPr sz="2000"/>
              <a:t> works</a:t>
            </a:r>
          </a:p>
          <a:p>
            <a:r>
              <a:rPr sz="2000"/>
              <a:t>Back to the seating chart: one key per seat, no list needed</a:t>
            </a:r>
          </a:p>
          <a:p>
            <a:r>
              <a:rPr sz="2000"/>
              <a:t>Tuples can be values, too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3398520" cy="184708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seats</a:t>
            </a:r>
            <a:r>
              <a:rPr sz="1600">
                <a:solidFill>
                  <a:srgbClr val="000000"/>
                </a:solidFill>
                <a:latin typeface="Courier New"/>
              </a:rPr>
              <a:t> = {}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seats</a:t>
            </a:r>
            <a:r>
              <a:rPr sz="1600">
                <a:solidFill>
                  <a:srgbClr val="000000"/>
                </a:solidFill>
                <a:latin typeface="Courier New"/>
              </a:rPr>
              <a:t>[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7</a:t>
            </a:r>
            <a:r>
              <a:rPr sz="1600">
                <a:solidFill>
                  <a:srgbClr val="000000"/>
                </a:solidFill>
                <a:latin typeface="Courier New"/>
              </a:rPr>
              <a:t>] = 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seats</a:t>
            </a:r>
            <a:r>
              <a:rPr sz="1600">
                <a:solidFill>
                  <a:srgbClr val="000000"/>
                </a:solidFill>
                <a:latin typeface="Courier New"/>
              </a:rPr>
              <a:t>[(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8</a:t>
            </a:r>
            <a:r>
              <a:rPr sz="1600">
                <a:solidFill>
                  <a:srgbClr val="000000"/>
                </a:solidFill>
                <a:latin typeface="Courier New"/>
              </a:rPr>
              <a:t>)] = </a:t>
            </a:r>
            <a:r>
              <a:rPr sz="1600">
                <a:solidFill>
                  <a:srgbClr val="A31515"/>
                </a:solidFill>
                <a:latin typeface="Courier New"/>
              </a:rPr>
              <a:t>"Grace"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seats</a:t>
            </a:r>
            <a:r>
              <a:rPr sz="1600">
                <a:solidFill>
                  <a:srgbClr val="000000"/>
                </a:solidFill>
                <a:latin typeface="Courier New"/>
              </a:rPr>
              <a:t>[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7</a:t>
            </a:r>
            <a:r>
              <a:rPr sz="1600">
                <a:solidFill>
                  <a:srgbClr val="000000"/>
                </a:solidFill>
                <a:latin typeface="Courier New"/>
              </a:rPr>
              <a:t>])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((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8</a:t>
            </a:r>
            <a:r>
              <a:rPr sz="1600">
                <a:solidFill>
                  <a:srgbClr val="000000"/>
                </a:solidFill>
                <a:latin typeface="Courier New"/>
              </a:rPr>
              <a:t>) </a:t>
            </a:r>
            <a:r>
              <a:rPr sz="1600">
                <a:solidFill>
                  <a:srgbClr val="0000FF"/>
                </a:solidFill>
                <a:latin typeface="Courier New"/>
              </a:rPr>
              <a:t>in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001080"/>
                </a:solidFill>
                <a:latin typeface="Courier New"/>
              </a:rPr>
              <a:t>seats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seats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675120" y="3520440"/>
            <a:ext cx="4267200" cy="905256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Ada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True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{(3, 7): 'Ada', (3, 8): 'Grace'}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2194560" y="4069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dict</a:t>
            </a:r>
          </a:p>
        </p:txBody>
      </p:sp>
      <p:sp>
        <p:nvSpPr>
          <p:cNvPr id="7" name="Box"/>
          <p:cNvSpPr/>
          <p:nvPr/>
        </p:nvSpPr>
        <p:spPr>
          <a:xfrm>
            <a:off x="2194560" y="4343400"/>
            <a:ext cx="265176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endParaRPr/>
          </a:p>
        </p:txBody>
      </p:sp>
      <p:sp>
        <p:nvSpPr>
          <p:cNvPr id="8" name="Caption"/>
          <p:cNvSpPr txBox="1"/>
          <p:nvPr/>
        </p:nvSpPr>
        <p:spPr>
          <a:xfrm>
            <a:off x="502920" y="46177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seats</a:t>
            </a:r>
          </a:p>
        </p:txBody>
      </p:sp>
      <p:cxnSp>
        <p:nvCxnSpPr>
          <p:cNvPr id="9" name="Reference"/>
          <p:cNvCxnSpPr/>
          <p:nvPr/>
        </p:nvCxnSpPr>
        <p:spPr>
          <a:xfrm>
            <a:off x="1600200" y="4800600"/>
            <a:ext cx="59436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ption"/>
          <p:cNvSpPr txBox="1"/>
          <p:nvPr/>
        </p:nvSpPr>
        <p:spPr>
          <a:xfrm>
            <a:off x="2331720" y="44348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(3, 7)</a:t>
            </a:r>
          </a:p>
        </p:txBody>
      </p:sp>
      <p:cxnSp>
        <p:nvCxnSpPr>
          <p:cNvPr id="11" name="Reference"/>
          <p:cNvCxnSpPr/>
          <p:nvPr/>
        </p:nvCxnSpPr>
        <p:spPr>
          <a:xfrm>
            <a:off x="3291840" y="4617720"/>
            <a:ext cx="4114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ption"/>
          <p:cNvSpPr txBox="1"/>
          <p:nvPr/>
        </p:nvSpPr>
        <p:spPr>
          <a:xfrm>
            <a:off x="3794760" y="44348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"Ada"</a:t>
            </a:r>
          </a:p>
        </p:txBody>
      </p:sp>
      <p:sp>
        <p:nvSpPr>
          <p:cNvPr id="13" name="Caption"/>
          <p:cNvSpPr txBox="1"/>
          <p:nvPr/>
        </p:nvSpPr>
        <p:spPr>
          <a:xfrm>
            <a:off x="2331720" y="48188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(3, 8)</a:t>
            </a:r>
          </a:p>
        </p:txBody>
      </p:sp>
      <p:cxnSp>
        <p:nvCxnSpPr>
          <p:cNvPr id="14" name="Reference"/>
          <p:cNvCxnSpPr/>
          <p:nvPr/>
        </p:nvCxnSpPr>
        <p:spPr>
          <a:xfrm>
            <a:off x="3291840" y="5001768"/>
            <a:ext cx="4114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ption"/>
          <p:cNvSpPr txBox="1"/>
          <p:nvPr/>
        </p:nvSpPr>
        <p:spPr>
          <a:xfrm>
            <a:off x="3794760" y="481888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"Grace"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YOU MIGHT BE ASKING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>
            <a:normAutofit lnSpcReduction="10000"/>
          </a:bodyPr>
          <a:lstStyle/>
          <a:p>
            <a:r>
              <a:rPr sz="2000" dirty="0"/>
              <a:t>Why not use tuples for everything? </a:t>
            </a:r>
            <a:r>
              <a:rPr sz="2000" b="1" dirty="0"/>
              <a:t>You can't change them.</a:t>
            </a:r>
            <a:r>
              <a:rPr sz="2000" dirty="0"/>
              <a:t> A list that grows needs to be a list</a:t>
            </a:r>
          </a:p>
          <a:p>
            <a:r>
              <a:rPr sz="2000" dirty="0"/>
              <a:t>So when do I use a tuple? </a:t>
            </a:r>
            <a:r>
              <a:rPr sz="2000" b="1" dirty="0"/>
              <a:t>When the parts belong together</a:t>
            </a:r>
            <a:r>
              <a:rPr sz="2000" dirty="0"/>
              <a:t> and there's a fixed number of them: row and seat, name and year</a:t>
            </a:r>
            <a:endParaRPr lang="en-US" sz="2000" dirty="0"/>
          </a:p>
          <a:p>
            <a:r>
              <a:rPr lang="en-US" sz="2000" dirty="0"/>
              <a:t>If a group of values shouldn't change, a tuple keeps it from changing by accident</a:t>
            </a:r>
            <a:endParaRPr sz="2000" dirty="0"/>
          </a:p>
          <a:p>
            <a:r>
              <a:rPr sz="2000" dirty="0"/>
              <a:t>Can any tuple </a:t>
            </a:r>
            <a:r>
              <a:rPr lang="en-US" sz="2000" i="1" dirty="0"/>
              <a:t>always </a:t>
            </a:r>
            <a:r>
              <a:rPr sz="2000" dirty="0"/>
              <a:t>be a key? </a:t>
            </a:r>
            <a:r>
              <a:rPr sz="2000" b="1" dirty="0"/>
              <a:t>No:</a:t>
            </a:r>
            <a:r>
              <a:rPr sz="2000" dirty="0"/>
              <a:t> not if there's a list inside it</a:t>
            </a:r>
            <a:endParaRPr lang="en-US" sz="2000" dirty="0"/>
          </a:p>
          <a:p>
            <a:pPr marL="0" indent="0">
              <a:buNone/>
            </a:pPr>
            <a:endParaRPr sz="2000" dirty="0"/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4617720" cy="102412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team</a:t>
            </a:r>
            <a:r>
              <a:rPr sz="1600">
                <a:solidFill>
                  <a:srgbClr val="000000"/>
                </a:solidFill>
                <a:latin typeface="Courier New"/>
              </a:rPr>
              <a:t> = (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, [</a:t>
            </a:r>
            <a:r>
              <a:rPr sz="1600">
                <a:solidFill>
                  <a:srgbClr val="A31515"/>
                </a:solidFill>
                <a:latin typeface="Courier New"/>
              </a:rPr>
              <a:t>"Grace"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"Alan"</a:t>
            </a:r>
            <a:r>
              <a:rPr sz="1600">
                <a:solidFill>
                  <a:srgbClr val="000000"/>
                </a:solidFill>
                <a:latin typeface="Courier New"/>
              </a:rPr>
              <a:t>])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d</a:t>
            </a:r>
            <a:r>
              <a:rPr sz="1600">
                <a:solidFill>
                  <a:srgbClr val="000000"/>
                </a:solidFill>
                <a:latin typeface="Courier New"/>
              </a:rPr>
              <a:t> = {}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d</a:t>
            </a:r>
            <a:r>
              <a:rPr sz="1600">
                <a:solidFill>
                  <a:srgbClr val="000000"/>
                </a:solidFill>
                <a:latin typeface="Courier New"/>
              </a:rPr>
              <a:t>[</a:t>
            </a:r>
            <a:r>
              <a:rPr sz="1600">
                <a:solidFill>
                  <a:srgbClr val="001080"/>
                </a:solidFill>
                <a:latin typeface="Courier New"/>
              </a:rPr>
              <a:t>team</a:t>
            </a:r>
            <a:r>
              <a:rPr sz="1600">
                <a:solidFill>
                  <a:srgbClr val="000000"/>
                </a:solidFill>
                <a:latin typeface="Courier New"/>
              </a:rPr>
              <a:t>] = </a:t>
            </a:r>
            <a:r>
              <a:rPr sz="1600">
                <a:solidFill>
                  <a:srgbClr val="A31515"/>
                </a:solidFill>
                <a:latin typeface="Courier New"/>
              </a:rPr>
              <a:t>"red"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675120" y="2697480"/>
            <a:ext cx="4511040" cy="301752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C62828"/>
                </a:solidFill>
                <a:latin typeface="Courier New"/>
              </a:rPr>
              <a:t>TypeError: unhashable type: 'list'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193792" cy="2743200"/>
          </a:xfrm>
        </p:spPr>
        <p:txBody>
          <a:bodyPr/>
          <a:lstStyle/>
          <a:p>
            <a:r>
              <a:rPr sz="2000"/>
              <a:t>Put a tuple of variables on the left of </a:t>
            </a:r>
            <a:r>
              <a:rPr sz="2000">
                <a:latin typeface="Courier New"/>
              </a:rPr>
              <a:t>=</a:t>
            </a:r>
          </a:p>
          <a:p>
            <a:r>
              <a:rPr sz="2000"/>
              <a:t>Each one gets the value in the same position on the right</a:t>
            </a:r>
          </a:p>
          <a:p>
            <a:r>
              <a:rPr sz="2000"/>
              <a:t>The right side can be any sequence, including the list that </a:t>
            </a:r>
            <a:r>
              <a:rPr sz="2000">
                <a:latin typeface="Courier New"/>
              </a:rPr>
              <a:t>split</a:t>
            </a:r>
            <a:r>
              <a:rPr sz="2000"/>
              <a:t> returns</a:t>
            </a:r>
          </a:p>
        </p:txBody>
      </p:sp>
      <p:sp>
        <p:nvSpPr>
          <p:cNvPr id="4" name="Code"/>
          <p:cNvSpPr/>
          <p:nvPr/>
        </p:nvSpPr>
        <p:spPr>
          <a:xfrm>
            <a:off x="6309360" y="1600200"/>
            <a:ext cx="5394960" cy="2001393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name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01080"/>
                </a:solidFill>
                <a:latin typeface="Courier New"/>
              </a:rPr>
              <a:t>year</a:t>
            </a:r>
            <a:r>
              <a:rPr sz="1500">
                <a:solidFill>
                  <a:srgbClr val="000000"/>
                </a:solidFill>
                <a:latin typeface="Courier New"/>
              </a:rPr>
              <a:t> = </a:t>
            </a:r>
            <a:r>
              <a:rPr sz="1500">
                <a:solidFill>
                  <a:srgbClr val="A31515"/>
                </a:solidFill>
                <a:latin typeface="Courier New"/>
              </a:rPr>
              <a:t>"Ada"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98658"/>
                </a:solidFill>
                <a:latin typeface="Courier New"/>
              </a:rPr>
              <a:t>1815</a:t>
            </a:r>
          </a:p>
          <a:p>
            <a:pPr algn="l"/>
            <a:r>
              <a:rPr sz="1500">
                <a:solidFill>
                  <a:srgbClr val="795E26"/>
                </a:solidFill>
                <a:latin typeface="Courier New"/>
              </a:rPr>
              <a:t>print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001080"/>
                </a:solidFill>
                <a:latin typeface="Courier New"/>
              </a:rPr>
              <a:t>name</a:t>
            </a:r>
            <a:r>
              <a:rPr sz="15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500">
                <a:solidFill>
                  <a:srgbClr val="795E26"/>
                </a:solidFill>
                <a:latin typeface="Courier New"/>
              </a:rPr>
              <a:t>print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001080"/>
                </a:solidFill>
                <a:latin typeface="Courier New"/>
              </a:rPr>
              <a:t>year</a:t>
            </a:r>
            <a:r>
              <a:rPr sz="15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5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user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01080"/>
                </a:solidFill>
                <a:latin typeface="Courier New"/>
              </a:rPr>
              <a:t>domain</a:t>
            </a:r>
            <a:r>
              <a:rPr sz="1500">
                <a:solidFill>
                  <a:srgbClr val="000000"/>
                </a:solidFill>
                <a:latin typeface="Courier New"/>
              </a:rPr>
              <a:t> = </a:t>
            </a:r>
            <a:r>
              <a:rPr sz="1500">
                <a:solidFill>
                  <a:srgbClr val="A31515"/>
                </a:solidFill>
                <a:latin typeface="Courier New"/>
              </a:rPr>
              <a:t>"ada@python.org"</a:t>
            </a:r>
            <a:r>
              <a:rPr sz="1500">
                <a:solidFill>
                  <a:srgbClr val="000000"/>
                </a:solidFill>
                <a:latin typeface="Courier New"/>
              </a:rPr>
              <a:t>.</a:t>
            </a:r>
            <a:r>
              <a:rPr sz="1500">
                <a:solidFill>
                  <a:srgbClr val="795E26"/>
                </a:solidFill>
                <a:latin typeface="Courier New"/>
              </a:rPr>
              <a:t>split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A31515"/>
                </a:solidFill>
                <a:latin typeface="Courier New"/>
              </a:rPr>
              <a:t>"@"</a:t>
            </a:r>
            <a:r>
              <a:rPr sz="15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500">
                <a:solidFill>
                  <a:srgbClr val="795E26"/>
                </a:solidFill>
                <a:latin typeface="Courier New"/>
              </a:rPr>
              <a:t>print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001080"/>
                </a:solidFill>
                <a:latin typeface="Courier New"/>
              </a:rPr>
              <a:t>user</a:t>
            </a:r>
            <a:r>
              <a:rPr sz="15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500">
                <a:solidFill>
                  <a:srgbClr val="795E26"/>
                </a:solidFill>
                <a:latin typeface="Courier New"/>
              </a:rPr>
              <a:t>print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001080"/>
                </a:solidFill>
                <a:latin typeface="Courier New"/>
              </a:rPr>
              <a:t>domain</a:t>
            </a:r>
            <a:r>
              <a:rPr sz="15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309360" y="3674745"/>
            <a:ext cx="1584960" cy="1207008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Ada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1815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ada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python.org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TANGENT!: </a:t>
            </a:r>
            <a:r>
              <a:rPr dirty="0"/>
              <a:t>SWAP TWO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 dirty="0">
                <a:latin typeface="Courier New"/>
              </a:rPr>
              <a:t>a</a:t>
            </a:r>
            <a:r>
              <a:rPr sz="2000" dirty="0"/>
              <a:t> refers to </a:t>
            </a:r>
            <a:r>
              <a:rPr sz="2000" dirty="0">
                <a:latin typeface="Courier New"/>
              </a:rPr>
              <a:t>1</a:t>
            </a:r>
            <a:r>
              <a:rPr sz="2000" dirty="0"/>
              <a:t> and </a:t>
            </a:r>
            <a:r>
              <a:rPr sz="2000" dirty="0">
                <a:latin typeface="Courier New"/>
              </a:rPr>
              <a:t>b</a:t>
            </a:r>
            <a:r>
              <a:rPr sz="2000" dirty="0"/>
              <a:t> refers to </a:t>
            </a:r>
            <a:r>
              <a:rPr sz="2000" dirty="0">
                <a:latin typeface="Courier New"/>
              </a:rPr>
              <a:t>2</a:t>
            </a:r>
          </a:p>
          <a:p>
            <a:r>
              <a:rPr sz="2000" dirty="0"/>
              <a:t>Write code that swaps them: afterward </a:t>
            </a:r>
            <a:r>
              <a:rPr sz="2000" dirty="0">
                <a:latin typeface="Courier New"/>
              </a:rPr>
              <a:t>a</a:t>
            </a:r>
            <a:r>
              <a:rPr sz="2000" dirty="0"/>
              <a:t> is </a:t>
            </a:r>
            <a:r>
              <a:rPr sz="2000" dirty="0">
                <a:latin typeface="Courier New"/>
              </a:rPr>
              <a:t>2</a:t>
            </a:r>
            <a:r>
              <a:rPr sz="2000" dirty="0"/>
              <a:t> and </a:t>
            </a:r>
            <a:r>
              <a:rPr sz="2000" dirty="0">
                <a:latin typeface="Courier New"/>
              </a:rPr>
              <a:t>b</a:t>
            </a:r>
            <a:r>
              <a:rPr sz="2000" dirty="0"/>
              <a:t> is </a:t>
            </a:r>
            <a:r>
              <a:rPr sz="2000" dirty="0">
                <a:latin typeface="Courier New"/>
              </a:rPr>
              <a:t>1</a:t>
            </a:r>
          </a:p>
          <a:p>
            <a:r>
              <a:rPr sz="2000" dirty="0"/>
              <a:t>Work it out on paper first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2545080" cy="129844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</a:p>
          <a:p>
            <a:pPr algn="l"/>
            <a:r>
              <a:rPr sz="1600">
                <a:solidFill>
                  <a:srgbClr val="008000"/>
                </a:solidFill>
                <a:latin typeface="Courier New"/>
              </a:rPr>
              <a:t># your code here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5" name="Caption"/>
          <p:cNvSpPr txBox="1"/>
          <p:nvPr/>
        </p:nvSpPr>
        <p:spPr>
          <a:xfrm>
            <a:off x="6812280" y="299008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should print:</a:t>
            </a:r>
          </a:p>
        </p:txBody>
      </p:sp>
      <p:sp>
        <p:nvSpPr>
          <p:cNvPr id="6" name="Output"/>
          <p:cNvSpPr txBox="1"/>
          <p:nvPr/>
        </p:nvSpPr>
        <p:spPr>
          <a:xfrm>
            <a:off x="6675120" y="3282696"/>
            <a:ext cx="822960" cy="301752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2 1</a:t>
            </a:r>
          </a:p>
        </p:txBody>
      </p:sp>
      <p:sp>
        <p:nvSpPr>
          <p:cNvPr id="7" name="Caption"/>
          <p:cNvSpPr txBox="1"/>
          <p:nvPr/>
        </p:nvSpPr>
        <p:spPr>
          <a:xfrm>
            <a:off x="1280160" y="397764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i="1">
                <a:solidFill>
                  <a:srgbClr val="595959"/>
                </a:solidFill>
              </a:rPr>
              <a:t>before</a:t>
            </a:r>
          </a:p>
        </p:txBody>
      </p:sp>
      <p:sp>
        <p:nvSpPr>
          <p:cNvPr id="8" name="Caption"/>
          <p:cNvSpPr txBox="1"/>
          <p:nvPr/>
        </p:nvSpPr>
        <p:spPr>
          <a:xfrm>
            <a:off x="1280160" y="4361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a</a:t>
            </a:r>
          </a:p>
        </p:txBody>
      </p:sp>
      <p:sp>
        <p:nvSpPr>
          <p:cNvPr id="9" name="Caption"/>
          <p:cNvSpPr txBox="1"/>
          <p:nvPr/>
        </p:nvSpPr>
        <p:spPr>
          <a:xfrm>
            <a:off x="1280160" y="50932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b</a:t>
            </a:r>
          </a:p>
        </p:txBody>
      </p:sp>
      <p:sp>
        <p:nvSpPr>
          <p:cNvPr id="10" name="Box"/>
          <p:cNvSpPr/>
          <p:nvPr/>
        </p:nvSpPr>
        <p:spPr>
          <a:xfrm>
            <a:off x="2651760" y="4343400"/>
            <a:ext cx="6400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1</a:t>
            </a:r>
          </a:p>
        </p:txBody>
      </p:sp>
      <p:sp>
        <p:nvSpPr>
          <p:cNvPr id="11" name="Box"/>
          <p:cNvSpPr/>
          <p:nvPr/>
        </p:nvSpPr>
        <p:spPr>
          <a:xfrm>
            <a:off x="2651760" y="5074920"/>
            <a:ext cx="6400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2</a:t>
            </a:r>
          </a:p>
        </p:txBody>
      </p:sp>
      <p:cxnSp>
        <p:nvCxnSpPr>
          <p:cNvPr id="12" name="Reference"/>
          <p:cNvCxnSpPr/>
          <p:nvPr/>
        </p:nvCxnSpPr>
        <p:spPr>
          <a:xfrm>
            <a:off x="1737360" y="4549140"/>
            <a:ext cx="91440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eference"/>
          <p:cNvCxnSpPr/>
          <p:nvPr/>
        </p:nvCxnSpPr>
        <p:spPr>
          <a:xfrm>
            <a:off x="1737360" y="5280660"/>
            <a:ext cx="91440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ption"/>
          <p:cNvSpPr txBox="1"/>
          <p:nvPr/>
        </p:nvSpPr>
        <p:spPr>
          <a:xfrm>
            <a:off x="4206240" y="397764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i="1">
                <a:solidFill>
                  <a:srgbClr val="595959"/>
                </a:solidFill>
              </a:rPr>
              <a:t>goal</a:t>
            </a:r>
          </a:p>
        </p:txBody>
      </p:sp>
      <p:sp>
        <p:nvSpPr>
          <p:cNvPr id="15" name="Caption"/>
          <p:cNvSpPr txBox="1"/>
          <p:nvPr/>
        </p:nvSpPr>
        <p:spPr>
          <a:xfrm>
            <a:off x="4206240" y="4361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a</a:t>
            </a:r>
          </a:p>
        </p:txBody>
      </p:sp>
      <p:sp>
        <p:nvSpPr>
          <p:cNvPr id="16" name="Caption"/>
          <p:cNvSpPr txBox="1"/>
          <p:nvPr/>
        </p:nvSpPr>
        <p:spPr>
          <a:xfrm>
            <a:off x="4206240" y="50932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b</a:t>
            </a:r>
          </a:p>
        </p:txBody>
      </p:sp>
      <p:sp>
        <p:nvSpPr>
          <p:cNvPr id="17" name="Box"/>
          <p:cNvSpPr/>
          <p:nvPr/>
        </p:nvSpPr>
        <p:spPr>
          <a:xfrm>
            <a:off x="5577840" y="4343400"/>
            <a:ext cx="6400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1</a:t>
            </a:r>
          </a:p>
        </p:txBody>
      </p:sp>
      <p:sp>
        <p:nvSpPr>
          <p:cNvPr id="18" name="Box"/>
          <p:cNvSpPr/>
          <p:nvPr/>
        </p:nvSpPr>
        <p:spPr>
          <a:xfrm>
            <a:off x="5577840" y="5074920"/>
            <a:ext cx="6400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2</a:t>
            </a:r>
          </a:p>
        </p:txBody>
      </p:sp>
      <p:cxnSp>
        <p:nvCxnSpPr>
          <p:cNvPr id="19" name="Reference"/>
          <p:cNvCxnSpPr/>
          <p:nvPr/>
        </p:nvCxnSpPr>
        <p:spPr>
          <a:xfrm>
            <a:off x="4663440" y="4549140"/>
            <a:ext cx="914400" cy="7315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ference"/>
          <p:cNvCxnSpPr/>
          <p:nvPr/>
        </p:nvCxnSpPr>
        <p:spPr>
          <a:xfrm flipV="1">
            <a:off x="4663440" y="4549140"/>
            <a:ext cx="914400" cy="7315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TANGENT!: </a:t>
            </a:r>
            <a:r>
              <a:rPr dirty="0"/>
              <a:t>SWAPPING: ONE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10058400" cy="1005840"/>
          </a:xfrm>
        </p:spPr>
        <p:txBody>
          <a:bodyPr/>
          <a:lstStyle/>
          <a:p>
            <a:r>
              <a:rPr sz="2000"/>
              <a:t>The first try loses a value: after </a:t>
            </a:r>
            <a:r>
              <a:rPr sz="2000">
                <a:latin typeface="Courier New"/>
              </a:rPr>
              <a:t>a = b</a:t>
            </a:r>
            <a:r>
              <a:rPr sz="2000"/>
              <a:t>, nothing refers to </a:t>
            </a:r>
            <a:r>
              <a:rPr sz="2000">
                <a:latin typeface="Courier New"/>
              </a:rPr>
              <a:t>1</a:t>
            </a:r>
          </a:p>
          <a:p>
            <a:r>
              <a:rPr sz="2000"/>
              <a:t>Fix: save one value in a third variable before you overwrite it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841248" y="26060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i="1">
                <a:solidFill>
                  <a:srgbClr val="595959"/>
                </a:solidFill>
              </a:rPr>
              <a:t>first try</a:t>
            </a:r>
          </a:p>
        </p:txBody>
      </p:sp>
      <p:sp>
        <p:nvSpPr>
          <p:cNvPr id="5" name="Code"/>
          <p:cNvSpPr/>
          <p:nvPr/>
        </p:nvSpPr>
        <p:spPr>
          <a:xfrm>
            <a:off x="841248" y="2971800"/>
            <a:ext cx="2377440" cy="157276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6" name="Output"/>
          <p:cNvSpPr txBox="1"/>
          <p:nvPr/>
        </p:nvSpPr>
        <p:spPr>
          <a:xfrm>
            <a:off x="841248" y="4617720"/>
            <a:ext cx="822960" cy="301752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2 2</a:t>
            </a:r>
          </a:p>
        </p:txBody>
      </p:sp>
      <p:sp>
        <p:nvSpPr>
          <p:cNvPr id="7" name="Caption"/>
          <p:cNvSpPr txBox="1"/>
          <p:nvPr/>
        </p:nvSpPr>
        <p:spPr>
          <a:xfrm>
            <a:off x="6400800" y="260604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i="1">
                <a:solidFill>
                  <a:srgbClr val="595959"/>
                </a:solidFill>
              </a:rPr>
              <a:t>with a temporary variable</a:t>
            </a:r>
          </a:p>
        </p:txBody>
      </p:sp>
      <p:sp>
        <p:nvSpPr>
          <p:cNvPr id="8" name="Code"/>
          <p:cNvSpPr/>
          <p:nvPr/>
        </p:nvSpPr>
        <p:spPr>
          <a:xfrm>
            <a:off x="6400800" y="2971800"/>
            <a:ext cx="2377440" cy="184708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temp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01080"/>
                </a:solidFill>
                <a:latin typeface="Courier New"/>
              </a:rPr>
              <a:t>temp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9" name="Output"/>
          <p:cNvSpPr txBox="1"/>
          <p:nvPr/>
        </p:nvSpPr>
        <p:spPr>
          <a:xfrm>
            <a:off x="6400800" y="4892040"/>
            <a:ext cx="822960" cy="301752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2 1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3566160" y="301752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i="1">
                <a:solidFill>
                  <a:srgbClr val="595959"/>
                </a:solidFill>
              </a:rPr>
              <a:t>after a = b</a:t>
            </a:r>
          </a:p>
        </p:txBody>
      </p:sp>
      <p:sp>
        <p:nvSpPr>
          <p:cNvPr id="11" name="Caption"/>
          <p:cNvSpPr txBox="1"/>
          <p:nvPr/>
        </p:nvSpPr>
        <p:spPr>
          <a:xfrm>
            <a:off x="3566160" y="34015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a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3566160" y="41330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b</a:t>
            </a:r>
          </a:p>
        </p:txBody>
      </p:sp>
      <p:sp>
        <p:nvSpPr>
          <p:cNvPr id="13" name="Box"/>
          <p:cNvSpPr/>
          <p:nvPr/>
        </p:nvSpPr>
        <p:spPr>
          <a:xfrm>
            <a:off x="4937760" y="3383280"/>
            <a:ext cx="6400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A6A6A6"/>
                </a:solidFill>
                <a:latin typeface="Courier New"/>
              </a:rPr>
              <a:t>1</a:t>
            </a:r>
          </a:p>
        </p:txBody>
      </p:sp>
      <p:sp>
        <p:nvSpPr>
          <p:cNvPr id="14" name="Box"/>
          <p:cNvSpPr/>
          <p:nvPr/>
        </p:nvSpPr>
        <p:spPr>
          <a:xfrm>
            <a:off x="4937760" y="4114800"/>
            <a:ext cx="6400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2</a:t>
            </a:r>
          </a:p>
        </p:txBody>
      </p:sp>
      <p:cxnSp>
        <p:nvCxnSpPr>
          <p:cNvPr id="15" name="Reference"/>
          <p:cNvCxnSpPr/>
          <p:nvPr/>
        </p:nvCxnSpPr>
        <p:spPr>
          <a:xfrm>
            <a:off x="4023360" y="3589020"/>
            <a:ext cx="914400" cy="7315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eference"/>
          <p:cNvCxnSpPr/>
          <p:nvPr/>
        </p:nvCxnSpPr>
        <p:spPr>
          <a:xfrm>
            <a:off x="4023360" y="4320540"/>
            <a:ext cx="91440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ption"/>
          <p:cNvSpPr txBox="1"/>
          <p:nvPr/>
        </p:nvSpPr>
        <p:spPr>
          <a:xfrm>
            <a:off x="5650992" y="338328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no longer</a:t>
            </a:r>
          </a:p>
          <a:p>
            <a:pPr algn="l"/>
            <a:r>
              <a:rPr sz="1200">
                <a:solidFill>
                  <a:srgbClr val="595959"/>
                </a:solidFill>
              </a:rPr>
              <a:t>referred to</a:t>
            </a:r>
          </a:p>
        </p:txBody>
      </p:sp>
      <p:sp>
        <p:nvSpPr>
          <p:cNvPr id="18" name="Caption"/>
          <p:cNvSpPr txBox="1"/>
          <p:nvPr/>
        </p:nvSpPr>
        <p:spPr>
          <a:xfrm>
            <a:off x="9235440" y="301752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i="1">
                <a:solidFill>
                  <a:srgbClr val="595959"/>
                </a:solidFill>
              </a:rPr>
              <a:t>after temp = a</a:t>
            </a:r>
          </a:p>
        </p:txBody>
      </p:sp>
      <p:sp>
        <p:nvSpPr>
          <p:cNvPr id="19" name="Caption"/>
          <p:cNvSpPr txBox="1"/>
          <p:nvPr/>
        </p:nvSpPr>
        <p:spPr>
          <a:xfrm>
            <a:off x="8961120" y="3401568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a</a:t>
            </a:r>
          </a:p>
        </p:txBody>
      </p:sp>
      <p:sp>
        <p:nvSpPr>
          <p:cNvPr id="20" name="Caption"/>
          <p:cNvSpPr txBox="1"/>
          <p:nvPr/>
        </p:nvSpPr>
        <p:spPr>
          <a:xfrm>
            <a:off x="8961120" y="3950208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temp</a:t>
            </a:r>
          </a:p>
        </p:txBody>
      </p:sp>
      <p:sp>
        <p:nvSpPr>
          <p:cNvPr id="21" name="Caption"/>
          <p:cNvSpPr txBox="1"/>
          <p:nvPr/>
        </p:nvSpPr>
        <p:spPr>
          <a:xfrm>
            <a:off x="8961120" y="4498848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b</a:t>
            </a:r>
          </a:p>
        </p:txBody>
      </p:sp>
      <p:sp>
        <p:nvSpPr>
          <p:cNvPr id="22" name="Box"/>
          <p:cNvSpPr/>
          <p:nvPr/>
        </p:nvSpPr>
        <p:spPr>
          <a:xfrm>
            <a:off x="10607040" y="3383280"/>
            <a:ext cx="6400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1</a:t>
            </a:r>
          </a:p>
        </p:txBody>
      </p:sp>
      <p:sp>
        <p:nvSpPr>
          <p:cNvPr id="23" name="Box"/>
          <p:cNvSpPr/>
          <p:nvPr/>
        </p:nvSpPr>
        <p:spPr>
          <a:xfrm>
            <a:off x="10607040" y="4480560"/>
            <a:ext cx="6400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2</a:t>
            </a:r>
          </a:p>
        </p:txBody>
      </p:sp>
      <p:cxnSp>
        <p:nvCxnSpPr>
          <p:cNvPr id="24" name="Reference"/>
          <p:cNvCxnSpPr/>
          <p:nvPr/>
        </p:nvCxnSpPr>
        <p:spPr>
          <a:xfrm>
            <a:off x="9692640" y="3589020"/>
            <a:ext cx="91440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ference"/>
          <p:cNvCxnSpPr/>
          <p:nvPr/>
        </p:nvCxnSpPr>
        <p:spPr>
          <a:xfrm flipV="1">
            <a:off x="9692640" y="3657600"/>
            <a:ext cx="914400" cy="48006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eference"/>
          <p:cNvCxnSpPr/>
          <p:nvPr/>
        </p:nvCxnSpPr>
        <p:spPr>
          <a:xfrm>
            <a:off x="9692640" y="4686300"/>
            <a:ext cx="91440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SWAPPING WITH TUPLE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/>
              <a:t>Python works out the whole right side first, then assigns</a:t>
            </a:r>
          </a:p>
          <a:p>
            <a:r>
              <a:rPr sz="2000"/>
              <a:t>So </a:t>
            </a:r>
            <a:r>
              <a:rPr sz="2000">
                <a:latin typeface="Courier New"/>
              </a:rPr>
              <a:t>a, b = b, a</a:t>
            </a:r>
            <a:r>
              <a:rPr sz="2000"/>
              <a:t> swaps two variables in one line</a:t>
            </a:r>
          </a:p>
          <a:p>
            <a:r>
              <a:rPr sz="2000"/>
              <a:t>No temporary variable needed</a:t>
            </a:r>
          </a:p>
        </p:txBody>
      </p:sp>
      <p:sp>
        <p:nvSpPr>
          <p:cNvPr id="6" name="Code"/>
          <p:cNvSpPr/>
          <p:nvPr/>
        </p:nvSpPr>
        <p:spPr>
          <a:xfrm>
            <a:off x="6675120" y="1600200"/>
            <a:ext cx="2377440" cy="129844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a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b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7" name="Output"/>
          <p:cNvSpPr txBox="1"/>
          <p:nvPr/>
        </p:nvSpPr>
        <p:spPr>
          <a:xfrm>
            <a:off x="6675120" y="2971800"/>
            <a:ext cx="822960" cy="301752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2 1</a:t>
            </a:r>
          </a:p>
        </p:txBody>
      </p:sp>
      <p:sp>
        <p:nvSpPr>
          <p:cNvPr id="8" name="Caption"/>
          <p:cNvSpPr txBox="1"/>
          <p:nvPr/>
        </p:nvSpPr>
        <p:spPr>
          <a:xfrm>
            <a:off x="6035040" y="42519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i="1">
                <a:solidFill>
                  <a:srgbClr val="595959"/>
                </a:solidFill>
              </a:rPr>
              <a:t>before</a:t>
            </a:r>
          </a:p>
        </p:txBody>
      </p:sp>
      <p:sp>
        <p:nvSpPr>
          <p:cNvPr id="9" name="Caption"/>
          <p:cNvSpPr txBox="1"/>
          <p:nvPr/>
        </p:nvSpPr>
        <p:spPr>
          <a:xfrm>
            <a:off x="6035040" y="46177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a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035040" y="5349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b</a:t>
            </a:r>
          </a:p>
        </p:txBody>
      </p:sp>
      <p:sp>
        <p:nvSpPr>
          <p:cNvPr id="11" name="Box"/>
          <p:cNvSpPr/>
          <p:nvPr/>
        </p:nvSpPr>
        <p:spPr>
          <a:xfrm>
            <a:off x="7406640" y="4599432"/>
            <a:ext cx="6400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1</a:t>
            </a:r>
          </a:p>
        </p:txBody>
      </p:sp>
      <p:sp>
        <p:nvSpPr>
          <p:cNvPr id="12" name="Box"/>
          <p:cNvSpPr/>
          <p:nvPr/>
        </p:nvSpPr>
        <p:spPr>
          <a:xfrm>
            <a:off x="7406640" y="5330952"/>
            <a:ext cx="6400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2</a:t>
            </a:r>
          </a:p>
        </p:txBody>
      </p:sp>
      <p:cxnSp>
        <p:nvCxnSpPr>
          <p:cNvPr id="13" name="Reference"/>
          <p:cNvCxnSpPr/>
          <p:nvPr/>
        </p:nvCxnSpPr>
        <p:spPr>
          <a:xfrm>
            <a:off x="6492240" y="4800600"/>
            <a:ext cx="91440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ference"/>
          <p:cNvCxnSpPr/>
          <p:nvPr/>
        </p:nvCxnSpPr>
        <p:spPr>
          <a:xfrm>
            <a:off x="6492240" y="5532120"/>
            <a:ext cx="91440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ption"/>
          <p:cNvSpPr txBox="1"/>
          <p:nvPr/>
        </p:nvSpPr>
        <p:spPr>
          <a:xfrm>
            <a:off x="8869680" y="42519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i="1">
                <a:solidFill>
                  <a:srgbClr val="595959"/>
                </a:solidFill>
              </a:rPr>
              <a:t>after</a:t>
            </a:r>
          </a:p>
        </p:txBody>
      </p:sp>
      <p:sp>
        <p:nvSpPr>
          <p:cNvPr id="16" name="Caption"/>
          <p:cNvSpPr txBox="1"/>
          <p:nvPr/>
        </p:nvSpPr>
        <p:spPr>
          <a:xfrm>
            <a:off x="8869680" y="46177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a</a:t>
            </a:r>
          </a:p>
        </p:txBody>
      </p:sp>
      <p:sp>
        <p:nvSpPr>
          <p:cNvPr id="17" name="Caption"/>
          <p:cNvSpPr txBox="1"/>
          <p:nvPr/>
        </p:nvSpPr>
        <p:spPr>
          <a:xfrm>
            <a:off x="8869680" y="5349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>
                <a:solidFill>
                  <a:srgbClr val="000000"/>
                </a:solidFill>
                <a:latin typeface="Courier New"/>
              </a:rPr>
              <a:t>b</a:t>
            </a:r>
          </a:p>
        </p:txBody>
      </p:sp>
      <p:sp>
        <p:nvSpPr>
          <p:cNvPr id="18" name="Box"/>
          <p:cNvSpPr/>
          <p:nvPr/>
        </p:nvSpPr>
        <p:spPr>
          <a:xfrm>
            <a:off x="10241280" y="4599432"/>
            <a:ext cx="6400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1</a:t>
            </a:r>
          </a:p>
        </p:txBody>
      </p:sp>
      <p:sp>
        <p:nvSpPr>
          <p:cNvPr id="19" name="Box"/>
          <p:cNvSpPr/>
          <p:nvPr/>
        </p:nvSpPr>
        <p:spPr>
          <a:xfrm>
            <a:off x="10241280" y="5330952"/>
            <a:ext cx="64008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2</a:t>
            </a:r>
          </a:p>
        </p:txBody>
      </p:sp>
      <p:cxnSp>
        <p:nvCxnSpPr>
          <p:cNvPr id="20" name="Reference"/>
          <p:cNvCxnSpPr/>
          <p:nvPr/>
        </p:nvCxnSpPr>
        <p:spPr>
          <a:xfrm>
            <a:off x="9326880" y="4800600"/>
            <a:ext cx="914400" cy="7315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ference"/>
          <p:cNvCxnSpPr/>
          <p:nvPr/>
        </p:nvCxnSpPr>
        <p:spPr>
          <a:xfrm flipV="1">
            <a:off x="9326880" y="4800600"/>
            <a:ext cx="914400" cy="7315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BUG YOU'LL WRITE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4919472" cy="2743200"/>
          </a:xfrm>
        </p:spPr>
        <p:txBody>
          <a:bodyPr/>
          <a:lstStyle/>
          <a:p>
            <a:r>
              <a:rPr sz="2000"/>
              <a:t>The number of variables on the left has to match the number of values on the right</a:t>
            </a:r>
          </a:p>
          <a:p>
            <a:r>
              <a:rPr sz="2000"/>
              <a:t>Too many values, or too few, is a </a:t>
            </a:r>
            <a:r>
              <a:rPr sz="2000">
                <a:latin typeface="Courier New"/>
              </a:rPr>
              <a:t>ValueError</a:t>
            </a:r>
          </a:p>
          <a:p>
            <a:r>
              <a:rPr sz="2000"/>
              <a:t>The message says how many it expected</a:t>
            </a:r>
          </a:p>
          <a:p>
            <a:r>
              <a:rPr sz="2000"/>
              <a:t>When you see it, print the value and check its shape</a:t>
            </a:r>
          </a:p>
        </p:txBody>
      </p:sp>
      <p:sp>
        <p:nvSpPr>
          <p:cNvPr id="4" name="Code"/>
          <p:cNvSpPr/>
          <p:nvPr/>
        </p:nvSpPr>
        <p:spPr>
          <a:xfrm>
            <a:off x="6035040" y="1600200"/>
            <a:ext cx="4983480" cy="47548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name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year</a:t>
            </a:r>
            <a:r>
              <a:rPr sz="1600">
                <a:solidFill>
                  <a:srgbClr val="000000"/>
                </a:solidFill>
                <a:latin typeface="Courier New"/>
              </a:rPr>
              <a:t> = (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1815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"London"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035040" y="2148840"/>
            <a:ext cx="4876800" cy="603504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C62828"/>
                </a:solidFill>
                <a:latin typeface="Courier New"/>
              </a:rPr>
              <a:t>ValueError: too many values to unpack</a:t>
            </a:r>
          </a:p>
          <a:p>
            <a:r>
              <a:rPr sz="1600">
                <a:solidFill>
                  <a:srgbClr val="C62828"/>
                </a:solidFill>
                <a:latin typeface="Courier New"/>
              </a:rPr>
              <a:t>(expected 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LOOPING WITH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>
                <a:latin typeface="Courier New"/>
              </a:rPr>
              <a:t>items()</a:t>
            </a:r>
            <a:r>
              <a:rPr sz="2000"/>
              <a:t> gives a dictionary's items as (key, value) tuples</a:t>
            </a:r>
          </a:p>
          <a:p>
            <a:r>
              <a:rPr sz="2000"/>
              <a:t>Tuple assignment in the </a:t>
            </a:r>
            <a:r>
              <a:rPr sz="2000">
                <a:latin typeface="Courier New"/>
              </a:rPr>
              <a:t>for</a:t>
            </a:r>
            <a:r>
              <a:rPr sz="2000"/>
              <a:t> line unpacks each one</a:t>
            </a:r>
          </a:p>
          <a:p>
            <a:r>
              <a:rPr sz="2000"/>
              <a:t>Keys and values together, no lookup inside the loop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4739640" cy="157276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rooms</a:t>
            </a:r>
            <a:r>
              <a:rPr sz="1600">
                <a:solidFill>
                  <a:srgbClr val="000000"/>
                </a:solidFill>
                <a:latin typeface="Courier New"/>
              </a:rPr>
              <a:t> = {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: </a:t>
            </a:r>
            <a:r>
              <a:rPr sz="1600">
                <a:solidFill>
                  <a:srgbClr val="098658"/>
                </a:solidFill>
                <a:latin typeface="Courier New"/>
              </a:rPr>
              <a:t>137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"Grace"</a:t>
            </a:r>
            <a:r>
              <a:rPr sz="1600">
                <a:solidFill>
                  <a:srgbClr val="000000"/>
                </a:solidFill>
                <a:latin typeface="Courier New"/>
              </a:rPr>
              <a:t>: </a:t>
            </a:r>
            <a:r>
              <a:rPr sz="1600">
                <a:solidFill>
                  <a:srgbClr val="098658"/>
                </a:solidFill>
                <a:latin typeface="Courier New"/>
              </a:rPr>
              <a:t>204</a:t>
            </a:r>
            <a:r>
              <a:rPr sz="16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list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rooms</a:t>
            </a:r>
            <a:r>
              <a:rPr sz="1600">
                <a:solidFill>
                  <a:srgbClr val="000000"/>
                </a:solidFill>
                <a:latin typeface="Courier New"/>
              </a:rPr>
              <a:t>.</a:t>
            </a:r>
            <a:r>
              <a:rPr sz="1600">
                <a:solidFill>
                  <a:srgbClr val="795E26"/>
                </a:solidFill>
                <a:latin typeface="Courier New"/>
              </a:rPr>
              <a:t>items</a:t>
            </a:r>
            <a:r>
              <a:rPr sz="1600">
                <a:solidFill>
                  <a:srgbClr val="000000"/>
                </a:solidFill>
                <a:latin typeface="Courier New"/>
              </a:rPr>
              <a:t>()))</a:t>
            </a:r>
          </a:p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urier New"/>
              </a:rPr>
              <a:t>for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001080"/>
                </a:solidFill>
                <a:latin typeface="Courier New"/>
              </a:rPr>
              <a:t>name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room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0000FF"/>
                </a:solidFill>
                <a:latin typeface="Courier New"/>
              </a:rPr>
              <a:t>in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001080"/>
                </a:solidFill>
                <a:latin typeface="Courier New"/>
              </a:rPr>
              <a:t>rooms</a:t>
            </a:r>
            <a:r>
              <a:rPr sz="1600">
                <a:solidFill>
                  <a:srgbClr val="000000"/>
                </a:solidFill>
                <a:latin typeface="Courier New"/>
              </a:rPr>
              <a:t>.</a:t>
            </a:r>
            <a:r>
              <a:rPr sz="1600">
                <a:solidFill>
                  <a:srgbClr val="795E26"/>
                </a:solidFill>
                <a:latin typeface="Courier New"/>
              </a:rPr>
              <a:t>items</a:t>
            </a:r>
            <a:r>
              <a:rPr sz="1600">
                <a:solidFill>
                  <a:srgbClr val="000000"/>
                </a:solidFill>
                <a:latin typeface="Courier New"/>
              </a:rPr>
              <a:t>():</a:t>
            </a:r>
          </a:p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    </a:t>
            </a:r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name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room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675120" y="3246120"/>
            <a:ext cx="4023360" cy="905256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[('Ada', 137), ('Grace', 204)]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Ada 137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Grace 204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RETURNING MORE THAN ONE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/>
              <a:t>A function can only return one value...</a:t>
            </a:r>
          </a:p>
          <a:p>
            <a:r>
              <a:rPr sz="2000"/>
              <a:t>...but that value can be a tuple</a:t>
            </a:r>
          </a:p>
          <a:p>
            <a:r>
              <a:rPr sz="2000"/>
              <a:t>Unpack it with tuple assignment where you call the function</a:t>
            </a:r>
          </a:p>
          <a:p>
            <a:r>
              <a:rPr sz="2000">
                <a:latin typeface="Courier New"/>
              </a:rPr>
              <a:t>divmod(a, b)</a:t>
            </a:r>
            <a:r>
              <a:rPr sz="2000"/>
              <a:t> returns </a:t>
            </a:r>
            <a:r>
              <a:rPr sz="2000">
                <a:latin typeface="Courier New"/>
              </a:rPr>
              <a:t>a // b</a:t>
            </a:r>
            <a:r>
              <a:rPr sz="2000"/>
              <a:t> and </a:t>
            </a:r>
            <a:r>
              <a:rPr sz="2000">
                <a:latin typeface="Courier New"/>
              </a:rPr>
              <a:t>a % b</a:t>
            </a:r>
            <a:r>
              <a:rPr sz="2000"/>
              <a:t> together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4617720" cy="267004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q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r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795E26"/>
                </a:solidFill>
                <a:latin typeface="Courier New"/>
              </a:rPr>
              <a:t>divmod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98658"/>
                </a:solidFill>
                <a:latin typeface="Courier New"/>
              </a:rPr>
              <a:t>7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q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r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urier New"/>
              </a:rPr>
              <a:t>def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795E26"/>
                </a:solidFill>
                <a:latin typeface="Courier New"/>
              </a:rPr>
              <a:t>min_max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t</a:t>
            </a:r>
            <a:r>
              <a:rPr sz="1600">
                <a:solidFill>
                  <a:srgbClr val="000000"/>
                </a:solidFill>
                <a:latin typeface="Courier New"/>
              </a:rPr>
              <a:t>):</a:t>
            </a:r>
          </a:p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    </a:t>
            </a:r>
            <a:r>
              <a:rPr sz="1600">
                <a:solidFill>
                  <a:srgbClr val="0000FF"/>
                </a:solidFill>
                <a:latin typeface="Courier New"/>
              </a:rPr>
              <a:t>return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795E26"/>
                </a:solidFill>
                <a:latin typeface="Courier New"/>
              </a:rPr>
              <a:t>min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t</a:t>
            </a:r>
            <a:r>
              <a:rPr sz="1600">
                <a:solidFill>
                  <a:srgbClr val="000000"/>
                </a:solidFill>
                <a:latin typeface="Courier New"/>
              </a:rPr>
              <a:t>), </a:t>
            </a:r>
            <a:r>
              <a:rPr sz="1600">
                <a:solidFill>
                  <a:srgbClr val="795E26"/>
                </a:solidFill>
                <a:latin typeface="Courier New"/>
              </a:rPr>
              <a:t>max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t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low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high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795E26"/>
                </a:solidFill>
                <a:latin typeface="Courier New"/>
              </a:rPr>
              <a:t>min_max</a:t>
            </a:r>
            <a:r>
              <a:rPr sz="1600">
                <a:solidFill>
                  <a:srgbClr val="000000"/>
                </a:solidFill>
                <a:latin typeface="Courier New"/>
              </a:rPr>
              <a:t>([</a:t>
            </a:r>
            <a:r>
              <a:rPr sz="1600">
                <a:solidFill>
                  <a:srgbClr val="098658"/>
                </a:solidFill>
                <a:latin typeface="Courier New"/>
              </a:rPr>
              <a:t>86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94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75</a:t>
            </a:r>
            <a:r>
              <a:rPr sz="1600">
                <a:solidFill>
                  <a:srgbClr val="000000"/>
                </a:solidFill>
                <a:latin typeface="Courier New"/>
              </a:rPr>
              <a:t>])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low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high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min_max</a:t>
            </a:r>
            <a:r>
              <a:rPr sz="1600">
                <a:solidFill>
                  <a:srgbClr val="000000"/>
                </a:solidFill>
                <a:latin typeface="Courier New"/>
              </a:rPr>
              <a:t>([</a:t>
            </a:r>
            <a:r>
              <a:rPr sz="1600">
                <a:solidFill>
                  <a:srgbClr val="098658"/>
                </a:solidFill>
                <a:latin typeface="Courier New"/>
              </a:rPr>
              <a:t>86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94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75</a:t>
            </a:r>
            <a:r>
              <a:rPr sz="1600">
                <a:solidFill>
                  <a:srgbClr val="000000"/>
                </a:solidFill>
                <a:latin typeface="Courier New"/>
              </a:rPr>
              <a:t>]))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675120" y="4343400"/>
            <a:ext cx="1341120" cy="905256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2 1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75 94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(75, 94)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PACKING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/>
              <a:t>A </a:t>
            </a:r>
            <a:r>
              <a:rPr sz="2000">
                <a:latin typeface="Courier New"/>
              </a:rPr>
              <a:t>*</a:t>
            </a:r>
            <a:r>
              <a:rPr sz="2000"/>
              <a:t> in front of a parameter packs all the arguments into one tuple</a:t>
            </a:r>
          </a:p>
          <a:p>
            <a:r>
              <a:rPr sz="2000"/>
              <a:t>So a function can take any number of arguments</a:t>
            </a:r>
          </a:p>
          <a:p>
            <a:r>
              <a:rPr sz="2000"/>
              <a:t>A </a:t>
            </a:r>
            <a:r>
              <a:rPr sz="2000">
                <a:latin typeface="Courier New"/>
              </a:rPr>
              <a:t>*</a:t>
            </a:r>
            <a:r>
              <a:rPr sz="2000"/>
              <a:t> in front of an argument does the reverse: it unpacks a sequence into separate arguments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4495800" cy="212140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00FF"/>
                </a:solidFill>
                <a:latin typeface="Courier New"/>
              </a:rPr>
              <a:t>def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795E26"/>
                </a:solidFill>
                <a:latin typeface="Courier New"/>
              </a:rPr>
              <a:t>mean</a:t>
            </a:r>
            <a:r>
              <a:rPr sz="1600">
                <a:solidFill>
                  <a:srgbClr val="000000"/>
                </a:solidFill>
                <a:latin typeface="Courier New"/>
              </a:rPr>
              <a:t>(*</a:t>
            </a:r>
            <a:r>
              <a:rPr sz="1600">
                <a:solidFill>
                  <a:srgbClr val="001080"/>
                </a:solidFill>
                <a:latin typeface="Courier New"/>
              </a:rPr>
              <a:t>args</a:t>
            </a:r>
            <a:r>
              <a:rPr sz="1600">
                <a:solidFill>
                  <a:srgbClr val="000000"/>
                </a:solidFill>
                <a:latin typeface="Courier New"/>
              </a:rPr>
              <a:t>):</a:t>
            </a:r>
          </a:p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    </a:t>
            </a:r>
            <a:r>
              <a:rPr sz="1600">
                <a:solidFill>
                  <a:srgbClr val="0000FF"/>
                </a:solidFill>
                <a:latin typeface="Courier New"/>
              </a:rPr>
              <a:t>return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795E26"/>
                </a:solidFill>
                <a:latin typeface="Courier New"/>
              </a:rPr>
              <a:t>sum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args</a:t>
            </a:r>
            <a:r>
              <a:rPr sz="1600">
                <a:solidFill>
                  <a:srgbClr val="000000"/>
                </a:solidFill>
                <a:latin typeface="Courier New"/>
              </a:rPr>
              <a:t>) / </a:t>
            </a:r>
            <a:r>
              <a:rPr sz="1600">
                <a:solidFill>
                  <a:srgbClr val="795E26"/>
                </a:solidFill>
                <a:latin typeface="Courier New"/>
              </a:rPr>
              <a:t>len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args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mean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scores</a:t>
            </a:r>
            <a:r>
              <a:rPr sz="1600">
                <a:solidFill>
                  <a:srgbClr val="000000"/>
                </a:solidFill>
                <a:latin typeface="Courier New"/>
              </a:rPr>
              <a:t> = [</a:t>
            </a:r>
            <a:r>
              <a:rPr sz="1600">
                <a:solidFill>
                  <a:srgbClr val="098658"/>
                </a:solidFill>
                <a:latin typeface="Courier New"/>
              </a:rPr>
              <a:t>86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94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75</a:t>
            </a:r>
            <a:r>
              <a:rPr sz="1600">
                <a:solidFill>
                  <a:srgbClr val="000000"/>
                </a:solidFill>
                <a:latin typeface="Courier New"/>
              </a:rPr>
              <a:t>]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mean</a:t>
            </a:r>
            <a:r>
              <a:rPr sz="1600">
                <a:solidFill>
                  <a:srgbClr val="000000"/>
                </a:solidFill>
                <a:latin typeface="Courier New"/>
              </a:rPr>
              <a:t>(*</a:t>
            </a:r>
            <a:r>
              <a:rPr sz="1600">
                <a:solidFill>
                  <a:srgbClr val="001080"/>
                </a:solidFill>
                <a:latin typeface="Courier New"/>
              </a:rPr>
              <a:t>scores</a:t>
            </a:r>
            <a:r>
              <a:rPr sz="1600">
                <a:solidFill>
                  <a:srgbClr val="000000"/>
                </a:solidFill>
                <a:latin typeface="Courier New"/>
              </a:rPr>
              <a:t>))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675120" y="3794760"/>
            <a:ext cx="853440" cy="603504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2.0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85.0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ZIP PAIRS THINGS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4553712" cy="2743200"/>
          </a:xfrm>
        </p:spPr>
        <p:txBody>
          <a:bodyPr/>
          <a:lstStyle/>
          <a:p>
            <a:r>
              <a:rPr sz="2000">
                <a:latin typeface="Courier New"/>
              </a:rPr>
              <a:t>zip</a:t>
            </a:r>
            <a:r>
              <a:rPr sz="2000"/>
              <a:t> takes two sequences and pairs up their elements, one from each</a:t>
            </a:r>
          </a:p>
          <a:p>
            <a:r>
              <a:rPr sz="2000"/>
              <a:t>It gives back a zip object, which hands out tuples when you loop over it</a:t>
            </a:r>
          </a:p>
          <a:p>
            <a:r>
              <a:rPr sz="2000"/>
              <a:t>Wrap it in </a:t>
            </a:r>
            <a:r>
              <a:rPr sz="2000">
                <a:latin typeface="Courier New"/>
              </a:rPr>
              <a:t>list</a:t>
            </a:r>
            <a:r>
              <a:rPr sz="2000"/>
              <a:t> to see them all</a:t>
            </a:r>
          </a:p>
        </p:txBody>
      </p:sp>
      <p:sp>
        <p:nvSpPr>
          <p:cNvPr id="4" name="Code"/>
          <p:cNvSpPr/>
          <p:nvPr/>
        </p:nvSpPr>
        <p:spPr>
          <a:xfrm>
            <a:off x="5669280" y="1600200"/>
            <a:ext cx="4495800" cy="129844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names</a:t>
            </a:r>
            <a:r>
              <a:rPr sz="1600">
                <a:solidFill>
                  <a:srgbClr val="000000"/>
                </a:solidFill>
                <a:latin typeface="Courier New"/>
              </a:rPr>
              <a:t> = [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"Grace"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"Alan"</a:t>
            </a:r>
            <a:r>
              <a:rPr sz="1600">
                <a:solidFill>
                  <a:srgbClr val="000000"/>
                </a:solidFill>
                <a:latin typeface="Courier New"/>
              </a:rPr>
              <a:t>]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years</a:t>
            </a:r>
            <a:r>
              <a:rPr sz="1600">
                <a:solidFill>
                  <a:srgbClr val="000000"/>
                </a:solidFill>
                <a:latin typeface="Courier New"/>
              </a:rPr>
              <a:t> = [</a:t>
            </a:r>
            <a:r>
              <a:rPr sz="1600">
                <a:solidFill>
                  <a:srgbClr val="098658"/>
                </a:solidFill>
                <a:latin typeface="Courier New"/>
              </a:rPr>
              <a:t>1815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1906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1912</a:t>
            </a:r>
            <a:r>
              <a:rPr sz="1600">
                <a:solidFill>
                  <a:srgbClr val="000000"/>
                </a:solidFill>
                <a:latin typeface="Courier New"/>
              </a:rPr>
              <a:t>]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zip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names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years</a:t>
            </a:r>
            <a:r>
              <a:rPr sz="160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list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zip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names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years</a:t>
            </a:r>
            <a:r>
              <a:rPr sz="1600">
                <a:solidFill>
                  <a:srgbClr val="000000"/>
                </a:solidFill>
                <a:latin typeface="Courier New"/>
              </a:rPr>
              <a:t>)))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5669280" y="2971800"/>
            <a:ext cx="6217920" cy="603504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&lt;zip object at 0x7f3a2c1e5b40&gt;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[('Ada', 1815), ('Grace', 1906), ('Alan', 1912)]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5806440" y="362102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i="1">
                <a:solidFill>
                  <a:srgbClr val="595959"/>
                </a:solidFill>
              </a:rPr>
              <a:t>(your address will differ)</a:t>
            </a:r>
          </a:p>
        </p:txBody>
      </p:sp>
      <p:sp>
        <p:nvSpPr>
          <p:cNvPr id="7" name="Caption"/>
          <p:cNvSpPr txBox="1"/>
          <p:nvPr/>
        </p:nvSpPr>
        <p:spPr>
          <a:xfrm>
            <a:off x="457200" y="44348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>
                <a:solidFill>
                  <a:srgbClr val="000000"/>
                </a:solidFill>
                <a:latin typeface="Courier New"/>
              </a:rPr>
              <a:t>names</a:t>
            </a:r>
          </a:p>
        </p:txBody>
      </p:sp>
      <p:sp>
        <p:nvSpPr>
          <p:cNvPr id="8" name="Box"/>
          <p:cNvSpPr/>
          <p:nvPr/>
        </p:nvSpPr>
        <p:spPr>
          <a:xfrm>
            <a:off x="1463040" y="4434840"/>
            <a:ext cx="10515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"Ada"</a:t>
            </a:r>
          </a:p>
        </p:txBody>
      </p:sp>
      <p:sp>
        <p:nvSpPr>
          <p:cNvPr id="9" name="Box"/>
          <p:cNvSpPr/>
          <p:nvPr/>
        </p:nvSpPr>
        <p:spPr>
          <a:xfrm>
            <a:off x="2514600" y="4434840"/>
            <a:ext cx="1051560" cy="411480"/>
          </a:xfrm>
          <a:prstGeom prst="rect">
            <a:avLst/>
          </a:prstGeom>
          <a:solidFill>
            <a:srgbClr val="EAF1FB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"Grace"</a:t>
            </a:r>
          </a:p>
        </p:txBody>
      </p:sp>
      <p:sp>
        <p:nvSpPr>
          <p:cNvPr id="10" name="Box"/>
          <p:cNvSpPr/>
          <p:nvPr/>
        </p:nvSpPr>
        <p:spPr>
          <a:xfrm>
            <a:off x="3566160" y="4434840"/>
            <a:ext cx="10515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"Alan"</a:t>
            </a:r>
          </a:p>
        </p:txBody>
      </p:sp>
      <p:sp>
        <p:nvSpPr>
          <p:cNvPr id="11" name="Caption"/>
          <p:cNvSpPr txBox="1"/>
          <p:nvPr/>
        </p:nvSpPr>
        <p:spPr>
          <a:xfrm>
            <a:off x="457200" y="52578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>
                <a:solidFill>
                  <a:srgbClr val="000000"/>
                </a:solidFill>
                <a:latin typeface="Courier New"/>
              </a:rPr>
              <a:t>years</a:t>
            </a:r>
          </a:p>
        </p:txBody>
      </p:sp>
      <p:sp>
        <p:nvSpPr>
          <p:cNvPr id="12" name="Box"/>
          <p:cNvSpPr/>
          <p:nvPr/>
        </p:nvSpPr>
        <p:spPr>
          <a:xfrm>
            <a:off x="1463040" y="5257800"/>
            <a:ext cx="10515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1815</a:t>
            </a:r>
          </a:p>
        </p:txBody>
      </p:sp>
      <p:sp>
        <p:nvSpPr>
          <p:cNvPr id="13" name="Box"/>
          <p:cNvSpPr/>
          <p:nvPr/>
        </p:nvSpPr>
        <p:spPr>
          <a:xfrm>
            <a:off x="2514600" y="5257800"/>
            <a:ext cx="1051560" cy="411480"/>
          </a:xfrm>
          <a:prstGeom prst="rect">
            <a:avLst/>
          </a:prstGeom>
          <a:solidFill>
            <a:srgbClr val="EAF1FB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1906</a:t>
            </a:r>
          </a:p>
        </p:txBody>
      </p:sp>
      <p:sp>
        <p:nvSpPr>
          <p:cNvPr id="14" name="Box"/>
          <p:cNvSpPr/>
          <p:nvPr/>
        </p:nvSpPr>
        <p:spPr>
          <a:xfrm>
            <a:off x="3566160" y="5257800"/>
            <a:ext cx="10515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1912</a:t>
            </a:r>
          </a:p>
        </p:txBody>
      </p:sp>
      <p:sp>
        <p:nvSpPr>
          <p:cNvPr id="15" name="Caption"/>
          <p:cNvSpPr txBox="1"/>
          <p:nvPr/>
        </p:nvSpPr>
        <p:spPr>
          <a:xfrm>
            <a:off x="1463040" y="576072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one from each list: ('Grace', 1906)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THE LENGTHS DON'T 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>
                <a:latin typeface="Courier New"/>
              </a:rPr>
              <a:t>zip</a:t>
            </a:r>
            <a:r>
              <a:rPr sz="2000"/>
              <a:t> works on any sequences, even a string and a list</a:t>
            </a:r>
          </a:p>
          <a:p>
            <a:r>
              <a:rPr sz="2000"/>
              <a:t>What if one is shorter than the other?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4739640" cy="102412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letters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A31515"/>
                </a:solidFill>
                <a:latin typeface="Courier New"/>
              </a:rPr>
              <a:t>"abcd"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numbers</a:t>
            </a:r>
            <a:r>
              <a:rPr sz="1600">
                <a:solidFill>
                  <a:srgbClr val="000000"/>
                </a:solidFill>
                <a:latin typeface="Courier New"/>
              </a:rPr>
              <a:t> = [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]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list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zip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letters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numbers</a:t>
            </a:r>
            <a:r>
              <a:rPr sz="1600">
                <a:solidFill>
                  <a:srgbClr val="000000"/>
                </a:solidFill>
                <a:latin typeface="Courier New"/>
              </a:rPr>
              <a:t>)))</a:t>
            </a:r>
          </a:p>
        </p:txBody>
      </p:sp>
      <p:sp>
        <p:nvSpPr>
          <p:cNvPr id="5" name="Pause"/>
          <p:cNvSpPr txBox="1"/>
          <p:nvPr/>
        </p:nvSpPr>
        <p:spPr>
          <a:xfrm>
            <a:off x="6675120" y="28529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4472C4"/>
                </a:solidFill>
              </a:rPr>
              <a:t>Predict: </a:t>
            </a:r>
            <a:r>
              <a:rPr sz="1400">
                <a:solidFill>
                  <a:srgbClr val="4472C4"/>
                </a:solidFill>
              </a:rPr>
              <a:t>what does the last line print?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THE LENGTHS DON'T 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>
                <a:latin typeface="Courier New"/>
              </a:rPr>
              <a:t>zip</a:t>
            </a:r>
            <a:r>
              <a:rPr sz="2000"/>
              <a:t> works on any sequences, even a string and a list</a:t>
            </a:r>
          </a:p>
          <a:p>
            <a:r>
              <a:rPr sz="2000"/>
              <a:t>What if one is shorter than the other?</a:t>
            </a:r>
          </a:p>
          <a:p>
            <a:r>
              <a:rPr sz="2000">
                <a:latin typeface="Courier New"/>
              </a:rPr>
              <a:t>zip</a:t>
            </a:r>
            <a:r>
              <a:rPr sz="2000"/>
              <a:t> </a:t>
            </a:r>
            <a:r>
              <a:rPr sz="2000" b="1"/>
              <a:t>stops as soon as the shorter one runs out</a:t>
            </a:r>
          </a:p>
          <a:p>
            <a:r>
              <a:rPr sz="2000"/>
              <a:t>The extra </a:t>
            </a:r>
            <a:r>
              <a:rPr sz="2000">
                <a:latin typeface="Courier New"/>
              </a:rPr>
              <a:t>"d"</a:t>
            </a:r>
            <a:r>
              <a:rPr sz="2000"/>
              <a:t> is ignored, with no error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4739640" cy="102412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letters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A31515"/>
                </a:solidFill>
                <a:latin typeface="Courier New"/>
              </a:rPr>
              <a:t>"abcd"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numbers</a:t>
            </a:r>
            <a:r>
              <a:rPr sz="1600">
                <a:solidFill>
                  <a:srgbClr val="000000"/>
                </a:solidFill>
                <a:latin typeface="Courier New"/>
              </a:rPr>
              <a:t> = [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]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list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zip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letters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numbers</a:t>
            </a:r>
            <a:r>
              <a:rPr sz="1600">
                <a:solidFill>
                  <a:srgbClr val="000000"/>
                </a:solidFill>
                <a:latin typeface="Courier New"/>
              </a:rPr>
              <a:t>)))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675120" y="2697480"/>
            <a:ext cx="4023360" cy="301752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[('a', 1), ('b', 2), ('c', 3)]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LOOPING OVER TWO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4553712" cy="2743200"/>
          </a:xfrm>
        </p:spPr>
        <p:txBody>
          <a:bodyPr/>
          <a:lstStyle/>
          <a:p>
            <a:r>
              <a:rPr sz="2000"/>
              <a:t>Loop over the zip object and unpack each pair</a:t>
            </a:r>
          </a:p>
          <a:p>
            <a:r>
              <a:rPr sz="2000"/>
              <a:t>Each time through, you get one element from each list</a:t>
            </a:r>
          </a:p>
          <a:p>
            <a:r>
              <a:rPr sz="2000"/>
              <a:t>Here: count the games team 1 won</a:t>
            </a:r>
          </a:p>
        </p:txBody>
      </p:sp>
      <p:sp>
        <p:nvSpPr>
          <p:cNvPr id="4" name="Code"/>
          <p:cNvSpPr/>
          <p:nvPr/>
        </p:nvSpPr>
        <p:spPr>
          <a:xfrm>
            <a:off x="5669280" y="1600200"/>
            <a:ext cx="5715000" cy="239572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scores1</a:t>
            </a:r>
            <a:r>
              <a:rPr sz="1600">
                <a:solidFill>
                  <a:srgbClr val="000000"/>
                </a:solidFill>
                <a:latin typeface="Courier New"/>
              </a:rPr>
              <a:t> = [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4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5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5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  <a:r>
              <a:rPr sz="1600">
                <a:solidFill>
                  <a:srgbClr val="000000"/>
                </a:solidFill>
                <a:latin typeface="Courier New"/>
              </a:rPr>
              <a:t>]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scores2</a:t>
            </a:r>
            <a:r>
              <a:rPr sz="1600">
                <a:solidFill>
                  <a:srgbClr val="000000"/>
                </a:solidFill>
                <a:latin typeface="Courier New"/>
              </a:rPr>
              <a:t> = [</a:t>
            </a:r>
            <a:r>
              <a:rPr sz="1600">
                <a:solidFill>
                  <a:srgbClr val="098658"/>
                </a:solidFill>
                <a:latin typeface="Courier New"/>
              </a:rPr>
              <a:t>5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5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5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]</a:t>
            </a:r>
          </a:p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wins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098658"/>
                </a:solidFill>
                <a:latin typeface="Courier New"/>
              </a:rPr>
              <a:t>0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urier New"/>
              </a:rPr>
              <a:t>for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001080"/>
                </a:solidFill>
                <a:latin typeface="Courier New"/>
              </a:rPr>
              <a:t>team1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team2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0000FF"/>
                </a:solidFill>
                <a:latin typeface="Courier New"/>
              </a:rPr>
              <a:t>in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795E26"/>
                </a:solidFill>
                <a:latin typeface="Courier New"/>
              </a:rPr>
              <a:t>zip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scores1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scores2</a:t>
            </a:r>
            <a:r>
              <a:rPr sz="1600">
                <a:solidFill>
                  <a:srgbClr val="000000"/>
                </a:solidFill>
                <a:latin typeface="Courier New"/>
              </a:rPr>
              <a:t>):</a:t>
            </a:r>
          </a:p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    </a:t>
            </a:r>
            <a:r>
              <a:rPr sz="1600">
                <a:solidFill>
                  <a:srgbClr val="0000FF"/>
                </a:solidFill>
                <a:latin typeface="Courier New"/>
              </a:rPr>
              <a:t>if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001080"/>
                </a:solidFill>
                <a:latin typeface="Courier New"/>
              </a:rPr>
              <a:t>team1</a:t>
            </a:r>
            <a:r>
              <a:rPr sz="1600">
                <a:solidFill>
                  <a:srgbClr val="000000"/>
                </a:solidFill>
                <a:latin typeface="Courier New"/>
              </a:rPr>
              <a:t> &gt; </a:t>
            </a:r>
            <a:r>
              <a:rPr sz="1600">
                <a:solidFill>
                  <a:srgbClr val="001080"/>
                </a:solidFill>
                <a:latin typeface="Courier New"/>
              </a:rPr>
              <a:t>team2</a:t>
            </a:r>
            <a:r>
              <a:rPr sz="1600">
                <a:solidFill>
                  <a:srgbClr val="000000"/>
                </a:solidFill>
                <a:latin typeface="Courier New"/>
              </a:rPr>
              <a:t>:</a:t>
            </a:r>
          </a:p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        </a:t>
            </a:r>
            <a:r>
              <a:rPr sz="1600">
                <a:solidFill>
                  <a:srgbClr val="001080"/>
                </a:solidFill>
                <a:latin typeface="Courier New"/>
              </a:rPr>
              <a:t>wins</a:t>
            </a:r>
            <a:r>
              <a:rPr sz="1600">
                <a:solidFill>
                  <a:srgbClr val="000000"/>
                </a:solidFill>
                <a:latin typeface="Courier New"/>
              </a:rPr>
              <a:t> += 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wins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5669280" y="4069080"/>
            <a:ext cx="822960" cy="301752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dictionary from two lists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9601200" cy="1005840"/>
          </a:xfrm>
        </p:spPr>
        <p:txBody>
          <a:bodyPr/>
          <a:lstStyle/>
          <a:p>
            <a:r>
              <a:rPr sz="2000"/>
              <a:t>Last week: building a dictionary from two lists took a loop and </a:t>
            </a:r>
            <a:r>
              <a:rPr sz="2000">
                <a:latin typeface="Courier New"/>
              </a:rPr>
              <a:t>range(len(...))</a:t>
            </a:r>
          </a:p>
          <a:p>
            <a:r>
              <a:rPr sz="2000">
                <a:latin typeface="Courier New"/>
              </a:rPr>
              <a:t>zip</a:t>
            </a:r>
            <a:r>
              <a:rPr sz="2000"/>
              <a:t> makes the pairs; </a:t>
            </a:r>
            <a:r>
              <a:rPr sz="2000">
                <a:latin typeface="Courier New"/>
              </a:rPr>
              <a:t>dict</a:t>
            </a:r>
            <a:r>
              <a:rPr sz="2000"/>
              <a:t> turns a sequence of pairs into a dictionary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841248" y="26060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i="1">
                <a:solidFill>
                  <a:srgbClr val="595959"/>
                </a:solidFill>
              </a:rPr>
              <a:t>last week</a:t>
            </a:r>
          </a:p>
        </p:txBody>
      </p:sp>
      <p:sp>
        <p:nvSpPr>
          <p:cNvPr id="5" name="Code"/>
          <p:cNvSpPr/>
          <p:nvPr/>
        </p:nvSpPr>
        <p:spPr>
          <a:xfrm>
            <a:off x="841248" y="2971800"/>
            <a:ext cx="4130040" cy="129844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born</a:t>
            </a:r>
            <a:r>
              <a:rPr sz="1600">
                <a:solidFill>
                  <a:srgbClr val="000000"/>
                </a:solidFill>
                <a:latin typeface="Courier New"/>
              </a:rPr>
              <a:t> = {}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urier New"/>
              </a:rPr>
              <a:t>for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001080"/>
                </a:solidFill>
                <a:latin typeface="Courier New"/>
              </a:rPr>
              <a:t>i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0000FF"/>
                </a:solidFill>
                <a:latin typeface="Courier New"/>
              </a:rPr>
              <a:t>in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795E26"/>
                </a:solidFill>
                <a:latin typeface="Courier New"/>
              </a:rPr>
              <a:t>range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len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names</a:t>
            </a:r>
            <a:r>
              <a:rPr sz="1600">
                <a:solidFill>
                  <a:srgbClr val="000000"/>
                </a:solidFill>
                <a:latin typeface="Courier New"/>
              </a:rPr>
              <a:t>)):</a:t>
            </a:r>
          </a:p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    </a:t>
            </a:r>
            <a:r>
              <a:rPr sz="1600">
                <a:solidFill>
                  <a:srgbClr val="001080"/>
                </a:solidFill>
                <a:latin typeface="Courier New"/>
              </a:rPr>
              <a:t>born</a:t>
            </a:r>
            <a:r>
              <a:rPr sz="1600">
                <a:solidFill>
                  <a:srgbClr val="000000"/>
                </a:solidFill>
                <a:latin typeface="Courier New"/>
              </a:rPr>
              <a:t>[</a:t>
            </a:r>
            <a:r>
              <a:rPr sz="1600">
                <a:solidFill>
                  <a:srgbClr val="001080"/>
                </a:solidFill>
                <a:latin typeface="Courier New"/>
              </a:rPr>
              <a:t>names</a:t>
            </a:r>
            <a:r>
              <a:rPr sz="1600">
                <a:solidFill>
                  <a:srgbClr val="000000"/>
                </a:solidFill>
                <a:latin typeface="Courier New"/>
              </a:rPr>
              <a:t>[</a:t>
            </a:r>
            <a:r>
              <a:rPr sz="1600">
                <a:solidFill>
                  <a:srgbClr val="001080"/>
                </a:solidFill>
                <a:latin typeface="Courier New"/>
              </a:rPr>
              <a:t>i</a:t>
            </a:r>
            <a:r>
              <a:rPr sz="1600">
                <a:solidFill>
                  <a:srgbClr val="000000"/>
                </a:solidFill>
                <a:latin typeface="Courier New"/>
              </a:rPr>
              <a:t>]] = </a:t>
            </a:r>
            <a:r>
              <a:rPr sz="1600">
                <a:solidFill>
                  <a:srgbClr val="001080"/>
                </a:solidFill>
                <a:latin typeface="Courier New"/>
              </a:rPr>
              <a:t>years</a:t>
            </a:r>
            <a:r>
              <a:rPr sz="1600">
                <a:solidFill>
                  <a:srgbClr val="000000"/>
                </a:solidFill>
                <a:latin typeface="Courier New"/>
              </a:rPr>
              <a:t>[</a:t>
            </a:r>
            <a:r>
              <a:rPr sz="1600">
                <a:solidFill>
                  <a:srgbClr val="001080"/>
                </a:solidFill>
                <a:latin typeface="Courier New"/>
              </a:rPr>
              <a:t>i</a:t>
            </a:r>
            <a:r>
              <a:rPr sz="1600">
                <a:solidFill>
                  <a:srgbClr val="000000"/>
                </a:solidFill>
                <a:latin typeface="Courier New"/>
              </a:rPr>
              <a:t>]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born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6" name="Output"/>
          <p:cNvSpPr txBox="1"/>
          <p:nvPr/>
        </p:nvSpPr>
        <p:spPr>
          <a:xfrm>
            <a:off x="841248" y="4343400"/>
            <a:ext cx="5486400" cy="301752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{'Ada': 1815, 'Grace': 1906, 'Alan': 1912}</a:t>
            </a:r>
          </a:p>
        </p:txBody>
      </p:sp>
      <p:sp>
        <p:nvSpPr>
          <p:cNvPr id="7" name="Caption"/>
          <p:cNvSpPr txBox="1"/>
          <p:nvPr/>
        </p:nvSpPr>
        <p:spPr>
          <a:xfrm>
            <a:off x="6400800" y="26060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i="1">
                <a:solidFill>
                  <a:srgbClr val="595959"/>
                </a:solidFill>
              </a:rPr>
              <a:t>today</a:t>
            </a:r>
          </a:p>
        </p:txBody>
      </p:sp>
      <p:sp>
        <p:nvSpPr>
          <p:cNvPr id="8" name="Code"/>
          <p:cNvSpPr/>
          <p:nvPr/>
        </p:nvSpPr>
        <p:spPr>
          <a:xfrm>
            <a:off x="6400800" y="2971800"/>
            <a:ext cx="4251960" cy="74980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born</a:t>
            </a:r>
            <a:r>
              <a:rPr sz="1600">
                <a:solidFill>
                  <a:srgbClr val="000000"/>
                </a:solidFill>
                <a:latin typeface="Courier New"/>
              </a:rPr>
              <a:t> = </a:t>
            </a:r>
            <a:r>
              <a:rPr sz="1600">
                <a:solidFill>
                  <a:srgbClr val="795E26"/>
                </a:solidFill>
                <a:latin typeface="Courier New"/>
              </a:rPr>
              <a:t>dict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zip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names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years</a:t>
            </a:r>
            <a:r>
              <a:rPr sz="160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born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9" name="Output"/>
          <p:cNvSpPr txBox="1"/>
          <p:nvPr/>
        </p:nvSpPr>
        <p:spPr>
          <a:xfrm>
            <a:off x="6400800" y="3794760"/>
            <a:ext cx="5486400" cy="301752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{'Ada': 1815, 'Grace': 1906, 'Alan': 1912}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ENUMERATE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>
                <a:latin typeface="Courier New"/>
              </a:rPr>
              <a:t>enumerate</a:t>
            </a:r>
            <a:r>
              <a:rPr sz="2000"/>
              <a:t> hands out (index, element) tuples</a:t>
            </a:r>
          </a:p>
          <a:p>
            <a:r>
              <a:rPr sz="2000"/>
              <a:t>Use it when you need the position and the element</a:t>
            </a:r>
          </a:p>
          <a:p>
            <a:r>
              <a:rPr sz="2000"/>
              <a:t>Unpack them in the </a:t>
            </a:r>
            <a:r>
              <a:rPr sz="2000">
                <a:latin typeface="Courier New"/>
              </a:rPr>
              <a:t>for</a:t>
            </a:r>
            <a:r>
              <a:rPr sz="2000"/>
              <a:t> line, as with </a:t>
            </a:r>
            <a:r>
              <a:rPr sz="2000">
                <a:latin typeface="Courier New"/>
              </a:rPr>
              <a:t>zip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4495800" cy="102412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names</a:t>
            </a:r>
            <a:r>
              <a:rPr sz="1600">
                <a:solidFill>
                  <a:srgbClr val="000000"/>
                </a:solidFill>
                <a:latin typeface="Courier New"/>
              </a:rPr>
              <a:t> = [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"Grace"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"Alan"</a:t>
            </a:r>
            <a:r>
              <a:rPr sz="1600">
                <a:solidFill>
                  <a:srgbClr val="000000"/>
                </a:solidFill>
                <a:latin typeface="Courier New"/>
              </a:rPr>
              <a:t>]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urier New"/>
              </a:rPr>
              <a:t>for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001080"/>
                </a:solidFill>
                <a:latin typeface="Courier New"/>
              </a:rPr>
              <a:t>i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name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0000FF"/>
                </a:solidFill>
                <a:latin typeface="Courier New"/>
              </a:rPr>
              <a:t>in</a:t>
            </a:r>
            <a:r>
              <a:rPr sz="1600">
                <a:solidFill>
                  <a:srgbClr val="000000"/>
                </a:solidFill>
                <a:latin typeface="Courier New"/>
              </a:rPr>
              <a:t> </a:t>
            </a:r>
            <a:r>
              <a:rPr sz="1600">
                <a:solidFill>
                  <a:srgbClr val="795E26"/>
                </a:solidFill>
                <a:latin typeface="Courier New"/>
              </a:rPr>
              <a:t>enumerate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names</a:t>
            </a:r>
            <a:r>
              <a:rPr sz="1600">
                <a:solidFill>
                  <a:srgbClr val="000000"/>
                </a:solidFill>
                <a:latin typeface="Courier New"/>
              </a:rPr>
              <a:t>):</a:t>
            </a:r>
          </a:p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    </a:t>
            </a:r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i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01080"/>
                </a:solidFill>
                <a:latin typeface="Courier New"/>
              </a:rPr>
              <a:t>name</a:t>
            </a:r>
            <a:r>
              <a:rPr sz="16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675120" y="2697480"/>
            <a:ext cx="1219200" cy="905256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0 Ada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1 Grace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2 Alan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/>
              <a:t>Python compares tuples one element at a time, left to right</a:t>
            </a:r>
          </a:p>
          <a:p>
            <a:r>
              <a:rPr sz="2000"/>
              <a:t>The first elements that differ decide the answer</a:t>
            </a:r>
          </a:p>
          <a:p>
            <a:r>
              <a:rPr sz="2000"/>
              <a:t>Everything after that is never looked at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4739640" cy="102412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((</a:t>
            </a:r>
            <a:r>
              <a:rPr sz="1600">
                <a:solidFill>
                  <a:srgbClr val="098658"/>
                </a:solidFill>
                <a:latin typeface="Courier New"/>
              </a:rPr>
              <a:t>0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  <a:r>
              <a:rPr sz="1600">
                <a:solidFill>
                  <a:srgbClr val="000000"/>
                </a:solidFill>
                <a:latin typeface="Courier New"/>
              </a:rPr>
              <a:t>) &lt; (</a:t>
            </a:r>
            <a:r>
              <a:rPr sz="1600">
                <a:solidFill>
                  <a:srgbClr val="098658"/>
                </a:solidFill>
                <a:latin typeface="Courier New"/>
              </a:rPr>
              <a:t>0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4</a:t>
            </a:r>
            <a:r>
              <a:rPr sz="160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((</a:t>
            </a:r>
            <a:r>
              <a:rPr sz="1600">
                <a:solidFill>
                  <a:srgbClr val="098658"/>
                </a:solidFill>
                <a:latin typeface="Courier New"/>
              </a:rPr>
              <a:t>0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2000000</a:t>
            </a:r>
            <a:r>
              <a:rPr sz="1600">
                <a:solidFill>
                  <a:srgbClr val="000000"/>
                </a:solidFill>
                <a:latin typeface="Courier New"/>
              </a:rPr>
              <a:t>) &lt; (</a:t>
            </a:r>
            <a:r>
              <a:rPr sz="1600">
                <a:solidFill>
                  <a:srgbClr val="098658"/>
                </a:solidFill>
                <a:latin typeface="Courier New"/>
              </a:rPr>
              <a:t>0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4</a:t>
            </a:r>
            <a:r>
              <a:rPr sz="160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((</a:t>
            </a:r>
            <a:r>
              <a:rPr sz="1600">
                <a:solidFill>
                  <a:srgbClr val="A31515"/>
                </a:solidFill>
                <a:latin typeface="Courier New"/>
              </a:rPr>
              <a:t>"Grace"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) &lt; (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99</a:t>
            </a:r>
            <a:r>
              <a:rPr sz="1600">
                <a:solidFill>
                  <a:srgbClr val="000000"/>
                </a:solidFill>
                <a:latin typeface="Courier New"/>
              </a:rPr>
              <a:t>))</a:t>
            </a:r>
          </a:p>
        </p:txBody>
      </p:sp>
      <p:sp>
        <p:nvSpPr>
          <p:cNvPr id="5" name="Pause"/>
          <p:cNvSpPr txBox="1"/>
          <p:nvPr/>
        </p:nvSpPr>
        <p:spPr>
          <a:xfrm>
            <a:off x="6675120" y="28529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4472C4"/>
                </a:solidFill>
              </a:rPr>
              <a:t>Predict: </a:t>
            </a:r>
            <a:r>
              <a:rPr sz="1400">
                <a:solidFill>
                  <a:srgbClr val="4472C4"/>
                </a:solidFill>
              </a:rPr>
              <a:t>what does each line print? Watch line 2 closely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/>
              <a:t>Python compares tuples one element at a time, left to right</a:t>
            </a:r>
          </a:p>
          <a:p>
            <a:r>
              <a:rPr sz="2000"/>
              <a:t>The first elements that differ decide the answer</a:t>
            </a:r>
          </a:p>
          <a:p>
            <a:r>
              <a:rPr sz="2000"/>
              <a:t>Everything after that is never looked at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4739640" cy="102412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((</a:t>
            </a:r>
            <a:r>
              <a:rPr sz="1600">
                <a:solidFill>
                  <a:srgbClr val="098658"/>
                </a:solidFill>
                <a:latin typeface="Courier New"/>
              </a:rPr>
              <a:t>0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  <a:r>
              <a:rPr sz="1600">
                <a:solidFill>
                  <a:srgbClr val="000000"/>
                </a:solidFill>
                <a:latin typeface="Courier New"/>
              </a:rPr>
              <a:t>) &lt; (</a:t>
            </a:r>
            <a:r>
              <a:rPr sz="1600">
                <a:solidFill>
                  <a:srgbClr val="098658"/>
                </a:solidFill>
                <a:latin typeface="Courier New"/>
              </a:rPr>
              <a:t>0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4</a:t>
            </a:r>
            <a:r>
              <a:rPr sz="160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((</a:t>
            </a:r>
            <a:r>
              <a:rPr sz="1600">
                <a:solidFill>
                  <a:srgbClr val="098658"/>
                </a:solidFill>
                <a:latin typeface="Courier New"/>
              </a:rPr>
              <a:t>0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2000000</a:t>
            </a:r>
            <a:r>
              <a:rPr sz="1600">
                <a:solidFill>
                  <a:srgbClr val="000000"/>
                </a:solidFill>
                <a:latin typeface="Courier New"/>
              </a:rPr>
              <a:t>) &lt; (</a:t>
            </a:r>
            <a:r>
              <a:rPr sz="1600">
                <a:solidFill>
                  <a:srgbClr val="098658"/>
                </a:solidFill>
                <a:latin typeface="Courier New"/>
              </a:rPr>
              <a:t>0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4</a:t>
            </a:r>
            <a:r>
              <a:rPr sz="160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((</a:t>
            </a:r>
            <a:r>
              <a:rPr sz="1600">
                <a:solidFill>
                  <a:srgbClr val="A31515"/>
                </a:solidFill>
                <a:latin typeface="Courier New"/>
              </a:rPr>
              <a:t>"Grace"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) &lt; (</a:t>
            </a:r>
            <a:r>
              <a:rPr sz="1600">
                <a:solidFill>
                  <a:srgbClr val="A31515"/>
                </a:solidFill>
                <a:latin typeface="Courier New"/>
              </a:rPr>
              <a:t>"Ada"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098658"/>
                </a:solidFill>
                <a:latin typeface="Courier New"/>
              </a:rPr>
              <a:t>99</a:t>
            </a:r>
            <a:r>
              <a:rPr sz="1600">
                <a:solidFill>
                  <a:srgbClr val="000000"/>
                </a:solidFill>
                <a:latin typeface="Courier New"/>
              </a:rPr>
              <a:t>))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675120" y="2697480"/>
            <a:ext cx="975360" cy="905256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True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True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False</a:t>
            </a:r>
          </a:p>
        </p:txBody>
      </p:sp>
      <p:sp>
        <p:nvSpPr>
          <p:cNvPr id="7" name="Box"/>
          <p:cNvSpPr/>
          <p:nvPr/>
        </p:nvSpPr>
        <p:spPr>
          <a:xfrm>
            <a:off x="1463040" y="4572000"/>
            <a:ext cx="12801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0</a:t>
            </a:r>
          </a:p>
        </p:txBody>
      </p:sp>
      <p:sp>
        <p:nvSpPr>
          <p:cNvPr id="8" name="Box"/>
          <p:cNvSpPr/>
          <p:nvPr/>
        </p:nvSpPr>
        <p:spPr>
          <a:xfrm>
            <a:off x="2743200" y="4572000"/>
            <a:ext cx="1280160" cy="411480"/>
          </a:xfrm>
          <a:prstGeom prst="rect">
            <a:avLst/>
          </a:prstGeom>
          <a:solidFill>
            <a:srgbClr val="EAF1FB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1</a:t>
            </a:r>
          </a:p>
        </p:txBody>
      </p:sp>
      <p:sp>
        <p:nvSpPr>
          <p:cNvPr id="9" name="Box"/>
          <p:cNvSpPr/>
          <p:nvPr/>
        </p:nvSpPr>
        <p:spPr>
          <a:xfrm>
            <a:off x="4023360" y="4572000"/>
            <a:ext cx="12801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A6A6A6"/>
                </a:solidFill>
                <a:latin typeface="Courier New"/>
              </a:rPr>
              <a:t>2000000</a:t>
            </a:r>
          </a:p>
        </p:txBody>
      </p:sp>
      <p:sp>
        <p:nvSpPr>
          <p:cNvPr id="10" name="Box"/>
          <p:cNvSpPr/>
          <p:nvPr/>
        </p:nvSpPr>
        <p:spPr>
          <a:xfrm>
            <a:off x="1463040" y="4983480"/>
            <a:ext cx="12801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0</a:t>
            </a:r>
          </a:p>
        </p:txBody>
      </p:sp>
      <p:sp>
        <p:nvSpPr>
          <p:cNvPr id="11" name="Box"/>
          <p:cNvSpPr/>
          <p:nvPr/>
        </p:nvSpPr>
        <p:spPr>
          <a:xfrm>
            <a:off x="2743200" y="4983480"/>
            <a:ext cx="1280160" cy="411480"/>
          </a:xfrm>
          <a:prstGeom prst="rect">
            <a:avLst/>
          </a:prstGeom>
          <a:solidFill>
            <a:srgbClr val="EAF1FB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000000"/>
                </a:solidFill>
                <a:latin typeface="Courier New"/>
              </a:rPr>
              <a:t>3</a:t>
            </a:r>
          </a:p>
        </p:txBody>
      </p:sp>
      <p:sp>
        <p:nvSpPr>
          <p:cNvPr id="12" name="Box"/>
          <p:cNvSpPr/>
          <p:nvPr/>
        </p:nvSpPr>
        <p:spPr>
          <a:xfrm>
            <a:off x="4023360" y="4983480"/>
            <a:ext cx="128016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>
                <a:solidFill>
                  <a:srgbClr val="A6A6A6"/>
                </a:solidFill>
                <a:latin typeface="Courier New"/>
              </a:rPr>
              <a:t>4</a:t>
            </a:r>
          </a:p>
        </p:txBody>
      </p:sp>
      <p:sp>
        <p:nvSpPr>
          <p:cNvPr id="13" name="Caption"/>
          <p:cNvSpPr txBox="1"/>
          <p:nvPr/>
        </p:nvSpPr>
        <p:spPr>
          <a:xfrm>
            <a:off x="1463040" y="548640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595959"/>
                </a:solidFill>
              </a:rPr>
              <a:t>equal</a:t>
            </a:r>
          </a:p>
        </p:txBody>
      </p:sp>
      <p:sp>
        <p:nvSpPr>
          <p:cNvPr id="14" name="Caption"/>
          <p:cNvSpPr txBox="1"/>
          <p:nvPr/>
        </p:nvSpPr>
        <p:spPr>
          <a:xfrm>
            <a:off x="2743200" y="548640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595959"/>
                </a:solidFill>
              </a:rPr>
              <a:t>1 &lt; 3 decides</a:t>
            </a:r>
          </a:p>
        </p:txBody>
      </p:sp>
      <p:sp>
        <p:nvSpPr>
          <p:cNvPr id="15" name="Caption"/>
          <p:cNvSpPr txBox="1"/>
          <p:nvPr/>
        </p:nvSpPr>
        <p:spPr>
          <a:xfrm>
            <a:off x="4023360" y="548640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595959"/>
                </a:solidFill>
              </a:rPr>
              <a:t>never looked at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A LIST OF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>
                <a:latin typeface="Courier New"/>
              </a:rPr>
              <a:t>sorted</a:t>
            </a:r>
            <a:r>
              <a:rPr sz="2000"/>
              <a:t> works on a sequence of tuples, too</a:t>
            </a:r>
          </a:p>
          <a:p>
            <a:r>
              <a:rPr sz="2000"/>
              <a:t>It compares them the way the last slide did: first elements first</a:t>
            </a:r>
          </a:p>
          <a:p>
            <a:r>
              <a:rPr sz="2000"/>
              <a:t>For dictionary items, that means sorting by key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4617720" cy="74980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counts</a:t>
            </a:r>
            <a:r>
              <a:rPr sz="1600">
                <a:solidFill>
                  <a:srgbClr val="000000"/>
                </a:solidFill>
                <a:latin typeface="Courier New"/>
              </a:rPr>
              <a:t> = {</a:t>
            </a:r>
            <a:r>
              <a:rPr sz="1600">
                <a:solidFill>
                  <a:srgbClr val="A31515"/>
                </a:solidFill>
                <a:latin typeface="Courier New"/>
              </a:rPr>
              <a:t>"b"</a:t>
            </a:r>
            <a:r>
              <a:rPr sz="1600">
                <a:solidFill>
                  <a:srgbClr val="000000"/>
                </a:solidFill>
                <a:latin typeface="Courier New"/>
              </a:rPr>
              <a:t>: 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"a"</a:t>
            </a:r>
            <a:r>
              <a:rPr sz="1600">
                <a:solidFill>
                  <a:srgbClr val="000000"/>
                </a:solidFill>
                <a:latin typeface="Courier New"/>
              </a:rPr>
              <a:t>: 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"n"</a:t>
            </a:r>
            <a:r>
              <a:rPr sz="1600">
                <a:solidFill>
                  <a:srgbClr val="000000"/>
                </a:solidFill>
                <a:latin typeface="Courier New"/>
              </a:rPr>
              <a:t>: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  <a:r>
              <a:rPr sz="16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sorted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counts</a:t>
            </a:r>
            <a:r>
              <a:rPr sz="1600">
                <a:solidFill>
                  <a:srgbClr val="000000"/>
                </a:solidFill>
                <a:latin typeface="Courier New"/>
              </a:rPr>
              <a:t>.</a:t>
            </a:r>
            <a:r>
              <a:rPr sz="1600">
                <a:solidFill>
                  <a:srgbClr val="795E26"/>
                </a:solidFill>
                <a:latin typeface="Courier New"/>
              </a:rPr>
              <a:t>items</a:t>
            </a:r>
            <a:r>
              <a:rPr sz="1600">
                <a:solidFill>
                  <a:srgbClr val="000000"/>
                </a:solidFill>
                <a:latin typeface="Courier New"/>
              </a:rPr>
              <a:t>()))</a:t>
            </a:r>
          </a:p>
        </p:txBody>
      </p:sp>
      <p:sp>
        <p:nvSpPr>
          <p:cNvPr id="5" name="Pause"/>
          <p:cNvSpPr txBox="1"/>
          <p:nvPr/>
        </p:nvSpPr>
        <p:spPr>
          <a:xfrm>
            <a:off x="6675120" y="257860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4472C4"/>
                </a:solidFill>
              </a:rPr>
              <a:t>Predict: </a:t>
            </a:r>
            <a:r>
              <a:rPr sz="1400">
                <a:solidFill>
                  <a:srgbClr val="4472C4"/>
                </a:solidFill>
              </a:rPr>
              <a:t>what order do the items come out in?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A LIST OF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5486400" cy="2743200"/>
          </a:xfrm>
        </p:spPr>
        <p:txBody>
          <a:bodyPr/>
          <a:lstStyle/>
          <a:p>
            <a:r>
              <a:rPr sz="2000">
                <a:latin typeface="Courier New"/>
              </a:rPr>
              <a:t>sorted</a:t>
            </a:r>
            <a:r>
              <a:rPr sz="2000"/>
              <a:t> works on a sequence of tuples, too</a:t>
            </a:r>
          </a:p>
          <a:p>
            <a:r>
              <a:rPr sz="2000"/>
              <a:t>It compares them the way the last slide did: first elements first</a:t>
            </a:r>
          </a:p>
          <a:p>
            <a:r>
              <a:rPr sz="2000"/>
              <a:t>For dictionary items, that means sorting by key</a:t>
            </a:r>
          </a:p>
        </p:txBody>
      </p:sp>
      <p:sp>
        <p:nvSpPr>
          <p:cNvPr id="4" name="Code"/>
          <p:cNvSpPr/>
          <p:nvPr/>
        </p:nvSpPr>
        <p:spPr>
          <a:xfrm>
            <a:off x="6675120" y="1600200"/>
            <a:ext cx="4617720" cy="74980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600">
                <a:solidFill>
                  <a:srgbClr val="001080"/>
                </a:solidFill>
                <a:latin typeface="Courier New"/>
              </a:rPr>
              <a:t>counts</a:t>
            </a:r>
            <a:r>
              <a:rPr sz="1600">
                <a:solidFill>
                  <a:srgbClr val="000000"/>
                </a:solidFill>
                <a:latin typeface="Courier New"/>
              </a:rPr>
              <a:t> = {</a:t>
            </a:r>
            <a:r>
              <a:rPr sz="1600">
                <a:solidFill>
                  <a:srgbClr val="A31515"/>
                </a:solidFill>
                <a:latin typeface="Courier New"/>
              </a:rPr>
              <a:t>"b"</a:t>
            </a:r>
            <a:r>
              <a:rPr sz="1600">
                <a:solidFill>
                  <a:srgbClr val="000000"/>
                </a:solidFill>
                <a:latin typeface="Courier New"/>
              </a:rPr>
              <a:t>: </a:t>
            </a:r>
            <a:r>
              <a:rPr sz="1600">
                <a:solidFill>
                  <a:srgbClr val="098658"/>
                </a:solidFill>
                <a:latin typeface="Courier New"/>
              </a:rPr>
              <a:t>1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"a"</a:t>
            </a:r>
            <a:r>
              <a:rPr sz="1600">
                <a:solidFill>
                  <a:srgbClr val="000000"/>
                </a:solidFill>
                <a:latin typeface="Courier New"/>
              </a:rPr>
              <a:t>: </a:t>
            </a:r>
            <a:r>
              <a:rPr sz="1600">
                <a:solidFill>
                  <a:srgbClr val="098658"/>
                </a:solidFill>
                <a:latin typeface="Courier New"/>
              </a:rPr>
              <a:t>3</a:t>
            </a:r>
            <a:r>
              <a:rPr sz="1600">
                <a:solidFill>
                  <a:srgbClr val="000000"/>
                </a:solidFill>
                <a:latin typeface="Courier New"/>
              </a:rPr>
              <a:t>, </a:t>
            </a:r>
            <a:r>
              <a:rPr sz="1600">
                <a:solidFill>
                  <a:srgbClr val="A31515"/>
                </a:solidFill>
                <a:latin typeface="Courier New"/>
              </a:rPr>
              <a:t>"n"</a:t>
            </a:r>
            <a:r>
              <a:rPr sz="1600">
                <a:solidFill>
                  <a:srgbClr val="000000"/>
                </a:solidFill>
                <a:latin typeface="Courier New"/>
              </a:rPr>
              <a:t>: </a:t>
            </a:r>
            <a:r>
              <a:rPr sz="1600">
                <a:solidFill>
                  <a:srgbClr val="098658"/>
                </a:solidFill>
                <a:latin typeface="Courier New"/>
              </a:rPr>
              <a:t>2</a:t>
            </a:r>
            <a:r>
              <a:rPr sz="16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/>
            <a:r>
              <a:rPr sz="1600">
                <a:solidFill>
                  <a:srgbClr val="795E26"/>
                </a:solidFill>
                <a:latin typeface="Courier New"/>
              </a:rPr>
              <a:t>print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795E26"/>
                </a:solidFill>
                <a:latin typeface="Courier New"/>
              </a:rPr>
              <a:t>sorted</a:t>
            </a:r>
            <a:r>
              <a:rPr sz="1600">
                <a:solidFill>
                  <a:srgbClr val="000000"/>
                </a:solidFill>
                <a:latin typeface="Courier New"/>
              </a:rPr>
              <a:t>(</a:t>
            </a:r>
            <a:r>
              <a:rPr sz="1600">
                <a:solidFill>
                  <a:srgbClr val="001080"/>
                </a:solidFill>
                <a:latin typeface="Courier New"/>
              </a:rPr>
              <a:t>counts</a:t>
            </a:r>
            <a:r>
              <a:rPr sz="1600">
                <a:solidFill>
                  <a:srgbClr val="000000"/>
                </a:solidFill>
                <a:latin typeface="Courier New"/>
              </a:rPr>
              <a:t>.</a:t>
            </a:r>
            <a:r>
              <a:rPr sz="1600">
                <a:solidFill>
                  <a:srgbClr val="795E26"/>
                </a:solidFill>
                <a:latin typeface="Courier New"/>
              </a:rPr>
              <a:t>items</a:t>
            </a:r>
            <a:r>
              <a:rPr sz="1600">
                <a:solidFill>
                  <a:srgbClr val="000000"/>
                </a:solidFill>
                <a:latin typeface="Courier New"/>
              </a:rPr>
              <a:t>()))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6675120" y="2423160"/>
            <a:ext cx="4023360" cy="301752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[('a', 3), ('b', 1), ('n', 2)]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BY SOMETHING 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4645152" cy="2743200"/>
          </a:xfrm>
        </p:spPr>
        <p:txBody>
          <a:bodyPr/>
          <a:lstStyle/>
          <a:p>
            <a:r>
              <a:rPr sz="2000">
                <a:latin typeface="Courier New"/>
              </a:rPr>
              <a:t>key=</a:t>
            </a:r>
            <a:r>
              <a:rPr sz="2000"/>
              <a:t> tells </a:t>
            </a:r>
            <a:r>
              <a:rPr sz="2000">
                <a:latin typeface="Courier New"/>
              </a:rPr>
              <a:t>sorted</a:t>
            </a:r>
            <a:r>
              <a:rPr sz="2000"/>
              <a:t> what to sort by</a:t>
            </a:r>
          </a:p>
          <a:p>
            <a:r>
              <a:rPr sz="2000"/>
              <a:t>Give it a function: </a:t>
            </a:r>
            <a:r>
              <a:rPr sz="2000">
                <a:latin typeface="Courier New"/>
              </a:rPr>
              <a:t>sorted</a:t>
            </a:r>
            <a:r>
              <a:rPr sz="2000"/>
              <a:t> calls it on each element and sorts by what it returns</a:t>
            </a:r>
          </a:p>
          <a:p>
            <a:r>
              <a:rPr sz="2000">
                <a:latin typeface="Courier New"/>
              </a:rPr>
              <a:t>max</a:t>
            </a:r>
            <a:r>
              <a:rPr sz="2000"/>
              <a:t> and </a:t>
            </a:r>
            <a:r>
              <a:rPr sz="2000">
                <a:latin typeface="Courier New"/>
              </a:rPr>
              <a:t>min</a:t>
            </a:r>
            <a:r>
              <a:rPr sz="2000"/>
              <a:t> take a </a:t>
            </a:r>
            <a:r>
              <a:rPr sz="2000">
                <a:latin typeface="Courier New"/>
              </a:rPr>
              <a:t>key</a:t>
            </a:r>
            <a:r>
              <a:rPr sz="2000"/>
              <a:t> too</a:t>
            </a:r>
          </a:p>
        </p:txBody>
      </p:sp>
      <p:sp>
        <p:nvSpPr>
          <p:cNvPr id="4" name="Code"/>
          <p:cNvSpPr/>
          <p:nvPr/>
        </p:nvSpPr>
        <p:spPr>
          <a:xfrm>
            <a:off x="5760720" y="1600200"/>
            <a:ext cx="5821680" cy="164134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400">
                <a:solidFill>
                  <a:srgbClr val="0000FF"/>
                </a:solidFill>
                <a:latin typeface="Courier New"/>
              </a:rPr>
              <a:t>def</a:t>
            </a:r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  <a:r>
              <a:rPr sz="1400">
                <a:solidFill>
                  <a:srgbClr val="795E26"/>
                </a:solidFill>
                <a:latin typeface="Courier New"/>
              </a:rPr>
              <a:t>second_element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t</a:t>
            </a:r>
            <a:r>
              <a:rPr sz="1400">
                <a:solidFill>
                  <a:srgbClr val="000000"/>
                </a:solidFill>
                <a:latin typeface="Courier New"/>
              </a:rPr>
              <a:t>):</a:t>
            </a:r>
          </a:p>
          <a:p>
            <a:pPr algn="l"/>
            <a:r>
              <a:rPr sz="1400">
                <a:solidFill>
                  <a:srgbClr val="000000"/>
                </a:solidFill>
                <a:latin typeface="Courier New"/>
              </a:rPr>
              <a:t>    </a:t>
            </a:r>
            <a:r>
              <a:rPr sz="1400">
                <a:solidFill>
                  <a:srgbClr val="0000FF"/>
                </a:solidFill>
                <a:latin typeface="Courier New"/>
              </a:rPr>
              <a:t>return</a:t>
            </a:r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  <a:r>
              <a:rPr sz="1400">
                <a:solidFill>
                  <a:srgbClr val="001080"/>
                </a:solidFill>
                <a:latin typeface="Courier New"/>
              </a:rPr>
              <a:t>t</a:t>
            </a:r>
            <a:r>
              <a:rPr sz="1400">
                <a:solidFill>
                  <a:srgbClr val="000000"/>
                </a:solidFill>
                <a:latin typeface="Courier New"/>
              </a:rPr>
              <a:t>[</a:t>
            </a:r>
            <a:r>
              <a:rPr sz="1400">
                <a:solidFill>
                  <a:srgbClr val="098658"/>
                </a:solidFill>
                <a:latin typeface="Courier New"/>
              </a:rPr>
              <a:t>1</a:t>
            </a:r>
            <a:r>
              <a:rPr sz="1400">
                <a:solidFill>
                  <a:srgbClr val="000000"/>
                </a:solidFill>
                <a:latin typeface="Courier New"/>
              </a:rPr>
              <a:t>]</a:t>
            </a:r>
          </a:p>
          <a:p>
            <a:pPr algn="l"/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001080"/>
                </a:solidFill>
                <a:latin typeface="Courier New"/>
              </a:rPr>
              <a:t>counts</a:t>
            </a:r>
            <a:r>
              <a:rPr sz="1400">
                <a:solidFill>
                  <a:srgbClr val="000000"/>
                </a:solidFill>
                <a:latin typeface="Courier New"/>
              </a:rPr>
              <a:t> = {</a:t>
            </a:r>
            <a:r>
              <a:rPr sz="1400">
                <a:solidFill>
                  <a:srgbClr val="A31515"/>
                </a:solidFill>
                <a:latin typeface="Courier New"/>
              </a:rPr>
              <a:t>"b"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1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A31515"/>
                </a:solidFill>
                <a:latin typeface="Courier New"/>
              </a:rPr>
              <a:t>"a"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3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A31515"/>
                </a:solidFill>
                <a:latin typeface="Courier New"/>
              </a:rPr>
              <a:t>"n"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2</a:t>
            </a:r>
            <a:r>
              <a:rPr sz="14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/>
            <a:r>
              <a:rPr sz="1400">
                <a:solidFill>
                  <a:srgbClr val="795E26"/>
                </a:solidFill>
                <a:latin typeface="Courier New"/>
              </a:rPr>
              <a:t>print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795E26"/>
                </a:solidFill>
                <a:latin typeface="Courier New"/>
              </a:rPr>
              <a:t>sorted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counts</a:t>
            </a:r>
            <a:r>
              <a:rPr sz="1400">
                <a:solidFill>
                  <a:srgbClr val="000000"/>
                </a:solidFill>
                <a:latin typeface="Courier New"/>
              </a:rPr>
              <a:t>.</a:t>
            </a:r>
            <a:r>
              <a:rPr sz="1400">
                <a:solidFill>
                  <a:srgbClr val="795E26"/>
                </a:solidFill>
                <a:latin typeface="Courier New"/>
              </a:rPr>
              <a:t>items</a:t>
            </a:r>
            <a:r>
              <a:rPr sz="1400">
                <a:solidFill>
                  <a:srgbClr val="000000"/>
                </a:solidFill>
                <a:latin typeface="Courier New"/>
              </a:rPr>
              <a:t>(), </a:t>
            </a:r>
            <a:r>
              <a:rPr sz="1400">
                <a:solidFill>
                  <a:srgbClr val="001080"/>
                </a:solidFill>
                <a:latin typeface="Courier New"/>
              </a:rPr>
              <a:t>key</a:t>
            </a:r>
            <a:r>
              <a:rPr sz="1400">
                <a:solidFill>
                  <a:srgbClr val="000000"/>
                </a:solidFill>
                <a:latin typeface="Courier New"/>
              </a:rPr>
              <a:t>=</a:t>
            </a:r>
            <a:r>
              <a:rPr sz="1400">
                <a:solidFill>
                  <a:srgbClr val="001080"/>
                </a:solidFill>
                <a:latin typeface="Courier New"/>
              </a:rPr>
              <a:t>second_element</a:t>
            </a:r>
            <a:r>
              <a:rPr sz="140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400">
                <a:solidFill>
                  <a:srgbClr val="795E26"/>
                </a:solidFill>
                <a:latin typeface="Courier New"/>
              </a:rPr>
              <a:t>print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795E26"/>
                </a:solidFill>
                <a:latin typeface="Courier New"/>
              </a:rPr>
              <a:t>max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counts</a:t>
            </a:r>
            <a:r>
              <a:rPr sz="1400">
                <a:solidFill>
                  <a:srgbClr val="000000"/>
                </a:solidFill>
                <a:latin typeface="Courier New"/>
              </a:rPr>
              <a:t>.</a:t>
            </a:r>
            <a:r>
              <a:rPr sz="1400">
                <a:solidFill>
                  <a:srgbClr val="795E26"/>
                </a:solidFill>
                <a:latin typeface="Courier New"/>
              </a:rPr>
              <a:t>items</a:t>
            </a:r>
            <a:r>
              <a:rPr sz="1400">
                <a:solidFill>
                  <a:srgbClr val="000000"/>
                </a:solidFill>
                <a:latin typeface="Courier New"/>
              </a:rPr>
              <a:t>(), </a:t>
            </a:r>
            <a:r>
              <a:rPr sz="1400">
                <a:solidFill>
                  <a:srgbClr val="001080"/>
                </a:solidFill>
                <a:latin typeface="Courier New"/>
              </a:rPr>
              <a:t>key</a:t>
            </a:r>
            <a:r>
              <a:rPr sz="1400">
                <a:solidFill>
                  <a:srgbClr val="000000"/>
                </a:solidFill>
                <a:latin typeface="Courier New"/>
              </a:rPr>
              <a:t>=</a:t>
            </a:r>
            <a:r>
              <a:rPr sz="1400">
                <a:solidFill>
                  <a:srgbClr val="001080"/>
                </a:solidFill>
                <a:latin typeface="Courier New"/>
              </a:rPr>
              <a:t>second_element</a:t>
            </a:r>
            <a:r>
              <a:rPr sz="1400">
                <a:solidFill>
                  <a:srgbClr val="000000"/>
                </a:solidFill>
                <a:latin typeface="Courier New"/>
              </a:rPr>
              <a:t>))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5760720" y="3314700"/>
            <a:ext cx="4023360" cy="603504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[('b', 1), ('n', 2), ('a', 3)]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('a', 3)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1188720" y="4434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('b', 1)</a:t>
            </a:r>
          </a:p>
        </p:txBody>
      </p:sp>
      <p:cxnSp>
        <p:nvCxnSpPr>
          <p:cNvPr id="7" name="Reference"/>
          <p:cNvCxnSpPr/>
          <p:nvPr/>
        </p:nvCxnSpPr>
        <p:spPr>
          <a:xfrm>
            <a:off x="2468880" y="461772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ption"/>
          <p:cNvSpPr txBox="1"/>
          <p:nvPr/>
        </p:nvSpPr>
        <p:spPr>
          <a:xfrm>
            <a:off x="3246120" y="44348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1</a:t>
            </a:r>
          </a:p>
        </p:txBody>
      </p:sp>
      <p:sp>
        <p:nvSpPr>
          <p:cNvPr id="9" name="Caption"/>
          <p:cNvSpPr txBox="1"/>
          <p:nvPr/>
        </p:nvSpPr>
        <p:spPr>
          <a:xfrm>
            <a:off x="1188720" y="48920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('a', 3)</a:t>
            </a:r>
          </a:p>
        </p:txBody>
      </p:sp>
      <p:cxnSp>
        <p:nvCxnSpPr>
          <p:cNvPr id="10" name="Reference"/>
          <p:cNvCxnSpPr/>
          <p:nvPr/>
        </p:nvCxnSpPr>
        <p:spPr>
          <a:xfrm>
            <a:off x="2468880" y="507492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ption"/>
          <p:cNvSpPr txBox="1"/>
          <p:nvPr/>
        </p:nvSpPr>
        <p:spPr>
          <a:xfrm>
            <a:off x="3246120" y="48920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3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1188720" y="53492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('n', 2)</a:t>
            </a:r>
          </a:p>
        </p:txBody>
      </p:sp>
      <p:cxnSp>
        <p:nvCxnSpPr>
          <p:cNvPr id="13" name="Reference"/>
          <p:cNvCxnSpPr/>
          <p:nvPr/>
        </p:nvCxnSpPr>
        <p:spPr>
          <a:xfrm>
            <a:off x="2468880" y="553212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ption"/>
          <p:cNvSpPr txBox="1"/>
          <p:nvPr/>
        </p:nvSpPr>
        <p:spPr>
          <a:xfrm>
            <a:off x="3246120" y="53492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ourier New"/>
              </a:rPr>
              <a:t>2</a:t>
            </a:r>
          </a:p>
        </p:txBody>
      </p:sp>
      <p:sp>
        <p:nvSpPr>
          <p:cNvPr id="15" name="Caption"/>
          <p:cNvSpPr txBox="1"/>
          <p:nvPr/>
        </p:nvSpPr>
        <p:spPr>
          <a:xfrm>
            <a:off x="1188720" y="411480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item</a:t>
            </a:r>
          </a:p>
        </p:txBody>
      </p:sp>
      <p:sp>
        <p:nvSpPr>
          <p:cNvPr id="16" name="Caption"/>
          <p:cNvSpPr txBox="1"/>
          <p:nvPr/>
        </p:nvSpPr>
        <p:spPr>
          <a:xfrm>
            <a:off x="3246120" y="411480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595959"/>
                </a:solidFill>
              </a:rPr>
              <a:t>second_element(item)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PARENTHESES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4645152" cy="2743200"/>
          </a:xfrm>
        </p:spPr>
        <p:txBody>
          <a:bodyPr/>
          <a:lstStyle/>
          <a:p>
            <a:r>
              <a:rPr sz="2000">
                <a:latin typeface="Courier New"/>
              </a:rPr>
              <a:t>key=second_element</a:t>
            </a:r>
            <a:r>
              <a:rPr sz="2000"/>
              <a:t> hands </a:t>
            </a:r>
            <a:r>
              <a:rPr sz="2000">
                <a:latin typeface="Courier New"/>
              </a:rPr>
              <a:t>sorted</a:t>
            </a:r>
            <a:r>
              <a:rPr sz="2000"/>
              <a:t> the function itself</a:t>
            </a:r>
          </a:p>
          <a:p>
            <a:r>
              <a:rPr sz="2000">
                <a:latin typeface="Courier New"/>
              </a:rPr>
              <a:t>key=second_element()</a:t>
            </a:r>
            <a:r>
              <a:rPr sz="2000"/>
              <a:t> calls it right now, with no arguments</a:t>
            </a:r>
          </a:p>
          <a:p>
            <a:r>
              <a:rPr sz="2000">
                <a:latin typeface="Courier New"/>
              </a:rPr>
              <a:t>sorted</a:t>
            </a:r>
            <a:r>
              <a:rPr sz="2000"/>
              <a:t> does the calling, once for each element</a:t>
            </a:r>
          </a:p>
        </p:txBody>
      </p:sp>
      <p:sp>
        <p:nvSpPr>
          <p:cNvPr id="4" name="Code"/>
          <p:cNvSpPr/>
          <p:nvPr/>
        </p:nvSpPr>
        <p:spPr>
          <a:xfrm>
            <a:off x="5760720" y="1600200"/>
            <a:ext cx="5288280" cy="68122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400">
                <a:solidFill>
                  <a:srgbClr val="001080"/>
                </a:solidFill>
                <a:latin typeface="Courier New"/>
              </a:rPr>
              <a:t>counts</a:t>
            </a:r>
            <a:r>
              <a:rPr sz="1400">
                <a:solidFill>
                  <a:srgbClr val="000000"/>
                </a:solidFill>
                <a:latin typeface="Courier New"/>
              </a:rPr>
              <a:t> = {</a:t>
            </a:r>
            <a:r>
              <a:rPr sz="1400">
                <a:solidFill>
                  <a:srgbClr val="A31515"/>
                </a:solidFill>
                <a:latin typeface="Courier New"/>
              </a:rPr>
              <a:t>"b"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1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A31515"/>
                </a:solidFill>
                <a:latin typeface="Courier New"/>
              </a:rPr>
              <a:t>"a"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3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A31515"/>
                </a:solidFill>
                <a:latin typeface="Courier New"/>
              </a:rPr>
              <a:t>"n"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2</a:t>
            </a:r>
            <a:r>
              <a:rPr sz="14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/>
            <a:r>
              <a:rPr sz="1400">
                <a:solidFill>
                  <a:srgbClr val="795E26"/>
                </a:solidFill>
                <a:latin typeface="Courier New"/>
              </a:rPr>
              <a:t>sorted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counts</a:t>
            </a:r>
            <a:r>
              <a:rPr sz="1400">
                <a:solidFill>
                  <a:srgbClr val="000000"/>
                </a:solidFill>
                <a:latin typeface="Courier New"/>
              </a:rPr>
              <a:t>.</a:t>
            </a:r>
            <a:r>
              <a:rPr sz="1400">
                <a:solidFill>
                  <a:srgbClr val="795E26"/>
                </a:solidFill>
                <a:latin typeface="Courier New"/>
              </a:rPr>
              <a:t>items</a:t>
            </a:r>
            <a:r>
              <a:rPr sz="1400">
                <a:solidFill>
                  <a:srgbClr val="000000"/>
                </a:solidFill>
                <a:latin typeface="Courier New"/>
              </a:rPr>
              <a:t>(), </a:t>
            </a:r>
            <a:r>
              <a:rPr sz="1400">
                <a:solidFill>
                  <a:srgbClr val="001080"/>
                </a:solidFill>
                <a:latin typeface="Courier New"/>
              </a:rPr>
              <a:t>key</a:t>
            </a:r>
            <a:r>
              <a:rPr sz="1400">
                <a:solidFill>
                  <a:srgbClr val="000000"/>
                </a:solidFill>
                <a:latin typeface="Courier New"/>
              </a:rPr>
              <a:t>=</a:t>
            </a:r>
            <a:r>
              <a:rPr sz="1400">
                <a:solidFill>
                  <a:srgbClr val="795E26"/>
                </a:solidFill>
                <a:latin typeface="Courier New"/>
              </a:rPr>
              <a:t>second_element</a:t>
            </a:r>
            <a:r>
              <a:rPr sz="1400">
                <a:solidFill>
                  <a:srgbClr val="000000"/>
                </a:solidFill>
                <a:latin typeface="Courier New"/>
              </a:rPr>
              <a:t>())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5760720" y="2354580"/>
            <a:ext cx="4876800" cy="603504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C62828"/>
                </a:solidFill>
                <a:latin typeface="Courier New"/>
              </a:rPr>
              <a:t>TypeError: second_element() missing 1</a:t>
            </a:r>
          </a:p>
          <a:p>
            <a:r>
              <a:rPr sz="1600">
                <a:solidFill>
                  <a:srgbClr val="C62828"/>
                </a:solidFill>
                <a:latin typeface="Courier New"/>
              </a:rPr>
              <a:t>required positional argument: 't'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THE YOUNGEST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4645152" cy="2743200"/>
          </a:xfrm>
        </p:spPr>
        <p:txBody>
          <a:bodyPr/>
          <a:lstStyle/>
          <a:p>
            <a:r>
              <a:rPr sz="2000">
                <a:latin typeface="Courier New"/>
              </a:rPr>
              <a:t>max</a:t>
            </a:r>
            <a:r>
              <a:rPr sz="2000"/>
              <a:t> on a dictionary compares the </a:t>
            </a:r>
            <a:r>
              <a:rPr sz="2000" b="1"/>
              <a:t>keys</a:t>
            </a:r>
          </a:p>
          <a:p>
            <a:r>
              <a:rPr sz="2000"/>
              <a:t>To compare values, use the items and a </a:t>
            </a:r>
            <a:r>
              <a:rPr sz="2000">
                <a:latin typeface="Courier New"/>
              </a:rPr>
              <a:t>key</a:t>
            </a:r>
            <a:r>
              <a:rPr sz="2000"/>
              <a:t> function</a:t>
            </a:r>
          </a:p>
          <a:p>
            <a:r>
              <a:rPr sz="2000"/>
              <a:t>Then unpack the winning pair</a:t>
            </a:r>
          </a:p>
        </p:txBody>
      </p:sp>
      <p:sp>
        <p:nvSpPr>
          <p:cNvPr id="4" name="Code"/>
          <p:cNvSpPr/>
          <p:nvPr/>
        </p:nvSpPr>
        <p:spPr>
          <a:xfrm>
            <a:off x="5760720" y="1600200"/>
            <a:ext cx="5928360" cy="164134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400">
                <a:solidFill>
                  <a:srgbClr val="001080"/>
                </a:solidFill>
                <a:latin typeface="Courier New"/>
              </a:rPr>
              <a:t>born</a:t>
            </a:r>
            <a:r>
              <a:rPr sz="1400">
                <a:solidFill>
                  <a:srgbClr val="000000"/>
                </a:solidFill>
                <a:latin typeface="Courier New"/>
              </a:rPr>
              <a:t> = {</a:t>
            </a:r>
            <a:r>
              <a:rPr sz="1400">
                <a:solidFill>
                  <a:srgbClr val="A31515"/>
                </a:solidFill>
                <a:latin typeface="Courier New"/>
              </a:rPr>
              <a:t>"Ada"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1815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A31515"/>
                </a:solidFill>
                <a:latin typeface="Courier New"/>
              </a:rPr>
              <a:t>"Grace"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1906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A31515"/>
                </a:solidFill>
                <a:latin typeface="Courier New"/>
              </a:rPr>
              <a:t>"Alan"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1912</a:t>
            </a:r>
            <a:r>
              <a:rPr sz="14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/>
            <a:r>
              <a:rPr sz="1400">
                <a:solidFill>
                  <a:srgbClr val="795E26"/>
                </a:solidFill>
                <a:latin typeface="Courier New"/>
              </a:rPr>
              <a:t>print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795E26"/>
                </a:solidFill>
                <a:latin typeface="Courier New"/>
              </a:rPr>
              <a:t>max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born</a:t>
            </a:r>
            <a:r>
              <a:rPr sz="140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400">
                <a:solidFill>
                  <a:srgbClr val="795E26"/>
                </a:solidFill>
                <a:latin typeface="Courier New"/>
              </a:rPr>
              <a:t>print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795E26"/>
                </a:solidFill>
                <a:latin typeface="Courier New"/>
              </a:rPr>
              <a:t>max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born</a:t>
            </a:r>
            <a:r>
              <a:rPr sz="1400">
                <a:solidFill>
                  <a:srgbClr val="000000"/>
                </a:solidFill>
                <a:latin typeface="Courier New"/>
              </a:rPr>
              <a:t>.</a:t>
            </a:r>
            <a:r>
              <a:rPr sz="1400">
                <a:solidFill>
                  <a:srgbClr val="795E26"/>
                </a:solidFill>
                <a:latin typeface="Courier New"/>
              </a:rPr>
              <a:t>items</a:t>
            </a:r>
            <a:r>
              <a:rPr sz="1400">
                <a:solidFill>
                  <a:srgbClr val="000000"/>
                </a:solidFill>
                <a:latin typeface="Courier New"/>
              </a:rPr>
              <a:t>(), </a:t>
            </a:r>
            <a:r>
              <a:rPr sz="1400">
                <a:solidFill>
                  <a:srgbClr val="001080"/>
                </a:solidFill>
                <a:latin typeface="Courier New"/>
              </a:rPr>
              <a:t>key</a:t>
            </a:r>
            <a:r>
              <a:rPr sz="1400">
                <a:solidFill>
                  <a:srgbClr val="000000"/>
                </a:solidFill>
                <a:latin typeface="Courier New"/>
              </a:rPr>
              <a:t>=</a:t>
            </a:r>
            <a:r>
              <a:rPr sz="1400">
                <a:solidFill>
                  <a:srgbClr val="001080"/>
                </a:solidFill>
                <a:latin typeface="Courier New"/>
              </a:rPr>
              <a:t>second_element</a:t>
            </a:r>
            <a:r>
              <a:rPr sz="140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001080"/>
                </a:solidFill>
                <a:latin typeface="Courier New"/>
              </a:rPr>
              <a:t>name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001080"/>
                </a:solidFill>
                <a:latin typeface="Courier New"/>
              </a:rPr>
              <a:t>year</a:t>
            </a:r>
            <a:r>
              <a:rPr sz="1400">
                <a:solidFill>
                  <a:srgbClr val="000000"/>
                </a:solidFill>
                <a:latin typeface="Courier New"/>
              </a:rPr>
              <a:t> = </a:t>
            </a:r>
            <a:r>
              <a:rPr sz="1400">
                <a:solidFill>
                  <a:srgbClr val="795E26"/>
                </a:solidFill>
                <a:latin typeface="Courier New"/>
              </a:rPr>
              <a:t>max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born</a:t>
            </a:r>
            <a:r>
              <a:rPr sz="1400">
                <a:solidFill>
                  <a:srgbClr val="000000"/>
                </a:solidFill>
                <a:latin typeface="Courier New"/>
              </a:rPr>
              <a:t>.</a:t>
            </a:r>
            <a:r>
              <a:rPr sz="1400">
                <a:solidFill>
                  <a:srgbClr val="795E26"/>
                </a:solidFill>
                <a:latin typeface="Courier New"/>
              </a:rPr>
              <a:t>items</a:t>
            </a:r>
            <a:r>
              <a:rPr sz="1400">
                <a:solidFill>
                  <a:srgbClr val="000000"/>
                </a:solidFill>
                <a:latin typeface="Courier New"/>
              </a:rPr>
              <a:t>(), </a:t>
            </a:r>
            <a:r>
              <a:rPr sz="1400">
                <a:solidFill>
                  <a:srgbClr val="001080"/>
                </a:solidFill>
                <a:latin typeface="Courier New"/>
              </a:rPr>
              <a:t>key</a:t>
            </a:r>
            <a:r>
              <a:rPr sz="1400">
                <a:solidFill>
                  <a:srgbClr val="000000"/>
                </a:solidFill>
                <a:latin typeface="Courier New"/>
              </a:rPr>
              <a:t>=</a:t>
            </a:r>
            <a:r>
              <a:rPr sz="1400">
                <a:solidFill>
                  <a:srgbClr val="001080"/>
                </a:solidFill>
                <a:latin typeface="Courier New"/>
              </a:rPr>
              <a:t>second_element</a:t>
            </a:r>
            <a:r>
              <a:rPr sz="14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400">
                <a:solidFill>
                  <a:srgbClr val="795E26"/>
                </a:solidFill>
                <a:latin typeface="Courier New"/>
              </a:rPr>
              <a:t>print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name</a:t>
            </a:r>
            <a:r>
              <a:rPr sz="14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6" name="Pause"/>
          <p:cNvSpPr txBox="1"/>
          <p:nvPr/>
        </p:nvSpPr>
        <p:spPr>
          <a:xfrm>
            <a:off x="5760720" y="3429000"/>
            <a:ext cx="49377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b="1" dirty="0">
                <a:solidFill>
                  <a:srgbClr val="4472C4"/>
                </a:solidFill>
              </a:rPr>
              <a:t>Predict</a:t>
            </a:r>
            <a:r>
              <a:rPr sz="1400" b="1" dirty="0">
                <a:solidFill>
                  <a:srgbClr val="4472C4"/>
                </a:solidFill>
              </a:rPr>
              <a:t>: </a:t>
            </a:r>
            <a:r>
              <a:rPr sz="1400" dirty="0">
                <a:solidFill>
                  <a:srgbClr val="4472C4"/>
                </a:solidFill>
              </a:rPr>
              <a:t>what does line 2 print?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THE YOUNGEST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4645152" cy="2743200"/>
          </a:xfrm>
        </p:spPr>
        <p:txBody>
          <a:bodyPr/>
          <a:lstStyle/>
          <a:p>
            <a:r>
              <a:rPr sz="2000">
                <a:latin typeface="Courier New"/>
              </a:rPr>
              <a:t>max</a:t>
            </a:r>
            <a:r>
              <a:rPr sz="2000"/>
              <a:t> on a dictionary compares the </a:t>
            </a:r>
            <a:r>
              <a:rPr sz="2000" b="1"/>
              <a:t>keys</a:t>
            </a:r>
          </a:p>
          <a:p>
            <a:r>
              <a:rPr sz="2000"/>
              <a:t>To compare values, use the items and a </a:t>
            </a:r>
            <a:r>
              <a:rPr sz="2000">
                <a:latin typeface="Courier New"/>
              </a:rPr>
              <a:t>key</a:t>
            </a:r>
            <a:r>
              <a:rPr sz="2000"/>
              <a:t> function</a:t>
            </a:r>
          </a:p>
          <a:p>
            <a:r>
              <a:rPr sz="2000"/>
              <a:t>Then unpack the winning pair</a:t>
            </a:r>
          </a:p>
        </p:txBody>
      </p:sp>
      <p:sp>
        <p:nvSpPr>
          <p:cNvPr id="4" name="Code"/>
          <p:cNvSpPr/>
          <p:nvPr/>
        </p:nvSpPr>
        <p:spPr>
          <a:xfrm>
            <a:off x="5760720" y="1600200"/>
            <a:ext cx="5928360" cy="164134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400">
                <a:solidFill>
                  <a:srgbClr val="001080"/>
                </a:solidFill>
                <a:latin typeface="Courier New"/>
              </a:rPr>
              <a:t>born</a:t>
            </a:r>
            <a:r>
              <a:rPr sz="1400">
                <a:solidFill>
                  <a:srgbClr val="000000"/>
                </a:solidFill>
                <a:latin typeface="Courier New"/>
              </a:rPr>
              <a:t> = {</a:t>
            </a:r>
            <a:r>
              <a:rPr sz="1400">
                <a:solidFill>
                  <a:srgbClr val="A31515"/>
                </a:solidFill>
                <a:latin typeface="Courier New"/>
              </a:rPr>
              <a:t>"Ada"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1815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A31515"/>
                </a:solidFill>
                <a:latin typeface="Courier New"/>
              </a:rPr>
              <a:t>"Grace"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1906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A31515"/>
                </a:solidFill>
                <a:latin typeface="Courier New"/>
              </a:rPr>
              <a:t>"Alan"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1912</a:t>
            </a:r>
            <a:r>
              <a:rPr sz="14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/>
            <a:r>
              <a:rPr sz="1400">
                <a:solidFill>
                  <a:srgbClr val="795E26"/>
                </a:solidFill>
                <a:latin typeface="Courier New"/>
              </a:rPr>
              <a:t>print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795E26"/>
                </a:solidFill>
                <a:latin typeface="Courier New"/>
              </a:rPr>
              <a:t>max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born</a:t>
            </a:r>
            <a:r>
              <a:rPr sz="140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400">
                <a:solidFill>
                  <a:srgbClr val="795E26"/>
                </a:solidFill>
                <a:latin typeface="Courier New"/>
              </a:rPr>
              <a:t>print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795E26"/>
                </a:solidFill>
                <a:latin typeface="Courier New"/>
              </a:rPr>
              <a:t>max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born</a:t>
            </a:r>
            <a:r>
              <a:rPr sz="1400">
                <a:solidFill>
                  <a:srgbClr val="000000"/>
                </a:solidFill>
                <a:latin typeface="Courier New"/>
              </a:rPr>
              <a:t>.</a:t>
            </a:r>
            <a:r>
              <a:rPr sz="1400">
                <a:solidFill>
                  <a:srgbClr val="795E26"/>
                </a:solidFill>
                <a:latin typeface="Courier New"/>
              </a:rPr>
              <a:t>items</a:t>
            </a:r>
            <a:r>
              <a:rPr sz="1400">
                <a:solidFill>
                  <a:srgbClr val="000000"/>
                </a:solidFill>
                <a:latin typeface="Courier New"/>
              </a:rPr>
              <a:t>(), </a:t>
            </a:r>
            <a:r>
              <a:rPr sz="1400">
                <a:solidFill>
                  <a:srgbClr val="001080"/>
                </a:solidFill>
                <a:latin typeface="Courier New"/>
              </a:rPr>
              <a:t>key</a:t>
            </a:r>
            <a:r>
              <a:rPr sz="1400">
                <a:solidFill>
                  <a:srgbClr val="000000"/>
                </a:solidFill>
                <a:latin typeface="Courier New"/>
              </a:rPr>
              <a:t>=</a:t>
            </a:r>
            <a:r>
              <a:rPr sz="1400">
                <a:solidFill>
                  <a:srgbClr val="001080"/>
                </a:solidFill>
                <a:latin typeface="Courier New"/>
              </a:rPr>
              <a:t>second_element</a:t>
            </a:r>
            <a:r>
              <a:rPr sz="1400">
                <a:solidFill>
                  <a:srgbClr val="000000"/>
                </a:solidFill>
                <a:latin typeface="Courier New"/>
              </a:rPr>
              <a:t>))</a:t>
            </a:r>
          </a:p>
          <a:p>
            <a:pPr algn="l"/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001080"/>
                </a:solidFill>
                <a:latin typeface="Courier New"/>
              </a:rPr>
              <a:t>name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001080"/>
                </a:solidFill>
                <a:latin typeface="Courier New"/>
              </a:rPr>
              <a:t>year</a:t>
            </a:r>
            <a:r>
              <a:rPr sz="1400">
                <a:solidFill>
                  <a:srgbClr val="000000"/>
                </a:solidFill>
                <a:latin typeface="Courier New"/>
              </a:rPr>
              <a:t> = </a:t>
            </a:r>
            <a:r>
              <a:rPr sz="1400">
                <a:solidFill>
                  <a:srgbClr val="795E26"/>
                </a:solidFill>
                <a:latin typeface="Courier New"/>
              </a:rPr>
              <a:t>max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born</a:t>
            </a:r>
            <a:r>
              <a:rPr sz="1400">
                <a:solidFill>
                  <a:srgbClr val="000000"/>
                </a:solidFill>
                <a:latin typeface="Courier New"/>
              </a:rPr>
              <a:t>.</a:t>
            </a:r>
            <a:r>
              <a:rPr sz="1400">
                <a:solidFill>
                  <a:srgbClr val="795E26"/>
                </a:solidFill>
                <a:latin typeface="Courier New"/>
              </a:rPr>
              <a:t>items</a:t>
            </a:r>
            <a:r>
              <a:rPr sz="1400">
                <a:solidFill>
                  <a:srgbClr val="000000"/>
                </a:solidFill>
                <a:latin typeface="Courier New"/>
              </a:rPr>
              <a:t>(), </a:t>
            </a:r>
            <a:r>
              <a:rPr sz="1400">
                <a:solidFill>
                  <a:srgbClr val="001080"/>
                </a:solidFill>
                <a:latin typeface="Courier New"/>
              </a:rPr>
              <a:t>key</a:t>
            </a:r>
            <a:r>
              <a:rPr sz="1400">
                <a:solidFill>
                  <a:srgbClr val="000000"/>
                </a:solidFill>
                <a:latin typeface="Courier New"/>
              </a:rPr>
              <a:t>=</a:t>
            </a:r>
            <a:r>
              <a:rPr sz="1400">
                <a:solidFill>
                  <a:srgbClr val="001080"/>
                </a:solidFill>
                <a:latin typeface="Courier New"/>
              </a:rPr>
              <a:t>second_element</a:t>
            </a:r>
            <a:r>
              <a:rPr sz="14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400">
                <a:solidFill>
                  <a:srgbClr val="795E26"/>
                </a:solidFill>
                <a:latin typeface="Courier New"/>
              </a:rPr>
              <a:t>print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name</a:t>
            </a:r>
            <a:r>
              <a:rPr sz="14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5760720" y="3314700"/>
            <a:ext cx="2072640" cy="905256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Grace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('Alan', 1912)</a:t>
            </a:r>
          </a:p>
          <a:p>
            <a:r>
              <a:rPr sz="1600">
                <a:solidFill>
                  <a:srgbClr val="000000"/>
                </a:solidFill>
                <a:latin typeface="Courier New"/>
              </a:rPr>
              <a:t>Alan</a:t>
            </a:r>
          </a:p>
        </p:txBody>
      </p:sp>
    </p:spTree>
    <p:extLst>
      <p:ext uri="{BB962C8B-B14F-4D97-AF65-F5344CB8AC3E}">
        <p14:creationId xmlns:p14="http://schemas.microsoft.com/office/powerpoint/2010/main" val="27596874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INVERTING A 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4553712" cy="2743200"/>
          </a:xfrm>
        </p:spPr>
        <p:txBody>
          <a:bodyPr/>
          <a:lstStyle/>
          <a:p>
            <a:r>
              <a:rPr sz="2000"/>
              <a:t>Keys are unique, but values don't have to be</a:t>
            </a:r>
          </a:p>
          <a:p>
            <a:r>
              <a:rPr sz="2000"/>
              <a:t>Inverting maps each value to a </a:t>
            </a:r>
            <a:r>
              <a:rPr sz="2000" b="1"/>
              <a:t>list</a:t>
            </a:r>
            <a:r>
              <a:rPr sz="2000"/>
              <a:t> of the keys that had it</a:t>
            </a:r>
          </a:p>
          <a:p>
            <a:r>
              <a:rPr sz="2000"/>
              <a:t>First time we see a value: start a new list</a:t>
            </a:r>
          </a:p>
          <a:p>
            <a:r>
              <a:rPr sz="2000"/>
              <a:t>After that: append to it</a:t>
            </a:r>
          </a:p>
        </p:txBody>
      </p:sp>
      <p:sp>
        <p:nvSpPr>
          <p:cNvPr id="4" name="Code"/>
          <p:cNvSpPr/>
          <p:nvPr/>
        </p:nvSpPr>
        <p:spPr>
          <a:xfrm>
            <a:off x="5669280" y="1600200"/>
            <a:ext cx="5821680" cy="2841498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400">
                <a:solidFill>
                  <a:srgbClr val="0000FF"/>
                </a:solidFill>
                <a:latin typeface="Courier New"/>
              </a:rPr>
              <a:t>def</a:t>
            </a:r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  <a:r>
              <a:rPr sz="1400">
                <a:solidFill>
                  <a:srgbClr val="795E26"/>
                </a:solidFill>
                <a:latin typeface="Courier New"/>
              </a:rPr>
              <a:t>invert_dict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d</a:t>
            </a:r>
            <a:r>
              <a:rPr sz="1400">
                <a:solidFill>
                  <a:srgbClr val="000000"/>
                </a:solidFill>
                <a:latin typeface="Courier New"/>
              </a:rPr>
              <a:t>):</a:t>
            </a:r>
          </a:p>
          <a:p>
            <a:pPr algn="l"/>
            <a:r>
              <a:rPr sz="1400">
                <a:solidFill>
                  <a:srgbClr val="000000"/>
                </a:solidFill>
                <a:latin typeface="Courier New"/>
              </a:rPr>
              <a:t>    </a:t>
            </a:r>
            <a:r>
              <a:rPr sz="1400">
                <a:solidFill>
                  <a:srgbClr val="001080"/>
                </a:solidFill>
                <a:latin typeface="Courier New"/>
              </a:rPr>
              <a:t>new</a:t>
            </a:r>
            <a:r>
              <a:rPr sz="1400">
                <a:solidFill>
                  <a:srgbClr val="000000"/>
                </a:solidFill>
                <a:latin typeface="Courier New"/>
              </a:rPr>
              <a:t> = {}</a:t>
            </a:r>
          </a:p>
          <a:p>
            <a:pPr algn="l"/>
            <a:r>
              <a:rPr sz="1400">
                <a:solidFill>
                  <a:srgbClr val="000000"/>
                </a:solidFill>
                <a:latin typeface="Courier New"/>
              </a:rPr>
              <a:t>    </a:t>
            </a:r>
            <a:r>
              <a:rPr sz="1400">
                <a:solidFill>
                  <a:srgbClr val="0000FF"/>
                </a:solidFill>
                <a:latin typeface="Courier New"/>
              </a:rPr>
              <a:t>for</a:t>
            </a:r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  <a:r>
              <a:rPr sz="1400">
                <a:solidFill>
                  <a:srgbClr val="001080"/>
                </a:solidFill>
                <a:latin typeface="Courier New"/>
              </a:rPr>
              <a:t>key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001080"/>
                </a:solidFill>
                <a:latin typeface="Courier New"/>
              </a:rPr>
              <a:t>value</a:t>
            </a:r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  <a:r>
              <a:rPr sz="1400">
                <a:solidFill>
                  <a:srgbClr val="0000FF"/>
                </a:solidFill>
                <a:latin typeface="Courier New"/>
              </a:rPr>
              <a:t>in</a:t>
            </a:r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  <a:r>
              <a:rPr sz="1400">
                <a:solidFill>
                  <a:srgbClr val="001080"/>
                </a:solidFill>
                <a:latin typeface="Courier New"/>
              </a:rPr>
              <a:t>d</a:t>
            </a:r>
            <a:r>
              <a:rPr sz="1400">
                <a:solidFill>
                  <a:srgbClr val="000000"/>
                </a:solidFill>
                <a:latin typeface="Courier New"/>
              </a:rPr>
              <a:t>.</a:t>
            </a:r>
            <a:r>
              <a:rPr sz="1400">
                <a:solidFill>
                  <a:srgbClr val="795E26"/>
                </a:solidFill>
                <a:latin typeface="Courier New"/>
              </a:rPr>
              <a:t>items</a:t>
            </a:r>
            <a:r>
              <a:rPr sz="1400">
                <a:solidFill>
                  <a:srgbClr val="000000"/>
                </a:solidFill>
                <a:latin typeface="Courier New"/>
              </a:rPr>
              <a:t>():</a:t>
            </a:r>
          </a:p>
          <a:p>
            <a:pPr algn="l"/>
            <a:r>
              <a:rPr sz="1400">
                <a:solidFill>
                  <a:srgbClr val="000000"/>
                </a:solidFill>
                <a:latin typeface="Courier New"/>
              </a:rPr>
              <a:t>        </a:t>
            </a:r>
            <a:r>
              <a:rPr sz="1400">
                <a:solidFill>
                  <a:srgbClr val="0000FF"/>
                </a:solidFill>
                <a:latin typeface="Courier New"/>
              </a:rPr>
              <a:t>if</a:t>
            </a:r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  <a:r>
              <a:rPr sz="1400">
                <a:solidFill>
                  <a:srgbClr val="001080"/>
                </a:solidFill>
                <a:latin typeface="Courier New"/>
              </a:rPr>
              <a:t>value</a:t>
            </a:r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  <a:r>
              <a:rPr sz="1400">
                <a:solidFill>
                  <a:srgbClr val="0000FF"/>
                </a:solidFill>
                <a:latin typeface="Courier New"/>
              </a:rPr>
              <a:t>not</a:t>
            </a:r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  <a:r>
              <a:rPr sz="1400">
                <a:solidFill>
                  <a:srgbClr val="0000FF"/>
                </a:solidFill>
                <a:latin typeface="Courier New"/>
              </a:rPr>
              <a:t>in</a:t>
            </a:r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  <a:r>
              <a:rPr sz="1400">
                <a:solidFill>
                  <a:srgbClr val="001080"/>
                </a:solidFill>
                <a:latin typeface="Courier New"/>
              </a:rPr>
              <a:t>new</a:t>
            </a:r>
            <a:r>
              <a:rPr sz="1400">
                <a:solidFill>
                  <a:srgbClr val="000000"/>
                </a:solidFill>
                <a:latin typeface="Courier New"/>
              </a:rPr>
              <a:t>:</a:t>
            </a:r>
          </a:p>
          <a:p>
            <a:pPr algn="l"/>
            <a:r>
              <a:rPr sz="1400">
                <a:solidFill>
                  <a:srgbClr val="000000"/>
                </a:solidFill>
                <a:latin typeface="Courier New"/>
              </a:rPr>
              <a:t>            </a:t>
            </a:r>
            <a:r>
              <a:rPr sz="1400">
                <a:solidFill>
                  <a:srgbClr val="001080"/>
                </a:solidFill>
                <a:latin typeface="Courier New"/>
              </a:rPr>
              <a:t>new</a:t>
            </a:r>
            <a:r>
              <a:rPr sz="1400">
                <a:solidFill>
                  <a:srgbClr val="000000"/>
                </a:solidFill>
                <a:latin typeface="Courier New"/>
              </a:rPr>
              <a:t>[</a:t>
            </a:r>
            <a:r>
              <a:rPr sz="1400">
                <a:solidFill>
                  <a:srgbClr val="001080"/>
                </a:solidFill>
                <a:latin typeface="Courier New"/>
              </a:rPr>
              <a:t>value</a:t>
            </a:r>
            <a:r>
              <a:rPr sz="1400">
                <a:solidFill>
                  <a:srgbClr val="000000"/>
                </a:solidFill>
                <a:latin typeface="Courier New"/>
              </a:rPr>
              <a:t>] = [</a:t>
            </a:r>
            <a:r>
              <a:rPr sz="1400">
                <a:solidFill>
                  <a:srgbClr val="001080"/>
                </a:solidFill>
                <a:latin typeface="Courier New"/>
              </a:rPr>
              <a:t>key</a:t>
            </a:r>
            <a:r>
              <a:rPr sz="1400">
                <a:solidFill>
                  <a:srgbClr val="000000"/>
                </a:solidFill>
                <a:latin typeface="Courier New"/>
              </a:rPr>
              <a:t>]</a:t>
            </a:r>
          </a:p>
          <a:p>
            <a:pPr algn="l"/>
            <a:r>
              <a:rPr sz="1400">
                <a:solidFill>
                  <a:srgbClr val="000000"/>
                </a:solidFill>
                <a:latin typeface="Courier New"/>
              </a:rPr>
              <a:t>        </a:t>
            </a:r>
            <a:r>
              <a:rPr sz="1400">
                <a:solidFill>
                  <a:srgbClr val="0000FF"/>
                </a:solidFill>
                <a:latin typeface="Courier New"/>
              </a:rPr>
              <a:t>else</a:t>
            </a:r>
            <a:r>
              <a:rPr sz="1400">
                <a:solidFill>
                  <a:srgbClr val="000000"/>
                </a:solidFill>
                <a:latin typeface="Courier New"/>
              </a:rPr>
              <a:t>:</a:t>
            </a:r>
          </a:p>
          <a:p>
            <a:pPr algn="l"/>
            <a:r>
              <a:rPr sz="1400">
                <a:solidFill>
                  <a:srgbClr val="000000"/>
                </a:solidFill>
                <a:latin typeface="Courier New"/>
              </a:rPr>
              <a:t>            </a:t>
            </a:r>
            <a:r>
              <a:rPr sz="1400">
                <a:solidFill>
                  <a:srgbClr val="001080"/>
                </a:solidFill>
                <a:latin typeface="Courier New"/>
              </a:rPr>
              <a:t>new</a:t>
            </a:r>
            <a:r>
              <a:rPr sz="1400">
                <a:solidFill>
                  <a:srgbClr val="000000"/>
                </a:solidFill>
                <a:latin typeface="Courier New"/>
              </a:rPr>
              <a:t>[</a:t>
            </a:r>
            <a:r>
              <a:rPr sz="1400">
                <a:solidFill>
                  <a:srgbClr val="001080"/>
                </a:solidFill>
                <a:latin typeface="Courier New"/>
              </a:rPr>
              <a:t>value</a:t>
            </a:r>
            <a:r>
              <a:rPr sz="1400">
                <a:solidFill>
                  <a:srgbClr val="000000"/>
                </a:solidFill>
                <a:latin typeface="Courier New"/>
              </a:rPr>
              <a:t>].</a:t>
            </a:r>
            <a:r>
              <a:rPr sz="1400">
                <a:solidFill>
                  <a:srgbClr val="795E26"/>
                </a:solidFill>
                <a:latin typeface="Courier New"/>
              </a:rPr>
              <a:t>append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key</a:t>
            </a:r>
            <a:r>
              <a:rPr sz="14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400">
                <a:solidFill>
                  <a:srgbClr val="000000"/>
                </a:solidFill>
                <a:latin typeface="Courier New"/>
              </a:rPr>
              <a:t>    </a:t>
            </a:r>
            <a:r>
              <a:rPr sz="1400">
                <a:solidFill>
                  <a:srgbClr val="0000FF"/>
                </a:solidFill>
                <a:latin typeface="Courier New"/>
              </a:rPr>
              <a:t>return</a:t>
            </a:r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  <a:r>
              <a:rPr sz="1400">
                <a:solidFill>
                  <a:srgbClr val="001080"/>
                </a:solidFill>
                <a:latin typeface="Courier New"/>
              </a:rPr>
              <a:t>new</a:t>
            </a:r>
          </a:p>
          <a:p>
            <a:pPr algn="l"/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001080"/>
                </a:solidFill>
                <a:latin typeface="Courier New"/>
              </a:rPr>
              <a:t>counts</a:t>
            </a:r>
            <a:r>
              <a:rPr sz="1400">
                <a:solidFill>
                  <a:srgbClr val="000000"/>
                </a:solidFill>
                <a:latin typeface="Courier New"/>
              </a:rPr>
              <a:t> = {</a:t>
            </a:r>
            <a:r>
              <a:rPr sz="1400">
                <a:solidFill>
                  <a:srgbClr val="A31515"/>
                </a:solidFill>
                <a:latin typeface="Courier New"/>
              </a:rPr>
              <a:t>"p"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1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A31515"/>
                </a:solidFill>
                <a:latin typeface="Courier New"/>
              </a:rPr>
              <a:t>"a"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1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A31515"/>
                </a:solidFill>
                <a:latin typeface="Courier New"/>
              </a:rPr>
              <a:t>"r"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2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A31515"/>
                </a:solidFill>
                <a:latin typeface="Courier New"/>
              </a:rPr>
              <a:t>"o"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1</a:t>
            </a:r>
            <a:r>
              <a:rPr sz="1400">
                <a:solidFill>
                  <a:srgbClr val="000000"/>
                </a:solidFill>
                <a:latin typeface="Courier New"/>
              </a:rPr>
              <a:t>, </a:t>
            </a:r>
            <a:r>
              <a:rPr sz="1400">
                <a:solidFill>
                  <a:srgbClr val="A31515"/>
                </a:solidFill>
                <a:latin typeface="Courier New"/>
              </a:rPr>
              <a:t>"t"</a:t>
            </a:r>
            <a:r>
              <a:rPr sz="1400">
                <a:solidFill>
                  <a:srgbClr val="000000"/>
                </a:solidFill>
                <a:latin typeface="Courier New"/>
              </a:rPr>
              <a:t>: </a:t>
            </a:r>
            <a:r>
              <a:rPr sz="1400">
                <a:solidFill>
                  <a:srgbClr val="098658"/>
                </a:solidFill>
                <a:latin typeface="Courier New"/>
              </a:rPr>
              <a:t>1</a:t>
            </a:r>
            <a:r>
              <a:rPr sz="140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l"/>
            <a:r>
              <a:rPr sz="1400">
                <a:solidFill>
                  <a:srgbClr val="795E26"/>
                </a:solidFill>
                <a:latin typeface="Courier New"/>
              </a:rPr>
              <a:t>print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795E26"/>
                </a:solidFill>
                <a:latin typeface="Courier New"/>
              </a:rPr>
              <a:t>invert_dict</a:t>
            </a:r>
            <a:r>
              <a:rPr sz="1400">
                <a:solidFill>
                  <a:srgbClr val="000000"/>
                </a:solidFill>
                <a:latin typeface="Courier New"/>
              </a:rPr>
              <a:t>(</a:t>
            </a:r>
            <a:r>
              <a:rPr sz="1400">
                <a:solidFill>
                  <a:srgbClr val="001080"/>
                </a:solidFill>
                <a:latin typeface="Courier New"/>
              </a:rPr>
              <a:t>counts</a:t>
            </a:r>
            <a:r>
              <a:rPr sz="1400">
                <a:solidFill>
                  <a:srgbClr val="000000"/>
                </a:solidFill>
                <a:latin typeface="Courier New"/>
              </a:rPr>
              <a:t>))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5669280" y="4514850"/>
            <a:ext cx="4632960" cy="301752"/>
          </a:xfrm>
          <a:prstGeom prst="rect">
            <a:avLst/>
          </a:prstGeom>
          <a:noFill/>
        </p:spPr>
        <p:txBody>
          <a:bodyPr wrap="none" lIns="13716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{1: ['p', 'a', 'o', 't'], 2: ['r']}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 THE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4480560" cy="2743200"/>
          </a:xfrm>
        </p:spPr>
        <p:txBody>
          <a:bodyPr/>
          <a:lstStyle/>
          <a:p>
            <a:r>
              <a:rPr sz="2200"/>
              <a:t>Work these out on paper before running them</a:t>
            </a:r>
          </a:p>
          <a:p>
            <a:r>
              <a:rPr sz="2200"/>
              <a:t>Then check your answers in Colab</a:t>
            </a:r>
          </a:p>
          <a:p>
            <a:r>
              <a:rPr sz="2200"/>
              <a:t>Draw the arrows!</a:t>
            </a:r>
          </a:p>
          <a:p>
            <a:r>
              <a:rPr sz="2200"/>
              <a:t>Watch the third one closely</a:t>
            </a:r>
          </a:p>
        </p:txBody>
      </p:sp>
      <p:sp>
        <p:nvSpPr>
          <p:cNvPr id="4" name="Code"/>
          <p:cNvSpPr/>
          <p:nvPr/>
        </p:nvSpPr>
        <p:spPr>
          <a:xfrm>
            <a:off x="5943600" y="1325880"/>
            <a:ext cx="2880360" cy="3544443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t</a:t>
            </a:r>
            <a:r>
              <a:rPr sz="1500">
                <a:solidFill>
                  <a:srgbClr val="000000"/>
                </a:solidFill>
                <a:latin typeface="Courier New"/>
              </a:rPr>
              <a:t> = (</a:t>
            </a:r>
            <a:r>
              <a:rPr sz="1500">
                <a:solidFill>
                  <a:srgbClr val="A31515"/>
                </a:solidFill>
                <a:latin typeface="Courier New"/>
              </a:rPr>
              <a:t>"a"</a:t>
            </a:r>
            <a:r>
              <a:rPr sz="1500">
                <a:solidFill>
                  <a:srgbClr val="000000"/>
                </a:solidFill>
                <a:latin typeface="Courier New"/>
              </a:rPr>
              <a:t>, [</a:t>
            </a:r>
            <a:r>
              <a:rPr sz="1500">
                <a:solidFill>
                  <a:srgbClr val="A31515"/>
                </a:solidFill>
                <a:latin typeface="Courier New"/>
              </a:rPr>
              <a:t>"b"</a:t>
            </a:r>
            <a:r>
              <a:rPr sz="1500">
                <a:solidFill>
                  <a:srgbClr val="000000"/>
                </a:solidFill>
                <a:latin typeface="Courier New"/>
              </a:rPr>
              <a:t>])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u</a:t>
            </a:r>
            <a:r>
              <a:rPr sz="1500">
                <a:solidFill>
                  <a:srgbClr val="000000"/>
                </a:solidFill>
                <a:latin typeface="Courier New"/>
              </a:rPr>
              <a:t> = </a:t>
            </a:r>
            <a:r>
              <a:rPr sz="1500">
                <a:solidFill>
                  <a:srgbClr val="001080"/>
                </a:solidFill>
                <a:latin typeface="Courier New"/>
              </a:rPr>
              <a:t>t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u</a:t>
            </a:r>
            <a:r>
              <a:rPr sz="1500">
                <a:solidFill>
                  <a:srgbClr val="000000"/>
                </a:solidFill>
                <a:latin typeface="Courier New"/>
              </a:rPr>
              <a:t>[</a:t>
            </a:r>
            <a:r>
              <a:rPr sz="1500">
                <a:solidFill>
                  <a:srgbClr val="098658"/>
                </a:solidFill>
                <a:latin typeface="Courier New"/>
              </a:rPr>
              <a:t>1</a:t>
            </a:r>
            <a:r>
              <a:rPr sz="1500">
                <a:solidFill>
                  <a:srgbClr val="000000"/>
                </a:solidFill>
                <a:latin typeface="Courier New"/>
              </a:rPr>
              <a:t>].</a:t>
            </a:r>
            <a:r>
              <a:rPr sz="1500">
                <a:solidFill>
                  <a:srgbClr val="795E26"/>
                </a:solidFill>
                <a:latin typeface="Courier New"/>
              </a:rPr>
              <a:t>append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A31515"/>
                </a:solidFill>
                <a:latin typeface="Courier New"/>
              </a:rPr>
              <a:t>"c"</a:t>
            </a:r>
            <a:r>
              <a:rPr sz="15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500">
                <a:solidFill>
                  <a:srgbClr val="795E26"/>
                </a:solidFill>
                <a:latin typeface="Courier New"/>
              </a:rPr>
              <a:t>print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001080"/>
                </a:solidFill>
                <a:latin typeface="Courier New"/>
              </a:rPr>
              <a:t>t</a:t>
            </a:r>
            <a:r>
              <a:rPr sz="15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5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x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01080"/>
                </a:solidFill>
                <a:latin typeface="Courier New"/>
              </a:rPr>
              <a:t>y</a:t>
            </a:r>
            <a:r>
              <a:rPr sz="1500">
                <a:solidFill>
                  <a:srgbClr val="000000"/>
                </a:solidFill>
                <a:latin typeface="Courier New"/>
              </a:rPr>
              <a:t> = </a:t>
            </a:r>
            <a:r>
              <a:rPr sz="1500">
                <a:solidFill>
                  <a:srgbClr val="098658"/>
                </a:solidFill>
                <a:latin typeface="Courier New"/>
              </a:rPr>
              <a:t>1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98658"/>
                </a:solidFill>
                <a:latin typeface="Courier New"/>
              </a:rPr>
              <a:t>2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x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01080"/>
                </a:solidFill>
                <a:latin typeface="Courier New"/>
              </a:rPr>
              <a:t>y</a:t>
            </a:r>
            <a:r>
              <a:rPr sz="1500">
                <a:solidFill>
                  <a:srgbClr val="000000"/>
                </a:solidFill>
                <a:latin typeface="Courier New"/>
              </a:rPr>
              <a:t> = </a:t>
            </a:r>
            <a:r>
              <a:rPr sz="1500">
                <a:solidFill>
                  <a:srgbClr val="001080"/>
                </a:solidFill>
                <a:latin typeface="Courier New"/>
              </a:rPr>
              <a:t>y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01080"/>
                </a:solidFill>
                <a:latin typeface="Courier New"/>
              </a:rPr>
              <a:t>x</a:t>
            </a:r>
            <a:r>
              <a:rPr sz="1500">
                <a:solidFill>
                  <a:srgbClr val="000000"/>
                </a:solidFill>
                <a:latin typeface="Courier New"/>
              </a:rPr>
              <a:t> + </a:t>
            </a:r>
            <a:r>
              <a:rPr sz="1500">
                <a:solidFill>
                  <a:srgbClr val="001080"/>
                </a:solidFill>
                <a:latin typeface="Courier New"/>
              </a:rPr>
              <a:t>y</a:t>
            </a:r>
          </a:p>
          <a:p>
            <a:pPr algn="l"/>
            <a:r>
              <a:rPr sz="1500">
                <a:solidFill>
                  <a:srgbClr val="795E26"/>
                </a:solidFill>
                <a:latin typeface="Courier New"/>
              </a:rPr>
              <a:t>print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001080"/>
                </a:solidFill>
                <a:latin typeface="Courier New"/>
              </a:rPr>
              <a:t>x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01080"/>
                </a:solidFill>
                <a:latin typeface="Courier New"/>
              </a:rPr>
              <a:t>y</a:t>
            </a:r>
            <a:r>
              <a:rPr sz="15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5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d</a:t>
            </a:r>
            <a:r>
              <a:rPr sz="1500">
                <a:solidFill>
                  <a:srgbClr val="000000"/>
                </a:solidFill>
                <a:latin typeface="Courier New"/>
              </a:rPr>
              <a:t> = {}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d</a:t>
            </a:r>
            <a:r>
              <a:rPr sz="1500">
                <a:solidFill>
                  <a:srgbClr val="000000"/>
                </a:solidFill>
                <a:latin typeface="Courier New"/>
              </a:rPr>
              <a:t>[</a:t>
            </a:r>
            <a:r>
              <a:rPr sz="1500">
                <a:solidFill>
                  <a:srgbClr val="098658"/>
                </a:solidFill>
                <a:latin typeface="Courier New"/>
              </a:rPr>
              <a:t>1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98658"/>
                </a:solidFill>
                <a:latin typeface="Courier New"/>
              </a:rPr>
              <a:t>2</a:t>
            </a:r>
            <a:r>
              <a:rPr sz="1500">
                <a:solidFill>
                  <a:srgbClr val="000000"/>
                </a:solidFill>
                <a:latin typeface="Courier New"/>
              </a:rPr>
              <a:t>] = </a:t>
            </a:r>
            <a:r>
              <a:rPr sz="1500">
                <a:solidFill>
                  <a:srgbClr val="A31515"/>
                </a:solidFill>
                <a:latin typeface="Courier New"/>
              </a:rPr>
              <a:t>"first"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d</a:t>
            </a:r>
            <a:r>
              <a:rPr sz="1500">
                <a:solidFill>
                  <a:srgbClr val="000000"/>
                </a:solidFill>
                <a:latin typeface="Courier New"/>
              </a:rPr>
              <a:t>[(</a:t>
            </a:r>
            <a:r>
              <a:rPr sz="1500">
                <a:solidFill>
                  <a:srgbClr val="098658"/>
                </a:solidFill>
                <a:latin typeface="Courier New"/>
              </a:rPr>
              <a:t>1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98658"/>
                </a:solidFill>
                <a:latin typeface="Courier New"/>
              </a:rPr>
              <a:t>2</a:t>
            </a:r>
            <a:r>
              <a:rPr sz="1500">
                <a:solidFill>
                  <a:srgbClr val="000000"/>
                </a:solidFill>
                <a:latin typeface="Courier New"/>
              </a:rPr>
              <a:t>)] = </a:t>
            </a:r>
            <a:r>
              <a:rPr sz="1500">
                <a:solidFill>
                  <a:srgbClr val="A31515"/>
                </a:solidFill>
                <a:latin typeface="Courier New"/>
              </a:rPr>
              <a:t>"second"</a:t>
            </a:r>
          </a:p>
          <a:p>
            <a:pPr algn="l"/>
            <a:r>
              <a:rPr sz="1500">
                <a:solidFill>
                  <a:srgbClr val="795E26"/>
                </a:solidFill>
                <a:latin typeface="Courier New"/>
              </a:rPr>
              <a:t>print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795E26"/>
                </a:solidFill>
                <a:latin typeface="Courier New"/>
              </a:rPr>
              <a:t>len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001080"/>
                </a:solidFill>
                <a:latin typeface="Courier New"/>
              </a:rPr>
              <a:t>d</a:t>
            </a:r>
            <a:r>
              <a:rPr sz="1500">
                <a:solidFill>
                  <a:srgbClr val="000000"/>
                </a:solidFill>
                <a:latin typeface="Courier New"/>
              </a:rPr>
              <a:t>))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 THE OUTPUT: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4480560" cy="2743200"/>
          </a:xfrm>
        </p:spPr>
        <p:txBody>
          <a:bodyPr/>
          <a:lstStyle/>
          <a:p>
            <a:r>
              <a:rPr sz="2000" b="1"/>
              <a:t>1: </a:t>
            </a:r>
            <a:r>
              <a:rPr sz="2000">
                <a:latin typeface="Courier New"/>
              </a:rPr>
              <a:t>u</a:t>
            </a:r>
            <a:r>
              <a:rPr sz="2000"/>
              <a:t> is another name for </a:t>
            </a:r>
            <a:r>
              <a:rPr sz="2000">
                <a:latin typeface="Courier New"/>
              </a:rPr>
              <a:t>t</a:t>
            </a:r>
            <a:r>
              <a:rPr sz="2000"/>
              <a:t>, and </a:t>
            </a:r>
            <a:r>
              <a:rPr sz="2000">
                <a:latin typeface="Courier New"/>
              </a:rPr>
              <a:t>append</a:t>
            </a:r>
            <a:r>
              <a:rPr sz="2000"/>
              <a:t> changes the list inside it</a:t>
            </a:r>
          </a:p>
          <a:p>
            <a:r>
              <a:rPr sz="2000" b="1"/>
              <a:t>2: </a:t>
            </a:r>
            <a:r>
              <a:rPr sz="2000"/>
              <a:t>The whole right side is worked out first, using the old </a:t>
            </a:r>
            <a:r>
              <a:rPr sz="2000">
                <a:latin typeface="Courier New"/>
              </a:rPr>
              <a:t>x</a:t>
            </a:r>
          </a:p>
          <a:p>
            <a:r>
              <a:rPr sz="2000" b="1"/>
              <a:t>3: </a:t>
            </a:r>
            <a:r>
              <a:rPr sz="2000">
                <a:latin typeface="Courier New"/>
              </a:rPr>
              <a:t>d[1, 2]</a:t>
            </a:r>
            <a:r>
              <a:rPr sz="2000"/>
              <a:t> and </a:t>
            </a:r>
            <a:r>
              <a:rPr sz="2000">
                <a:latin typeface="Courier New"/>
              </a:rPr>
              <a:t>d[(1, 2)]</a:t>
            </a:r>
            <a:r>
              <a:rPr sz="2000"/>
              <a:t> are the same key, so the second one replaces the first</a:t>
            </a:r>
          </a:p>
        </p:txBody>
      </p:sp>
      <p:sp>
        <p:nvSpPr>
          <p:cNvPr id="4" name="Code"/>
          <p:cNvSpPr/>
          <p:nvPr/>
        </p:nvSpPr>
        <p:spPr>
          <a:xfrm>
            <a:off x="5943600" y="1325880"/>
            <a:ext cx="2880360" cy="3544443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t</a:t>
            </a:r>
            <a:r>
              <a:rPr sz="1500">
                <a:solidFill>
                  <a:srgbClr val="000000"/>
                </a:solidFill>
                <a:latin typeface="Courier New"/>
              </a:rPr>
              <a:t> = (</a:t>
            </a:r>
            <a:r>
              <a:rPr sz="1500">
                <a:solidFill>
                  <a:srgbClr val="A31515"/>
                </a:solidFill>
                <a:latin typeface="Courier New"/>
              </a:rPr>
              <a:t>"a"</a:t>
            </a:r>
            <a:r>
              <a:rPr sz="1500">
                <a:solidFill>
                  <a:srgbClr val="000000"/>
                </a:solidFill>
                <a:latin typeface="Courier New"/>
              </a:rPr>
              <a:t>, [</a:t>
            </a:r>
            <a:r>
              <a:rPr sz="1500">
                <a:solidFill>
                  <a:srgbClr val="A31515"/>
                </a:solidFill>
                <a:latin typeface="Courier New"/>
              </a:rPr>
              <a:t>"b"</a:t>
            </a:r>
            <a:r>
              <a:rPr sz="1500">
                <a:solidFill>
                  <a:srgbClr val="000000"/>
                </a:solidFill>
                <a:latin typeface="Courier New"/>
              </a:rPr>
              <a:t>])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u</a:t>
            </a:r>
            <a:r>
              <a:rPr sz="1500">
                <a:solidFill>
                  <a:srgbClr val="000000"/>
                </a:solidFill>
                <a:latin typeface="Courier New"/>
              </a:rPr>
              <a:t> = </a:t>
            </a:r>
            <a:r>
              <a:rPr sz="1500">
                <a:solidFill>
                  <a:srgbClr val="001080"/>
                </a:solidFill>
                <a:latin typeface="Courier New"/>
              </a:rPr>
              <a:t>t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u</a:t>
            </a:r>
            <a:r>
              <a:rPr sz="1500">
                <a:solidFill>
                  <a:srgbClr val="000000"/>
                </a:solidFill>
                <a:latin typeface="Courier New"/>
              </a:rPr>
              <a:t>[</a:t>
            </a:r>
            <a:r>
              <a:rPr sz="1500">
                <a:solidFill>
                  <a:srgbClr val="098658"/>
                </a:solidFill>
                <a:latin typeface="Courier New"/>
              </a:rPr>
              <a:t>1</a:t>
            </a:r>
            <a:r>
              <a:rPr sz="1500">
                <a:solidFill>
                  <a:srgbClr val="000000"/>
                </a:solidFill>
                <a:latin typeface="Courier New"/>
              </a:rPr>
              <a:t>].</a:t>
            </a:r>
            <a:r>
              <a:rPr sz="1500">
                <a:solidFill>
                  <a:srgbClr val="795E26"/>
                </a:solidFill>
                <a:latin typeface="Courier New"/>
              </a:rPr>
              <a:t>append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A31515"/>
                </a:solidFill>
                <a:latin typeface="Courier New"/>
              </a:rPr>
              <a:t>"c"</a:t>
            </a:r>
            <a:r>
              <a:rPr sz="15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500">
                <a:solidFill>
                  <a:srgbClr val="795E26"/>
                </a:solidFill>
                <a:latin typeface="Courier New"/>
              </a:rPr>
              <a:t>print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001080"/>
                </a:solidFill>
                <a:latin typeface="Courier New"/>
              </a:rPr>
              <a:t>t</a:t>
            </a:r>
            <a:r>
              <a:rPr sz="15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5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x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01080"/>
                </a:solidFill>
                <a:latin typeface="Courier New"/>
              </a:rPr>
              <a:t>y</a:t>
            </a:r>
            <a:r>
              <a:rPr sz="1500">
                <a:solidFill>
                  <a:srgbClr val="000000"/>
                </a:solidFill>
                <a:latin typeface="Courier New"/>
              </a:rPr>
              <a:t> = </a:t>
            </a:r>
            <a:r>
              <a:rPr sz="1500">
                <a:solidFill>
                  <a:srgbClr val="098658"/>
                </a:solidFill>
                <a:latin typeface="Courier New"/>
              </a:rPr>
              <a:t>1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98658"/>
                </a:solidFill>
                <a:latin typeface="Courier New"/>
              </a:rPr>
              <a:t>2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x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01080"/>
                </a:solidFill>
                <a:latin typeface="Courier New"/>
              </a:rPr>
              <a:t>y</a:t>
            </a:r>
            <a:r>
              <a:rPr sz="1500">
                <a:solidFill>
                  <a:srgbClr val="000000"/>
                </a:solidFill>
                <a:latin typeface="Courier New"/>
              </a:rPr>
              <a:t> = </a:t>
            </a:r>
            <a:r>
              <a:rPr sz="1500">
                <a:solidFill>
                  <a:srgbClr val="001080"/>
                </a:solidFill>
                <a:latin typeface="Courier New"/>
              </a:rPr>
              <a:t>y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01080"/>
                </a:solidFill>
                <a:latin typeface="Courier New"/>
              </a:rPr>
              <a:t>x</a:t>
            </a:r>
            <a:r>
              <a:rPr sz="1500">
                <a:solidFill>
                  <a:srgbClr val="000000"/>
                </a:solidFill>
                <a:latin typeface="Courier New"/>
              </a:rPr>
              <a:t> + </a:t>
            </a:r>
            <a:r>
              <a:rPr sz="1500">
                <a:solidFill>
                  <a:srgbClr val="001080"/>
                </a:solidFill>
                <a:latin typeface="Courier New"/>
              </a:rPr>
              <a:t>y</a:t>
            </a:r>
          </a:p>
          <a:p>
            <a:pPr algn="l"/>
            <a:r>
              <a:rPr sz="1500">
                <a:solidFill>
                  <a:srgbClr val="795E26"/>
                </a:solidFill>
                <a:latin typeface="Courier New"/>
              </a:rPr>
              <a:t>print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001080"/>
                </a:solidFill>
                <a:latin typeface="Courier New"/>
              </a:rPr>
              <a:t>x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01080"/>
                </a:solidFill>
                <a:latin typeface="Courier New"/>
              </a:rPr>
              <a:t>y</a:t>
            </a:r>
            <a:r>
              <a:rPr sz="15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/>
            <a:r>
              <a:rPr sz="15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d</a:t>
            </a:r>
            <a:r>
              <a:rPr sz="1500">
                <a:solidFill>
                  <a:srgbClr val="000000"/>
                </a:solidFill>
                <a:latin typeface="Courier New"/>
              </a:rPr>
              <a:t> = {}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d</a:t>
            </a:r>
            <a:r>
              <a:rPr sz="1500">
                <a:solidFill>
                  <a:srgbClr val="000000"/>
                </a:solidFill>
                <a:latin typeface="Courier New"/>
              </a:rPr>
              <a:t>[</a:t>
            </a:r>
            <a:r>
              <a:rPr sz="1500">
                <a:solidFill>
                  <a:srgbClr val="098658"/>
                </a:solidFill>
                <a:latin typeface="Courier New"/>
              </a:rPr>
              <a:t>1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98658"/>
                </a:solidFill>
                <a:latin typeface="Courier New"/>
              </a:rPr>
              <a:t>2</a:t>
            </a:r>
            <a:r>
              <a:rPr sz="1500">
                <a:solidFill>
                  <a:srgbClr val="000000"/>
                </a:solidFill>
                <a:latin typeface="Courier New"/>
              </a:rPr>
              <a:t>] = </a:t>
            </a:r>
            <a:r>
              <a:rPr sz="1500">
                <a:solidFill>
                  <a:srgbClr val="A31515"/>
                </a:solidFill>
                <a:latin typeface="Courier New"/>
              </a:rPr>
              <a:t>"first"</a:t>
            </a:r>
          </a:p>
          <a:p>
            <a:pPr algn="l"/>
            <a:r>
              <a:rPr sz="1500">
                <a:solidFill>
                  <a:srgbClr val="001080"/>
                </a:solidFill>
                <a:latin typeface="Courier New"/>
              </a:rPr>
              <a:t>d</a:t>
            </a:r>
            <a:r>
              <a:rPr sz="1500">
                <a:solidFill>
                  <a:srgbClr val="000000"/>
                </a:solidFill>
                <a:latin typeface="Courier New"/>
              </a:rPr>
              <a:t>[(</a:t>
            </a:r>
            <a:r>
              <a:rPr sz="1500">
                <a:solidFill>
                  <a:srgbClr val="098658"/>
                </a:solidFill>
                <a:latin typeface="Courier New"/>
              </a:rPr>
              <a:t>1</a:t>
            </a:r>
            <a:r>
              <a:rPr sz="1500">
                <a:solidFill>
                  <a:srgbClr val="000000"/>
                </a:solidFill>
                <a:latin typeface="Courier New"/>
              </a:rPr>
              <a:t>, </a:t>
            </a:r>
            <a:r>
              <a:rPr sz="1500">
                <a:solidFill>
                  <a:srgbClr val="098658"/>
                </a:solidFill>
                <a:latin typeface="Courier New"/>
              </a:rPr>
              <a:t>2</a:t>
            </a:r>
            <a:r>
              <a:rPr sz="1500">
                <a:solidFill>
                  <a:srgbClr val="000000"/>
                </a:solidFill>
                <a:latin typeface="Courier New"/>
              </a:rPr>
              <a:t>)] = </a:t>
            </a:r>
            <a:r>
              <a:rPr sz="1500">
                <a:solidFill>
                  <a:srgbClr val="A31515"/>
                </a:solidFill>
                <a:latin typeface="Courier New"/>
              </a:rPr>
              <a:t>"second"</a:t>
            </a:r>
          </a:p>
          <a:p>
            <a:pPr algn="l"/>
            <a:r>
              <a:rPr sz="1500">
                <a:solidFill>
                  <a:srgbClr val="795E26"/>
                </a:solidFill>
                <a:latin typeface="Courier New"/>
              </a:rPr>
              <a:t>print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795E26"/>
                </a:solidFill>
                <a:latin typeface="Courier New"/>
              </a:rPr>
              <a:t>len</a:t>
            </a:r>
            <a:r>
              <a:rPr sz="1500">
                <a:solidFill>
                  <a:srgbClr val="000000"/>
                </a:solidFill>
                <a:latin typeface="Courier New"/>
              </a:rPr>
              <a:t>(</a:t>
            </a:r>
            <a:r>
              <a:rPr sz="1500">
                <a:solidFill>
                  <a:srgbClr val="001080"/>
                </a:solidFill>
                <a:latin typeface="Courier New"/>
              </a:rPr>
              <a:t>d</a:t>
            </a:r>
            <a:r>
              <a:rPr sz="1500">
                <a:solidFill>
                  <a:srgbClr val="000000"/>
                </a:solidFill>
                <a:latin typeface="Courier New"/>
              </a:rPr>
              <a:t>))</a:t>
            </a:r>
          </a:p>
        </p:txBody>
      </p:sp>
      <p:sp>
        <p:nvSpPr>
          <p:cNvPr id="5" name="Output"/>
          <p:cNvSpPr txBox="1"/>
          <p:nvPr/>
        </p:nvSpPr>
        <p:spPr>
          <a:xfrm>
            <a:off x="9052560" y="227971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>
                <a:solidFill>
                  <a:srgbClr val="000000"/>
                </a:solidFill>
                <a:latin typeface="Courier New"/>
              </a:rPr>
              <a:t>→ ('a', ['b', 'c'])</a:t>
            </a:r>
          </a:p>
        </p:txBody>
      </p:sp>
      <p:sp>
        <p:nvSpPr>
          <p:cNvPr id="6" name="Output"/>
          <p:cNvSpPr txBox="1"/>
          <p:nvPr/>
        </p:nvSpPr>
        <p:spPr>
          <a:xfrm>
            <a:off x="9052560" y="319411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>
                <a:solidFill>
                  <a:srgbClr val="000000"/>
                </a:solidFill>
                <a:latin typeface="Courier New"/>
              </a:rPr>
              <a:t>→ 2 3</a:t>
            </a:r>
          </a:p>
        </p:txBody>
      </p:sp>
      <p:sp>
        <p:nvSpPr>
          <p:cNvPr id="7" name="Output"/>
          <p:cNvSpPr txBox="1"/>
          <p:nvPr/>
        </p:nvSpPr>
        <p:spPr>
          <a:xfrm>
            <a:off x="9052560" y="433711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>
                <a:solidFill>
                  <a:srgbClr val="000000"/>
                </a:solidFill>
                <a:latin typeface="Courier New"/>
              </a:rPr>
              <a:t>→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1993</TotalTime>
  <Words>5509</Words>
  <Application>Microsoft Macintosh PowerPoint</Application>
  <PresentationFormat>Widescreen</PresentationFormat>
  <Paragraphs>661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Courier New</vt:lpstr>
      <vt:lpstr>Office Theme</vt:lpstr>
      <vt:lpstr>Tuples</vt:lpstr>
      <vt:lpstr>A KEY WITH TWO PARTS</vt:lpstr>
      <vt:lpstr>A TUPLE IS AN IMMUTABLE SEQUENCE</vt:lpstr>
      <vt:lpstr>MAKING TUPLES</vt:lpstr>
      <vt:lpstr>MAKING TUPLES</vt:lpstr>
      <vt:lpstr>SAME MOVE, DIFFERENT RESULT</vt:lpstr>
      <vt:lpstr>ALIASING A TUPLE IS SAFE</vt:lpstr>
      <vt:lpstr>ALIASING A TUPLE IS SAFE</vt:lpstr>
      <vt:lpstr>WHAT A TUPLE LOOKS LIKE INSIDE</vt:lpstr>
      <vt:lpstr>FIXED ARROWS, NOT FIXED OBJECTS</vt:lpstr>
      <vt:lpstr>FIXED ARROWS, NOT FIXED OBJECTS</vt:lpstr>
      <vt:lpstr>TUPLES AS KEYS</vt:lpstr>
      <vt:lpstr>QUESTIONS YOU MIGHT BE ASKING</vt:lpstr>
      <vt:lpstr>TUPLE ASSIGNMENT</vt:lpstr>
      <vt:lpstr>TANGENT!: SWAP TWO VARIABLES</vt:lpstr>
      <vt:lpstr>TANGENT!: SWAPPING: ONE SOLUTION</vt:lpstr>
      <vt:lpstr>SWAPPING WITH TUPLE ASSIGNMENT</vt:lpstr>
      <vt:lpstr>A BUG YOU'LL WRITE THIS WEEK</vt:lpstr>
      <vt:lpstr>LOOPING WITH ITEMS</vt:lpstr>
      <vt:lpstr>RETURNING MORE THAN ONE VALUE</vt:lpstr>
      <vt:lpstr>PACKING ARGUMENTS</vt:lpstr>
      <vt:lpstr>ZIP PAIRS THINGS UP</vt:lpstr>
      <vt:lpstr>WHEN THE LENGTHS DON'T MATCH</vt:lpstr>
      <vt:lpstr>WHEN THE LENGTHS DON'T MATCH</vt:lpstr>
      <vt:lpstr>LOOPING OVER TWO LISTS</vt:lpstr>
      <vt:lpstr>Making a dictionary from two lists</vt:lpstr>
      <vt:lpstr>ENUMERATE</vt:lpstr>
      <vt:lpstr>COMPARING TUPLES</vt:lpstr>
      <vt:lpstr>COMPARING TUPLES</vt:lpstr>
      <vt:lpstr>SORTING A LIST OF TUPLES</vt:lpstr>
      <vt:lpstr>SORTING A LIST OF TUPLES</vt:lpstr>
      <vt:lpstr>SORTING BY SOMETHING ELSE</vt:lpstr>
      <vt:lpstr>NO PARENTHESES</vt:lpstr>
      <vt:lpstr>FINDING THE YOUNGEST</vt:lpstr>
      <vt:lpstr>FINDING THE YOUNGEST</vt:lpstr>
      <vt:lpstr>INVERTING A DICTIONARY</vt:lpstr>
      <vt:lpstr>PREDICT THE OUTPUT</vt:lpstr>
      <vt:lpstr>PREDICT THE OUTPUT: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25 day 7</dc:title>
  <dc:creator>Microsoft Office User</dc:creator>
  <cp:lastModifiedBy>Ben Allen</cp:lastModifiedBy>
  <cp:revision>19</cp:revision>
  <dcterms:created xsi:type="dcterms:W3CDTF">2020-02-13T17:18:53Z</dcterms:created>
  <dcterms:modified xsi:type="dcterms:W3CDTF">2026-10-12T17:55:05Z</dcterms:modified>
</cp:coreProperties>
</file>