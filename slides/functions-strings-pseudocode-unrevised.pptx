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352" r:id="rId2"/>
    <p:sldId id="261" r:id="rId3"/>
    <p:sldId id="336" r:id="rId4"/>
    <p:sldId id="337" r:id="rId5"/>
    <p:sldId id="361" r:id="rId6"/>
    <p:sldId id="338" r:id="rId7"/>
    <p:sldId id="339" r:id="rId8"/>
    <p:sldId id="340" r:id="rId9"/>
    <p:sldId id="343" r:id="rId10"/>
    <p:sldId id="406" r:id="rId11"/>
    <p:sldId id="407" r:id="rId12"/>
    <p:sldId id="408" r:id="rId13"/>
    <p:sldId id="409" r:id="rId14"/>
    <p:sldId id="410" r:id="rId15"/>
    <p:sldId id="411" r:id="rId16"/>
    <p:sldId id="412" r:id="rId17"/>
    <p:sldId id="395" r:id="rId18"/>
    <p:sldId id="404" r:id="rId19"/>
    <p:sldId id="381" r:id="rId20"/>
    <p:sldId id="434" r:id="rId21"/>
    <p:sldId id="413" r:id="rId22"/>
    <p:sldId id="414" r:id="rId23"/>
    <p:sldId id="415" r:id="rId24"/>
    <p:sldId id="416" r:id="rId25"/>
    <p:sldId id="418" r:id="rId26"/>
    <p:sldId id="419" r:id="rId27"/>
    <p:sldId id="421" r:id="rId28"/>
    <p:sldId id="431" r:id="rId29"/>
    <p:sldId id="432" r:id="rId30"/>
    <p:sldId id="422" r:id="rId31"/>
    <p:sldId id="433" r:id="rId32"/>
    <p:sldId id="423" r:id="rId33"/>
    <p:sldId id="426" r:id="rId34"/>
    <p:sldId id="428" r:id="rId35"/>
    <p:sldId id="429" r:id="rId36"/>
    <p:sldId id="42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56"/>
    <p:restoredTop sz="94609"/>
  </p:normalViewPr>
  <p:slideViewPr>
    <p:cSldViewPr snapToGrid="0" snapToObjects="1">
      <p:cViewPr varScale="1">
        <p:scale>
          <a:sx n="111" d="100"/>
          <a:sy n="111" d="100"/>
        </p:scale>
        <p:origin x="6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DB00A9-9465-914F-856B-A16C8995F6C4}" type="datetimeFigureOut">
              <a:rPr lang="en-US" smtClean="0"/>
              <a:t>9/14/26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1B507-6574-B448-819C-AC9CF59B39BC}" type="slidenum">
              <a:rPr lang="en-US" smtClean="0"/>
              <a:t>‹#›</a:t>
            </a:fld>
            <a:endParaRPr lang="en-US"/>
          </a:p>
        </p:txBody>
      </p:sp>
    </p:spTree>
    <p:extLst>
      <p:ext uri="{BB962C8B-B14F-4D97-AF65-F5344CB8AC3E}">
        <p14:creationId xmlns:p14="http://schemas.microsoft.com/office/powerpoint/2010/main" val="3594314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1</a:t>
            </a:fld>
            <a:endParaRPr lang="en-US"/>
          </a:p>
        </p:txBody>
      </p:sp>
    </p:spTree>
    <p:extLst>
      <p:ext uri="{BB962C8B-B14F-4D97-AF65-F5344CB8AC3E}">
        <p14:creationId xmlns:p14="http://schemas.microsoft.com/office/powerpoint/2010/main" val="655827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17</a:t>
            </a:fld>
            <a:endParaRPr lang="en-US"/>
          </a:p>
        </p:txBody>
      </p:sp>
    </p:spTree>
    <p:extLst>
      <p:ext uri="{BB962C8B-B14F-4D97-AF65-F5344CB8AC3E}">
        <p14:creationId xmlns:p14="http://schemas.microsoft.com/office/powerpoint/2010/main" val="998206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18</a:t>
            </a:fld>
            <a:endParaRPr lang="en-US"/>
          </a:p>
        </p:txBody>
      </p:sp>
    </p:spTree>
    <p:extLst>
      <p:ext uri="{BB962C8B-B14F-4D97-AF65-F5344CB8AC3E}">
        <p14:creationId xmlns:p14="http://schemas.microsoft.com/office/powerpoint/2010/main" val="1303786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19</a:t>
            </a:fld>
            <a:endParaRPr lang="en-US"/>
          </a:p>
        </p:txBody>
      </p:sp>
    </p:spTree>
    <p:extLst>
      <p:ext uri="{BB962C8B-B14F-4D97-AF65-F5344CB8AC3E}">
        <p14:creationId xmlns:p14="http://schemas.microsoft.com/office/powerpoint/2010/main" val="146937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20</a:t>
            </a:fld>
            <a:endParaRPr lang="en-US"/>
          </a:p>
        </p:txBody>
      </p:sp>
    </p:spTree>
    <p:extLst>
      <p:ext uri="{BB962C8B-B14F-4D97-AF65-F5344CB8AC3E}">
        <p14:creationId xmlns:p14="http://schemas.microsoft.com/office/powerpoint/2010/main" val="2921089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21</a:t>
            </a:fld>
            <a:endParaRPr lang="en-US"/>
          </a:p>
        </p:txBody>
      </p:sp>
    </p:spTree>
    <p:extLst>
      <p:ext uri="{BB962C8B-B14F-4D97-AF65-F5344CB8AC3E}">
        <p14:creationId xmlns:p14="http://schemas.microsoft.com/office/powerpoint/2010/main" val="3826015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23</a:t>
            </a:fld>
            <a:endParaRPr lang="en-US"/>
          </a:p>
        </p:txBody>
      </p:sp>
    </p:spTree>
    <p:extLst>
      <p:ext uri="{BB962C8B-B14F-4D97-AF65-F5344CB8AC3E}">
        <p14:creationId xmlns:p14="http://schemas.microsoft.com/office/powerpoint/2010/main" val="3840297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24</a:t>
            </a:fld>
            <a:endParaRPr lang="en-US"/>
          </a:p>
        </p:txBody>
      </p:sp>
    </p:spTree>
    <p:extLst>
      <p:ext uri="{BB962C8B-B14F-4D97-AF65-F5344CB8AC3E}">
        <p14:creationId xmlns:p14="http://schemas.microsoft.com/office/powerpoint/2010/main" val="1006986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25</a:t>
            </a:fld>
            <a:endParaRPr lang="en-US"/>
          </a:p>
        </p:txBody>
      </p:sp>
    </p:spTree>
    <p:extLst>
      <p:ext uri="{BB962C8B-B14F-4D97-AF65-F5344CB8AC3E}">
        <p14:creationId xmlns:p14="http://schemas.microsoft.com/office/powerpoint/2010/main" val="3213603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26</a:t>
            </a:fld>
            <a:endParaRPr lang="en-US"/>
          </a:p>
        </p:txBody>
      </p:sp>
    </p:spTree>
    <p:extLst>
      <p:ext uri="{BB962C8B-B14F-4D97-AF65-F5344CB8AC3E}">
        <p14:creationId xmlns:p14="http://schemas.microsoft.com/office/powerpoint/2010/main" val="3966689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27</a:t>
            </a:fld>
            <a:endParaRPr lang="en-US"/>
          </a:p>
        </p:txBody>
      </p:sp>
    </p:spTree>
    <p:extLst>
      <p:ext uri="{BB962C8B-B14F-4D97-AF65-F5344CB8AC3E}">
        <p14:creationId xmlns:p14="http://schemas.microsoft.com/office/powerpoint/2010/main" val="192605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28</a:t>
            </a:fld>
            <a:endParaRPr lang="en-US"/>
          </a:p>
        </p:txBody>
      </p:sp>
    </p:spTree>
    <p:extLst>
      <p:ext uri="{BB962C8B-B14F-4D97-AF65-F5344CB8AC3E}">
        <p14:creationId xmlns:p14="http://schemas.microsoft.com/office/powerpoint/2010/main" val="4242234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29</a:t>
            </a:fld>
            <a:endParaRPr lang="en-US"/>
          </a:p>
        </p:txBody>
      </p:sp>
    </p:spTree>
    <p:extLst>
      <p:ext uri="{BB962C8B-B14F-4D97-AF65-F5344CB8AC3E}">
        <p14:creationId xmlns:p14="http://schemas.microsoft.com/office/powerpoint/2010/main" val="1935763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30</a:t>
            </a:fld>
            <a:endParaRPr lang="en-US"/>
          </a:p>
        </p:txBody>
      </p:sp>
    </p:spTree>
    <p:extLst>
      <p:ext uri="{BB962C8B-B14F-4D97-AF65-F5344CB8AC3E}">
        <p14:creationId xmlns:p14="http://schemas.microsoft.com/office/powerpoint/2010/main" val="1892482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31</a:t>
            </a:fld>
            <a:endParaRPr lang="en-US"/>
          </a:p>
        </p:txBody>
      </p:sp>
    </p:spTree>
    <p:extLst>
      <p:ext uri="{BB962C8B-B14F-4D97-AF65-F5344CB8AC3E}">
        <p14:creationId xmlns:p14="http://schemas.microsoft.com/office/powerpoint/2010/main" val="1678968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32</a:t>
            </a:fld>
            <a:endParaRPr lang="en-US"/>
          </a:p>
        </p:txBody>
      </p:sp>
    </p:spTree>
    <p:extLst>
      <p:ext uri="{BB962C8B-B14F-4D97-AF65-F5344CB8AC3E}">
        <p14:creationId xmlns:p14="http://schemas.microsoft.com/office/powerpoint/2010/main" val="3720930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33</a:t>
            </a:fld>
            <a:endParaRPr lang="en-US"/>
          </a:p>
        </p:txBody>
      </p:sp>
    </p:spTree>
    <p:extLst>
      <p:ext uri="{BB962C8B-B14F-4D97-AF65-F5344CB8AC3E}">
        <p14:creationId xmlns:p14="http://schemas.microsoft.com/office/powerpoint/2010/main" val="2127106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34</a:t>
            </a:fld>
            <a:endParaRPr lang="en-US"/>
          </a:p>
        </p:txBody>
      </p:sp>
    </p:spTree>
    <p:extLst>
      <p:ext uri="{BB962C8B-B14F-4D97-AF65-F5344CB8AC3E}">
        <p14:creationId xmlns:p14="http://schemas.microsoft.com/office/powerpoint/2010/main" val="4179901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35</a:t>
            </a:fld>
            <a:endParaRPr lang="en-US"/>
          </a:p>
        </p:txBody>
      </p:sp>
    </p:spTree>
    <p:extLst>
      <p:ext uri="{BB962C8B-B14F-4D97-AF65-F5344CB8AC3E}">
        <p14:creationId xmlns:p14="http://schemas.microsoft.com/office/powerpoint/2010/main" val="371953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first function call</a:t>
            </a:r>
          </a:p>
        </p:txBody>
      </p:sp>
      <p:sp>
        <p:nvSpPr>
          <p:cNvPr id="4" name="Slide Number Placeholder 3"/>
          <p:cNvSpPr>
            <a:spLocks noGrp="1"/>
          </p:cNvSpPr>
          <p:nvPr>
            <p:ph type="sldNum" sz="quarter" idx="5"/>
          </p:nvPr>
        </p:nvSpPr>
        <p:spPr/>
        <p:txBody>
          <a:bodyPr/>
          <a:lstStyle/>
          <a:p>
            <a:fld id="{5BF699C1-B38C-7747-820D-F72651749D5C}" type="slidenum">
              <a:rPr lang="en-US" smtClean="0"/>
              <a:t>36</a:t>
            </a:fld>
            <a:endParaRPr lang="en-US"/>
          </a:p>
        </p:txBody>
      </p:sp>
    </p:spTree>
    <p:extLst>
      <p:ext uri="{BB962C8B-B14F-4D97-AF65-F5344CB8AC3E}">
        <p14:creationId xmlns:p14="http://schemas.microsoft.com/office/powerpoint/2010/main" val="351070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1882-1130-5E49-810E-84A9E7C304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61B60F-A00F-4F48-8D43-D60511CFA7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A1A1E-E2C2-D240-92EA-A0ADF30B9F34}"/>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5" name="Footer Placeholder 4">
            <a:extLst>
              <a:ext uri="{FF2B5EF4-FFF2-40B4-BE49-F238E27FC236}">
                <a16:creationId xmlns:a16="http://schemas.microsoft.com/office/drawing/2014/main" id="{CF6D2542-A807-C241-B092-5B617E45DD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C935ED-08DF-5442-8D99-A49E134A428F}"/>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3408853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2C1D-A149-B745-AC9C-F52B6428A2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5BD3D9-E0F6-704B-8D95-67012353FD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1881C5-59F9-C547-ABBF-4659BF2F21A2}"/>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5" name="Footer Placeholder 4">
            <a:extLst>
              <a:ext uri="{FF2B5EF4-FFF2-40B4-BE49-F238E27FC236}">
                <a16:creationId xmlns:a16="http://schemas.microsoft.com/office/drawing/2014/main" id="{5453D1DC-3B14-2542-9278-25B97C66B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03E12E-834B-914B-B28D-74782FEEF75D}"/>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3726898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D1CC-F304-B74C-9C26-3160CD5155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8390B1-5BB6-494D-A734-AC9F5A528A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0EB40B4-92D0-6A4F-A8AD-0E5AA2E2A86F}"/>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5" name="Footer Placeholder 4">
            <a:extLst>
              <a:ext uri="{FF2B5EF4-FFF2-40B4-BE49-F238E27FC236}">
                <a16:creationId xmlns:a16="http://schemas.microsoft.com/office/drawing/2014/main" id="{ECAE725D-81F7-5142-9422-CDF417FC58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4EA81-82E5-EB4B-925C-0037D183096E}"/>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421006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50597-2EBB-D348-85BC-4967F9B54E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425BF7-53E5-7B44-A36F-DBAF3519DAD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FF75F5-2B09-5B4B-9642-D606EA7C925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F65CA0-5F9D-464F-9B2B-34E39C9FCD51}"/>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6" name="Footer Placeholder 5">
            <a:extLst>
              <a:ext uri="{FF2B5EF4-FFF2-40B4-BE49-F238E27FC236}">
                <a16:creationId xmlns:a16="http://schemas.microsoft.com/office/drawing/2014/main" id="{CA63D9FF-3657-7E40-923F-5E1C4204A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8C6C8-C696-8D42-8BD8-33A73B620C5D}"/>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726210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B7F1-5042-C14C-BDB3-A4D2D00D04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C7314C-DBC1-9745-A53D-808162BE6D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7248C6E-FEE4-654C-9AD0-3C934C4ED41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E2FF7-E8B0-3C46-8C06-C86B3F95CA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2936268-5AD9-BC48-ADF6-D20F2ABF7A2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91B3CA-88DB-244F-B4D8-D9F1BF7D76A8}"/>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8" name="Footer Placeholder 7">
            <a:extLst>
              <a:ext uri="{FF2B5EF4-FFF2-40B4-BE49-F238E27FC236}">
                <a16:creationId xmlns:a16="http://schemas.microsoft.com/office/drawing/2014/main" id="{A7493784-F084-5B4A-8824-308FC18F05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435AAB-DBDE-B44E-A63C-3873FB38FB5F}"/>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2921206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9C766-7D80-FB49-9C72-BFB0BF877D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B2D181-C4D4-8D42-9187-5E6B1FD624B5}"/>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4" name="Footer Placeholder 3">
            <a:extLst>
              <a:ext uri="{FF2B5EF4-FFF2-40B4-BE49-F238E27FC236}">
                <a16:creationId xmlns:a16="http://schemas.microsoft.com/office/drawing/2014/main" id="{11DB0CC8-3E0B-034B-9588-9E66BAF9AB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59C67A-7122-D640-8766-DE7C75DEB0FA}"/>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1681519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F92BB8-06BA-4B49-86BE-1B0D2939D1DA}"/>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3" name="Footer Placeholder 2">
            <a:extLst>
              <a:ext uri="{FF2B5EF4-FFF2-40B4-BE49-F238E27FC236}">
                <a16:creationId xmlns:a16="http://schemas.microsoft.com/office/drawing/2014/main" id="{1BF67C30-1177-AE4A-B798-C425E8C5DE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E7284C-B6EE-A94B-B6C1-FD7BD06E3FB9}"/>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1172715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0F2FE-30D2-1F4E-BD98-258347484A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2AE22D-B64F-0840-AB71-C3A0380A5A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82AB80-603A-B44C-8728-F56FC6F55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A75D45-DFF8-3944-B39B-0D686D395535}"/>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6" name="Footer Placeholder 5">
            <a:extLst>
              <a:ext uri="{FF2B5EF4-FFF2-40B4-BE49-F238E27FC236}">
                <a16:creationId xmlns:a16="http://schemas.microsoft.com/office/drawing/2014/main" id="{38078B39-5FDA-BC46-B899-56E309606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FE1018-4473-574A-A4C6-E62F7284B001}"/>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780403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C7149-E5A8-3C4A-8016-89644B5F6A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2A2A87-B401-2443-B5F3-2C300D5279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C4D05-FFA3-EC4E-9CCB-600E9D805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79EAD58-E4CE-494E-8390-84A353C3E2EE}"/>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6" name="Footer Placeholder 5">
            <a:extLst>
              <a:ext uri="{FF2B5EF4-FFF2-40B4-BE49-F238E27FC236}">
                <a16:creationId xmlns:a16="http://schemas.microsoft.com/office/drawing/2014/main" id="{884BBDED-B179-2145-8760-E9EE5BBF40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89AEDC-9E40-D646-A496-CCA2BB0683E9}"/>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2755782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5C4F-0641-4D40-9BFE-363E5704A3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FFAC92-AF43-FB48-BEA4-F37333C6271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97A72-12A7-4045-8572-23C1C91903C4}"/>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5" name="Footer Placeholder 4">
            <a:extLst>
              <a:ext uri="{FF2B5EF4-FFF2-40B4-BE49-F238E27FC236}">
                <a16:creationId xmlns:a16="http://schemas.microsoft.com/office/drawing/2014/main" id="{97282D4B-BA9E-C74A-A6E7-F4899B0F4A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BBE3A9-4C95-344D-99C5-5519CBF34E60}"/>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1041657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44D41A-0455-9C4D-8066-FF815555BF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ED5A78-927A-9A43-B3C9-CA891527CA2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76F99-6731-2D43-8E39-6F0C1A43DF30}"/>
              </a:ext>
            </a:extLst>
          </p:cNvPr>
          <p:cNvSpPr>
            <a:spLocks noGrp="1"/>
          </p:cNvSpPr>
          <p:nvPr>
            <p:ph type="dt" sz="half" idx="10"/>
          </p:nvPr>
        </p:nvSpPr>
        <p:spPr/>
        <p:txBody>
          <a:bodyPr/>
          <a:lstStyle/>
          <a:p>
            <a:fld id="{D424E14C-5C38-3240-B3F4-F208E78EF0F4}" type="datetimeFigureOut">
              <a:rPr lang="en-US" smtClean="0"/>
              <a:t>9/14/26</a:t>
            </a:fld>
            <a:endParaRPr lang="en-US"/>
          </a:p>
        </p:txBody>
      </p:sp>
      <p:sp>
        <p:nvSpPr>
          <p:cNvPr id="5" name="Footer Placeholder 4">
            <a:extLst>
              <a:ext uri="{FF2B5EF4-FFF2-40B4-BE49-F238E27FC236}">
                <a16:creationId xmlns:a16="http://schemas.microsoft.com/office/drawing/2014/main" id="{543E1262-C3E6-2E45-92CF-66BB87577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4AA10D-583C-C845-9CA6-A3BC48B5C608}"/>
              </a:ext>
            </a:extLst>
          </p:cNvPr>
          <p:cNvSpPr>
            <a:spLocks noGrp="1"/>
          </p:cNvSpPr>
          <p:nvPr>
            <p:ph type="sldNum" sz="quarter" idx="12"/>
          </p:nvPr>
        </p:nvSpPr>
        <p:spPr/>
        <p:txBody>
          <a:bodyPr/>
          <a:lstStyle/>
          <a:p>
            <a:fld id="{52F4FDB0-23B7-0C43-8F16-8577AD4D77F6}" type="slidenum">
              <a:rPr lang="en-US" smtClean="0"/>
              <a:t>‹#›</a:t>
            </a:fld>
            <a:endParaRPr lang="en-US"/>
          </a:p>
        </p:txBody>
      </p:sp>
    </p:spTree>
    <p:extLst>
      <p:ext uri="{BB962C8B-B14F-4D97-AF65-F5344CB8AC3E}">
        <p14:creationId xmlns:p14="http://schemas.microsoft.com/office/powerpoint/2010/main" val="738468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AF7822-818D-F54A-8BD3-987059F7F4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8B716A-DB84-8942-840B-AB921F9AB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78A144-1107-5948-9E79-FD6E8D6B09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4E14C-5C38-3240-B3F4-F208E78EF0F4}" type="datetimeFigureOut">
              <a:rPr lang="en-US" smtClean="0"/>
              <a:t>9/14/26</a:t>
            </a:fld>
            <a:endParaRPr lang="en-US"/>
          </a:p>
        </p:txBody>
      </p:sp>
      <p:sp>
        <p:nvSpPr>
          <p:cNvPr id="5" name="Footer Placeholder 4">
            <a:extLst>
              <a:ext uri="{FF2B5EF4-FFF2-40B4-BE49-F238E27FC236}">
                <a16:creationId xmlns:a16="http://schemas.microsoft.com/office/drawing/2014/main" id="{A087851C-4E84-5F4C-A6EC-A6D8E02515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F1A58D-F972-524C-85EC-807873F9E4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F4FDB0-23B7-0C43-8F16-8577AD4D77F6}" type="slidenum">
              <a:rPr lang="en-US" smtClean="0"/>
              <a:t>‹#›</a:t>
            </a:fld>
            <a:endParaRPr lang="en-US"/>
          </a:p>
        </p:txBody>
      </p:sp>
    </p:spTree>
    <p:extLst>
      <p:ext uri="{BB962C8B-B14F-4D97-AF65-F5344CB8AC3E}">
        <p14:creationId xmlns:p14="http://schemas.microsoft.com/office/powerpoint/2010/main" val="3317579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323439"/>
          </a:xfrm>
          <a:prstGeom prst="rect">
            <a:avLst/>
          </a:prstGeom>
          <a:noFill/>
        </p:spPr>
        <p:txBody>
          <a:bodyPr wrap="square" rtlCol="0">
            <a:spAutoFit/>
          </a:bodyPr>
          <a:lstStyle/>
          <a:p>
            <a:r>
              <a:rPr lang="en-US" sz="8000" dirty="0">
                <a:solidFill>
                  <a:srgbClr val="FF0000"/>
                </a:solidFill>
              </a:rPr>
              <a:t>AGENDA 3-11</a:t>
            </a:r>
          </a:p>
        </p:txBody>
      </p:sp>
      <p:sp>
        <p:nvSpPr>
          <p:cNvPr id="6" name="TextBox 5">
            <a:extLst>
              <a:ext uri="{FF2B5EF4-FFF2-40B4-BE49-F238E27FC236}">
                <a16:creationId xmlns:a16="http://schemas.microsoft.com/office/drawing/2014/main" id="{9EAE3415-6064-0943-9204-E366FFE6EAB4}"/>
              </a:ext>
            </a:extLst>
          </p:cNvPr>
          <p:cNvSpPr txBox="1"/>
          <p:nvPr/>
        </p:nvSpPr>
        <p:spPr>
          <a:xfrm>
            <a:off x="1645030" y="2575553"/>
            <a:ext cx="10678886" cy="1938992"/>
          </a:xfrm>
          <a:prstGeom prst="rect">
            <a:avLst/>
          </a:prstGeom>
          <a:noFill/>
        </p:spPr>
        <p:txBody>
          <a:bodyPr wrap="square" rtlCol="0">
            <a:spAutoFit/>
          </a:bodyPr>
          <a:lstStyle/>
          <a:p>
            <a:pPr marL="457200" indent="-457200">
              <a:buFont typeface="Arial" panose="020B0604020202020204" pitchFamily="34" charset="0"/>
              <a:buChar char="•"/>
            </a:pPr>
            <a:r>
              <a:rPr lang="en-US" sz="3000" dirty="0">
                <a:sym typeface="Wingdings" pitchFamily="2" charset="2"/>
              </a:rPr>
              <a:t>FUNCTIONS REVIEW</a:t>
            </a:r>
          </a:p>
          <a:p>
            <a:pPr marL="457200" indent="-457200">
              <a:buFont typeface="Arial" panose="020B0604020202020204" pitchFamily="34" charset="0"/>
              <a:buChar char="•"/>
            </a:pPr>
            <a:r>
              <a:rPr lang="en-US" sz="3000" dirty="0">
                <a:sym typeface="Wingdings" pitchFamily="2" charset="2"/>
              </a:rPr>
              <a:t>PSEUDOCODE</a:t>
            </a:r>
          </a:p>
          <a:p>
            <a:pPr marL="457200" indent="-457200">
              <a:buFont typeface="Arial" panose="020B0604020202020204" pitchFamily="34" charset="0"/>
              <a:buChar char="•"/>
            </a:pPr>
            <a:r>
              <a:rPr lang="en-US" sz="3000" dirty="0">
                <a:sym typeface="Wingdings" pitchFamily="2" charset="2"/>
              </a:rPr>
              <a:t>STRING METHODS (briefly)</a:t>
            </a:r>
          </a:p>
          <a:p>
            <a:pPr marL="457200" indent="-457200">
              <a:buFont typeface="Arial" panose="020B0604020202020204" pitchFamily="34" charset="0"/>
              <a:buChar char="•"/>
            </a:pPr>
            <a:r>
              <a:rPr lang="en-US" sz="3000" dirty="0">
                <a:sym typeface="Wingdings" pitchFamily="2" charset="2"/>
              </a:rPr>
              <a:t>INDEXING AND SLICES</a:t>
            </a:r>
          </a:p>
        </p:txBody>
      </p:sp>
    </p:spTree>
    <p:extLst>
      <p:ext uri="{BB962C8B-B14F-4D97-AF65-F5344CB8AC3E}">
        <p14:creationId xmlns:p14="http://schemas.microsoft.com/office/powerpoint/2010/main" val="894447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4AF37B-C0FC-3743-A0E4-AAB61E028799}"/>
              </a:ext>
            </a:extLst>
          </p:cNvPr>
          <p:cNvSpPr txBox="1"/>
          <p:nvPr/>
        </p:nvSpPr>
        <p:spPr>
          <a:xfrm>
            <a:off x="590309" y="555583"/>
            <a:ext cx="2132315" cy="3170099"/>
          </a:xfrm>
          <a:prstGeom prst="rect">
            <a:avLst/>
          </a:prstGeom>
          <a:noFill/>
        </p:spPr>
        <p:txBody>
          <a:bodyPr wrap="none" rtlCol="0">
            <a:spAutoFit/>
          </a:bodyPr>
          <a:lstStyle/>
          <a:p>
            <a:r>
              <a:rPr lang="en-US" sz="20000" dirty="0"/>
              <a:t>0.</a:t>
            </a:r>
          </a:p>
        </p:txBody>
      </p:sp>
      <p:sp>
        <p:nvSpPr>
          <p:cNvPr id="3" name="TextBox 2">
            <a:extLst>
              <a:ext uri="{FF2B5EF4-FFF2-40B4-BE49-F238E27FC236}">
                <a16:creationId xmlns:a16="http://schemas.microsoft.com/office/drawing/2014/main" id="{E42D67C2-3010-0B46-A3B3-EDDCD41D3FBD}"/>
              </a:ext>
            </a:extLst>
          </p:cNvPr>
          <p:cNvSpPr txBox="1"/>
          <p:nvPr/>
        </p:nvSpPr>
        <p:spPr>
          <a:xfrm>
            <a:off x="2835798" y="940303"/>
            <a:ext cx="7406323" cy="4093428"/>
          </a:xfrm>
          <a:prstGeom prst="rect">
            <a:avLst/>
          </a:prstGeom>
          <a:noFill/>
        </p:spPr>
        <p:txBody>
          <a:bodyPr wrap="none" rtlCol="0">
            <a:spAutoFit/>
          </a:bodyPr>
          <a:lstStyle/>
          <a:p>
            <a:r>
              <a:rPr lang="en-US" sz="13000" dirty="0">
                <a:solidFill>
                  <a:srgbClr val="FF0000"/>
                </a:solidFill>
              </a:rPr>
              <a:t>FUNCTION</a:t>
            </a:r>
          </a:p>
          <a:p>
            <a:r>
              <a:rPr lang="en-US" sz="13000" dirty="0">
                <a:solidFill>
                  <a:srgbClr val="FF0000"/>
                </a:solidFill>
              </a:rPr>
              <a:t>REVIEW</a:t>
            </a:r>
          </a:p>
        </p:txBody>
      </p:sp>
    </p:spTree>
    <p:extLst>
      <p:ext uri="{BB962C8B-B14F-4D97-AF65-F5344CB8AC3E}">
        <p14:creationId xmlns:p14="http://schemas.microsoft.com/office/powerpoint/2010/main" val="1268237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764102-290D-F246-874D-DA5B4F931D97}"/>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REVIEW: ANATOMY OF A FUNCTION DEFINITION</a:t>
            </a:r>
          </a:p>
        </p:txBody>
      </p:sp>
      <p:sp>
        <p:nvSpPr>
          <p:cNvPr id="7" name="TextBox 6">
            <a:extLst>
              <a:ext uri="{FF2B5EF4-FFF2-40B4-BE49-F238E27FC236}">
                <a16:creationId xmlns:a16="http://schemas.microsoft.com/office/drawing/2014/main" id="{B71435F4-DF5B-7A41-A324-52064DE98343}"/>
              </a:ext>
            </a:extLst>
          </p:cNvPr>
          <p:cNvSpPr txBox="1"/>
          <p:nvPr/>
        </p:nvSpPr>
        <p:spPr>
          <a:xfrm>
            <a:off x="1008199" y="2428742"/>
            <a:ext cx="10678886" cy="2169825"/>
          </a:xfrm>
          <a:prstGeom prst="rect">
            <a:avLst/>
          </a:prstGeom>
          <a:noFill/>
        </p:spPr>
        <p:txBody>
          <a:bodyPr wrap="square" rtlCol="0">
            <a:spAutoFit/>
          </a:bodyPr>
          <a:lstStyle/>
          <a:p>
            <a:endParaRPr lang="en-US" sz="4500" dirty="0">
              <a:sym typeface="Wingdings" pitchFamily="2" charset="2"/>
            </a:endParaRPr>
          </a:p>
          <a:p>
            <a:r>
              <a:rPr lang="en-US" sz="4500" dirty="0">
                <a:solidFill>
                  <a:srgbClr val="FF0000"/>
                </a:solidFill>
                <a:sym typeface="Wingdings" pitchFamily="2" charset="2"/>
              </a:rPr>
              <a:t>def</a:t>
            </a:r>
            <a:r>
              <a:rPr lang="en-US" sz="4500" dirty="0">
                <a:sym typeface="Wingdings" pitchFamily="2" charset="2"/>
              </a:rPr>
              <a:t> </a:t>
            </a:r>
            <a:r>
              <a:rPr lang="en-US" sz="4500" i="1" dirty="0">
                <a:sym typeface="Wingdings" pitchFamily="2" charset="2"/>
              </a:rPr>
              <a:t>name </a:t>
            </a:r>
            <a:r>
              <a:rPr lang="en-US" sz="4500" dirty="0">
                <a:sym typeface="Wingdings" pitchFamily="2" charset="2"/>
              </a:rPr>
              <a:t>(</a:t>
            </a:r>
            <a:r>
              <a:rPr lang="en-US" sz="4500" i="1" dirty="0">
                <a:sym typeface="Wingdings" pitchFamily="2" charset="2"/>
              </a:rPr>
              <a:t>parameters</a:t>
            </a:r>
            <a:r>
              <a:rPr lang="en-US" sz="4500" dirty="0">
                <a:sym typeface="Wingdings" pitchFamily="2" charset="2"/>
              </a:rPr>
              <a:t>):</a:t>
            </a:r>
          </a:p>
          <a:p>
            <a:r>
              <a:rPr lang="en-US" sz="4500" dirty="0">
                <a:sym typeface="Wingdings" pitchFamily="2" charset="2"/>
              </a:rPr>
              <a:t>	# statements to execute</a:t>
            </a:r>
          </a:p>
        </p:txBody>
      </p:sp>
      <p:sp>
        <p:nvSpPr>
          <p:cNvPr id="4" name="Right Arrow 3">
            <a:extLst>
              <a:ext uri="{FF2B5EF4-FFF2-40B4-BE49-F238E27FC236}">
                <a16:creationId xmlns:a16="http://schemas.microsoft.com/office/drawing/2014/main" id="{8FBADC4F-54EA-F646-9D62-2D94A13955B1}"/>
              </a:ext>
            </a:extLst>
          </p:cNvPr>
          <p:cNvSpPr/>
          <p:nvPr/>
        </p:nvSpPr>
        <p:spPr>
          <a:xfrm rot="16640931" flipH="1">
            <a:off x="1195069" y="2615551"/>
            <a:ext cx="766913" cy="443757"/>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38E2E8-6CEA-0F4D-8E9F-11EDAE7A2861}"/>
              </a:ext>
            </a:extLst>
          </p:cNvPr>
          <p:cNvSpPr txBox="1"/>
          <p:nvPr/>
        </p:nvSpPr>
        <p:spPr>
          <a:xfrm>
            <a:off x="889687" y="1607606"/>
            <a:ext cx="3529913" cy="646331"/>
          </a:xfrm>
          <a:prstGeom prst="rect">
            <a:avLst/>
          </a:prstGeom>
          <a:noFill/>
        </p:spPr>
        <p:txBody>
          <a:bodyPr wrap="square" rtlCol="0">
            <a:spAutoFit/>
          </a:bodyPr>
          <a:lstStyle/>
          <a:p>
            <a:r>
              <a:rPr lang="en-US" dirty="0"/>
              <a:t>the </a:t>
            </a:r>
            <a:r>
              <a:rPr lang="en-US" dirty="0">
                <a:solidFill>
                  <a:srgbClr val="FF0000"/>
                </a:solidFill>
              </a:rPr>
              <a:t>def </a:t>
            </a:r>
            <a:r>
              <a:rPr lang="en-US" dirty="0"/>
              <a:t>keyword: lets python know you're defining a function</a:t>
            </a:r>
          </a:p>
        </p:txBody>
      </p:sp>
    </p:spTree>
    <p:extLst>
      <p:ext uri="{BB962C8B-B14F-4D97-AF65-F5344CB8AC3E}">
        <p14:creationId xmlns:p14="http://schemas.microsoft.com/office/powerpoint/2010/main" val="23946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Arrow 3">
            <a:extLst>
              <a:ext uri="{FF2B5EF4-FFF2-40B4-BE49-F238E27FC236}">
                <a16:creationId xmlns:a16="http://schemas.microsoft.com/office/drawing/2014/main" id="{8FBADC4F-54EA-F646-9D62-2D94A13955B1}"/>
              </a:ext>
            </a:extLst>
          </p:cNvPr>
          <p:cNvSpPr/>
          <p:nvPr/>
        </p:nvSpPr>
        <p:spPr>
          <a:xfrm rot="16640931" flipH="1">
            <a:off x="2271188" y="2615551"/>
            <a:ext cx="766913" cy="443757"/>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38E2E8-6CEA-0F4D-8E9F-11EDAE7A2861}"/>
              </a:ext>
            </a:extLst>
          </p:cNvPr>
          <p:cNvSpPr txBox="1"/>
          <p:nvPr/>
        </p:nvSpPr>
        <p:spPr>
          <a:xfrm>
            <a:off x="2654644" y="1505412"/>
            <a:ext cx="2539313" cy="646331"/>
          </a:xfrm>
          <a:prstGeom prst="rect">
            <a:avLst/>
          </a:prstGeom>
          <a:noFill/>
        </p:spPr>
        <p:txBody>
          <a:bodyPr wrap="square" rtlCol="0">
            <a:spAutoFit/>
          </a:bodyPr>
          <a:lstStyle/>
          <a:p>
            <a:r>
              <a:rPr lang="en-US" dirty="0"/>
              <a:t>whatever name you give to the function</a:t>
            </a:r>
          </a:p>
        </p:txBody>
      </p:sp>
      <p:sp>
        <p:nvSpPr>
          <p:cNvPr id="6" name="TextBox 5">
            <a:extLst>
              <a:ext uri="{FF2B5EF4-FFF2-40B4-BE49-F238E27FC236}">
                <a16:creationId xmlns:a16="http://schemas.microsoft.com/office/drawing/2014/main" id="{00B44366-4C7F-6948-B859-D70F98083E20}"/>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REVIEW: ANATOMY OF A FUNCTION DEFINITION</a:t>
            </a:r>
          </a:p>
        </p:txBody>
      </p:sp>
      <p:sp>
        <p:nvSpPr>
          <p:cNvPr id="10" name="TextBox 9">
            <a:extLst>
              <a:ext uri="{FF2B5EF4-FFF2-40B4-BE49-F238E27FC236}">
                <a16:creationId xmlns:a16="http://schemas.microsoft.com/office/drawing/2014/main" id="{D5C8B387-E7D2-A64F-9CB6-926F21F01763}"/>
              </a:ext>
            </a:extLst>
          </p:cNvPr>
          <p:cNvSpPr txBox="1"/>
          <p:nvPr/>
        </p:nvSpPr>
        <p:spPr>
          <a:xfrm>
            <a:off x="1008199" y="2428742"/>
            <a:ext cx="10678886" cy="2169825"/>
          </a:xfrm>
          <a:prstGeom prst="rect">
            <a:avLst/>
          </a:prstGeom>
          <a:noFill/>
        </p:spPr>
        <p:txBody>
          <a:bodyPr wrap="square" rtlCol="0">
            <a:spAutoFit/>
          </a:bodyPr>
          <a:lstStyle/>
          <a:p>
            <a:endParaRPr lang="en-US" sz="4500" dirty="0">
              <a:sym typeface="Wingdings" pitchFamily="2" charset="2"/>
            </a:endParaRPr>
          </a:p>
          <a:p>
            <a:r>
              <a:rPr lang="en-US" sz="4500" dirty="0">
                <a:sym typeface="Wingdings" pitchFamily="2" charset="2"/>
              </a:rPr>
              <a:t>def </a:t>
            </a:r>
            <a:r>
              <a:rPr lang="en-US" sz="4500" i="1" dirty="0">
                <a:solidFill>
                  <a:srgbClr val="FF0000"/>
                </a:solidFill>
                <a:sym typeface="Wingdings" pitchFamily="2" charset="2"/>
              </a:rPr>
              <a:t>name</a:t>
            </a:r>
            <a:r>
              <a:rPr lang="en-US" sz="4500" i="1" dirty="0">
                <a:sym typeface="Wingdings" pitchFamily="2" charset="2"/>
              </a:rPr>
              <a:t> </a:t>
            </a:r>
            <a:r>
              <a:rPr lang="en-US" sz="4500" dirty="0">
                <a:sym typeface="Wingdings" pitchFamily="2" charset="2"/>
              </a:rPr>
              <a:t>(</a:t>
            </a:r>
            <a:r>
              <a:rPr lang="en-US" sz="4500" i="1" dirty="0">
                <a:sym typeface="Wingdings" pitchFamily="2" charset="2"/>
              </a:rPr>
              <a:t>parameters</a:t>
            </a:r>
            <a:r>
              <a:rPr lang="en-US" sz="4500" dirty="0">
                <a:sym typeface="Wingdings" pitchFamily="2" charset="2"/>
              </a:rPr>
              <a:t>):</a:t>
            </a:r>
          </a:p>
          <a:p>
            <a:r>
              <a:rPr lang="en-US" sz="4500" dirty="0">
                <a:sym typeface="Wingdings" pitchFamily="2" charset="2"/>
              </a:rPr>
              <a:t>	# statements to execute</a:t>
            </a:r>
          </a:p>
        </p:txBody>
      </p:sp>
    </p:spTree>
    <p:extLst>
      <p:ext uri="{BB962C8B-B14F-4D97-AF65-F5344CB8AC3E}">
        <p14:creationId xmlns:p14="http://schemas.microsoft.com/office/powerpoint/2010/main" val="4039933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Arrow 3">
            <a:extLst>
              <a:ext uri="{FF2B5EF4-FFF2-40B4-BE49-F238E27FC236}">
                <a16:creationId xmlns:a16="http://schemas.microsoft.com/office/drawing/2014/main" id="{8FBADC4F-54EA-F646-9D62-2D94A13955B1}"/>
              </a:ext>
            </a:extLst>
          </p:cNvPr>
          <p:cNvSpPr/>
          <p:nvPr/>
        </p:nvSpPr>
        <p:spPr>
          <a:xfrm rot="16640931" flipH="1">
            <a:off x="2271188" y="2615551"/>
            <a:ext cx="766913" cy="443757"/>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38E2E8-6CEA-0F4D-8E9F-11EDAE7A2861}"/>
              </a:ext>
            </a:extLst>
          </p:cNvPr>
          <p:cNvSpPr txBox="1"/>
          <p:nvPr/>
        </p:nvSpPr>
        <p:spPr>
          <a:xfrm>
            <a:off x="2923749" y="1522940"/>
            <a:ext cx="2539313" cy="1200329"/>
          </a:xfrm>
          <a:prstGeom prst="rect">
            <a:avLst/>
          </a:prstGeom>
          <a:noFill/>
        </p:spPr>
        <p:txBody>
          <a:bodyPr wrap="square" rtlCol="0">
            <a:spAutoFit/>
          </a:bodyPr>
          <a:lstStyle/>
          <a:p>
            <a:r>
              <a:rPr lang="en-US" dirty="0"/>
              <a:t>this can be pretty much anything (it can't be "for", "in", "def", or any other keyword)</a:t>
            </a:r>
          </a:p>
        </p:txBody>
      </p:sp>
      <p:sp>
        <p:nvSpPr>
          <p:cNvPr id="6" name="TextBox 5">
            <a:extLst>
              <a:ext uri="{FF2B5EF4-FFF2-40B4-BE49-F238E27FC236}">
                <a16:creationId xmlns:a16="http://schemas.microsoft.com/office/drawing/2014/main" id="{00B44366-4C7F-6948-B859-D70F98083E20}"/>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REVIEW: ANATOMY OF A FUNCTION DEFINITION</a:t>
            </a:r>
          </a:p>
        </p:txBody>
      </p:sp>
      <p:sp>
        <p:nvSpPr>
          <p:cNvPr id="10" name="TextBox 9">
            <a:extLst>
              <a:ext uri="{FF2B5EF4-FFF2-40B4-BE49-F238E27FC236}">
                <a16:creationId xmlns:a16="http://schemas.microsoft.com/office/drawing/2014/main" id="{D5C8B387-E7D2-A64F-9CB6-926F21F01763}"/>
              </a:ext>
            </a:extLst>
          </p:cNvPr>
          <p:cNvSpPr txBox="1"/>
          <p:nvPr/>
        </p:nvSpPr>
        <p:spPr>
          <a:xfrm>
            <a:off x="1008199" y="2428742"/>
            <a:ext cx="10678886" cy="2169825"/>
          </a:xfrm>
          <a:prstGeom prst="rect">
            <a:avLst/>
          </a:prstGeom>
          <a:noFill/>
        </p:spPr>
        <p:txBody>
          <a:bodyPr wrap="square" rtlCol="0">
            <a:spAutoFit/>
          </a:bodyPr>
          <a:lstStyle/>
          <a:p>
            <a:endParaRPr lang="en-US" sz="4500" dirty="0">
              <a:sym typeface="Wingdings" pitchFamily="2" charset="2"/>
            </a:endParaRPr>
          </a:p>
          <a:p>
            <a:r>
              <a:rPr lang="en-US" sz="4500" dirty="0">
                <a:sym typeface="Wingdings" pitchFamily="2" charset="2"/>
              </a:rPr>
              <a:t>def </a:t>
            </a:r>
            <a:r>
              <a:rPr lang="en-US" sz="4500" i="1" dirty="0">
                <a:solidFill>
                  <a:srgbClr val="FF0000"/>
                </a:solidFill>
                <a:sym typeface="Wingdings" pitchFamily="2" charset="2"/>
              </a:rPr>
              <a:t>name</a:t>
            </a:r>
            <a:r>
              <a:rPr lang="en-US" sz="4500" i="1" dirty="0">
                <a:sym typeface="Wingdings" pitchFamily="2" charset="2"/>
              </a:rPr>
              <a:t> </a:t>
            </a:r>
            <a:r>
              <a:rPr lang="en-US" sz="4500" dirty="0">
                <a:sym typeface="Wingdings" pitchFamily="2" charset="2"/>
              </a:rPr>
              <a:t>(</a:t>
            </a:r>
            <a:r>
              <a:rPr lang="en-US" sz="4500" i="1" dirty="0">
                <a:sym typeface="Wingdings" pitchFamily="2" charset="2"/>
              </a:rPr>
              <a:t>parameters</a:t>
            </a:r>
            <a:r>
              <a:rPr lang="en-US" sz="4500" dirty="0">
                <a:sym typeface="Wingdings" pitchFamily="2" charset="2"/>
              </a:rPr>
              <a:t>):</a:t>
            </a:r>
          </a:p>
          <a:p>
            <a:r>
              <a:rPr lang="en-US" sz="4500" dirty="0">
                <a:sym typeface="Wingdings" pitchFamily="2" charset="2"/>
              </a:rPr>
              <a:t>	# statements to execute</a:t>
            </a:r>
          </a:p>
        </p:txBody>
      </p:sp>
    </p:spTree>
    <p:extLst>
      <p:ext uri="{BB962C8B-B14F-4D97-AF65-F5344CB8AC3E}">
        <p14:creationId xmlns:p14="http://schemas.microsoft.com/office/powerpoint/2010/main" val="2025057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Arrow 3">
            <a:extLst>
              <a:ext uri="{FF2B5EF4-FFF2-40B4-BE49-F238E27FC236}">
                <a16:creationId xmlns:a16="http://schemas.microsoft.com/office/drawing/2014/main" id="{8FBADC4F-54EA-F646-9D62-2D94A13955B1}"/>
              </a:ext>
            </a:extLst>
          </p:cNvPr>
          <p:cNvSpPr/>
          <p:nvPr/>
        </p:nvSpPr>
        <p:spPr>
          <a:xfrm rot="18687056" flipH="1">
            <a:off x="5112158" y="2566121"/>
            <a:ext cx="766913" cy="443757"/>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38E2E8-6CEA-0F4D-8E9F-11EDAE7A2861}"/>
              </a:ext>
            </a:extLst>
          </p:cNvPr>
          <p:cNvSpPr txBox="1"/>
          <p:nvPr/>
        </p:nvSpPr>
        <p:spPr>
          <a:xfrm>
            <a:off x="6347642" y="1892046"/>
            <a:ext cx="3467729" cy="923330"/>
          </a:xfrm>
          <a:prstGeom prst="rect">
            <a:avLst/>
          </a:prstGeom>
          <a:noFill/>
        </p:spPr>
        <p:txBody>
          <a:bodyPr wrap="square" rtlCol="0">
            <a:spAutoFit/>
          </a:bodyPr>
          <a:lstStyle/>
          <a:p>
            <a:r>
              <a:rPr lang="en-US" dirty="0"/>
              <a:t>this probably makes more sense than it did the first time you saw this slide</a:t>
            </a:r>
          </a:p>
        </p:txBody>
      </p:sp>
      <p:sp>
        <p:nvSpPr>
          <p:cNvPr id="6" name="TextBox 5">
            <a:extLst>
              <a:ext uri="{FF2B5EF4-FFF2-40B4-BE49-F238E27FC236}">
                <a16:creationId xmlns:a16="http://schemas.microsoft.com/office/drawing/2014/main" id="{CCBED5AF-94DF-E14B-A8DE-B88E826C1786}"/>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REVIEW: ANATOMY OF A FUNCTION DEFINITION</a:t>
            </a:r>
          </a:p>
        </p:txBody>
      </p:sp>
      <p:sp>
        <p:nvSpPr>
          <p:cNvPr id="9" name="TextBox 8">
            <a:extLst>
              <a:ext uri="{FF2B5EF4-FFF2-40B4-BE49-F238E27FC236}">
                <a16:creationId xmlns:a16="http://schemas.microsoft.com/office/drawing/2014/main" id="{2B983DAC-2B5E-014F-AEC1-8D18A8903A26}"/>
              </a:ext>
            </a:extLst>
          </p:cNvPr>
          <p:cNvSpPr txBox="1"/>
          <p:nvPr/>
        </p:nvSpPr>
        <p:spPr>
          <a:xfrm>
            <a:off x="1008199" y="2428742"/>
            <a:ext cx="10678886" cy="2169825"/>
          </a:xfrm>
          <a:prstGeom prst="rect">
            <a:avLst/>
          </a:prstGeom>
          <a:noFill/>
        </p:spPr>
        <p:txBody>
          <a:bodyPr wrap="square" rtlCol="0">
            <a:spAutoFit/>
          </a:bodyPr>
          <a:lstStyle/>
          <a:p>
            <a:endParaRPr lang="en-US" sz="4500" dirty="0">
              <a:sym typeface="Wingdings" pitchFamily="2" charset="2"/>
            </a:endParaRPr>
          </a:p>
          <a:p>
            <a:r>
              <a:rPr lang="en-US" sz="4500" dirty="0">
                <a:sym typeface="Wingdings" pitchFamily="2" charset="2"/>
              </a:rPr>
              <a:t>def </a:t>
            </a:r>
            <a:r>
              <a:rPr lang="en-US" sz="4500" i="1" dirty="0">
                <a:sym typeface="Wingdings" pitchFamily="2" charset="2"/>
              </a:rPr>
              <a:t>name </a:t>
            </a:r>
            <a:r>
              <a:rPr lang="en-US" sz="4500" dirty="0">
                <a:sym typeface="Wingdings" pitchFamily="2" charset="2"/>
              </a:rPr>
              <a:t>(</a:t>
            </a:r>
            <a:r>
              <a:rPr lang="en-US" sz="4500" i="1" dirty="0">
                <a:solidFill>
                  <a:srgbClr val="FF0000"/>
                </a:solidFill>
                <a:sym typeface="Wingdings" pitchFamily="2" charset="2"/>
              </a:rPr>
              <a:t>parameters</a:t>
            </a:r>
            <a:r>
              <a:rPr lang="en-US" sz="4500" dirty="0">
                <a:sym typeface="Wingdings" pitchFamily="2" charset="2"/>
              </a:rPr>
              <a:t>):</a:t>
            </a:r>
          </a:p>
          <a:p>
            <a:r>
              <a:rPr lang="en-US" sz="4500" dirty="0">
                <a:sym typeface="Wingdings" pitchFamily="2" charset="2"/>
              </a:rPr>
              <a:t>	# statements to execute</a:t>
            </a:r>
          </a:p>
        </p:txBody>
      </p:sp>
    </p:spTree>
    <p:extLst>
      <p:ext uri="{BB962C8B-B14F-4D97-AF65-F5344CB8AC3E}">
        <p14:creationId xmlns:p14="http://schemas.microsoft.com/office/powerpoint/2010/main" val="105413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Arrow 3">
            <a:extLst>
              <a:ext uri="{FF2B5EF4-FFF2-40B4-BE49-F238E27FC236}">
                <a16:creationId xmlns:a16="http://schemas.microsoft.com/office/drawing/2014/main" id="{8FBADC4F-54EA-F646-9D62-2D94A13955B1}"/>
              </a:ext>
            </a:extLst>
          </p:cNvPr>
          <p:cNvSpPr/>
          <p:nvPr/>
        </p:nvSpPr>
        <p:spPr>
          <a:xfrm rot="20692525" flipH="1">
            <a:off x="6921162" y="3090648"/>
            <a:ext cx="801560" cy="524101"/>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38E2E8-6CEA-0F4D-8E9F-11EDAE7A2861}"/>
              </a:ext>
            </a:extLst>
          </p:cNvPr>
          <p:cNvSpPr txBox="1"/>
          <p:nvPr/>
        </p:nvSpPr>
        <p:spPr>
          <a:xfrm>
            <a:off x="7777214" y="2983366"/>
            <a:ext cx="2539313" cy="369332"/>
          </a:xfrm>
          <a:prstGeom prst="rect">
            <a:avLst/>
          </a:prstGeom>
          <a:noFill/>
        </p:spPr>
        <p:txBody>
          <a:bodyPr wrap="square" rtlCol="0">
            <a:spAutoFit/>
          </a:bodyPr>
          <a:lstStyle/>
          <a:p>
            <a:r>
              <a:rPr lang="en-US" dirty="0"/>
              <a:t>Don't forget the colon!</a:t>
            </a:r>
          </a:p>
        </p:txBody>
      </p:sp>
      <p:sp>
        <p:nvSpPr>
          <p:cNvPr id="6" name="TextBox 5">
            <a:extLst>
              <a:ext uri="{FF2B5EF4-FFF2-40B4-BE49-F238E27FC236}">
                <a16:creationId xmlns:a16="http://schemas.microsoft.com/office/drawing/2014/main" id="{F487F463-6ED0-7E4C-B920-CC1D002D6B9D}"/>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REVIEW: ANATOMY OF A FUNCTION DEFINITION</a:t>
            </a:r>
          </a:p>
        </p:txBody>
      </p:sp>
      <p:sp>
        <p:nvSpPr>
          <p:cNvPr id="9" name="TextBox 8">
            <a:extLst>
              <a:ext uri="{FF2B5EF4-FFF2-40B4-BE49-F238E27FC236}">
                <a16:creationId xmlns:a16="http://schemas.microsoft.com/office/drawing/2014/main" id="{887BDF1C-8989-B045-A6B7-80E8FD50C37A}"/>
              </a:ext>
            </a:extLst>
          </p:cNvPr>
          <p:cNvSpPr txBox="1"/>
          <p:nvPr/>
        </p:nvSpPr>
        <p:spPr>
          <a:xfrm>
            <a:off x="1008199" y="2428742"/>
            <a:ext cx="10678886" cy="2169825"/>
          </a:xfrm>
          <a:prstGeom prst="rect">
            <a:avLst/>
          </a:prstGeom>
          <a:noFill/>
        </p:spPr>
        <p:txBody>
          <a:bodyPr wrap="square" rtlCol="0">
            <a:spAutoFit/>
          </a:bodyPr>
          <a:lstStyle/>
          <a:p>
            <a:endParaRPr lang="en-US" sz="4500" dirty="0">
              <a:sym typeface="Wingdings" pitchFamily="2" charset="2"/>
            </a:endParaRPr>
          </a:p>
          <a:p>
            <a:r>
              <a:rPr lang="en-US" sz="4500" dirty="0">
                <a:sym typeface="Wingdings" pitchFamily="2" charset="2"/>
              </a:rPr>
              <a:t>def </a:t>
            </a:r>
            <a:r>
              <a:rPr lang="en-US" sz="4500" i="1" dirty="0">
                <a:sym typeface="Wingdings" pitchFamily="2" charset="2"/>
              </a:rPr>
              <a:t>name </a:t>
            </a:r>
            <a:r>
              <a:rPr lang="en-US" sz="4500" dirty="0">
                <a:sym typeface="Wingdings" pitchFamily="2" charset="2"/>
              </a:rPr>
              <a:t>(</a:t>
            </a:r>
            <a:r>
              <a:rPr lang="en-US" sz="4500" i="1" dirty="0">
                <a:sym typeface="Wingdings" pitchFamily="2" charset="2"/>
              </a:rPr>
              <a:t>parameters</a:t>
            </a:r>
            <a:r>
              <a:rPr lang="en-US" sz="4500" dirty="0">
                <a:sym typeface="Wingdings" pitchFamily="2" charset="2"/>
              </a:rPr>
              <a:t>)</a:t>
            </a:r>
            <a:r>
              <a:rPr lang="en-US" sz="4500" dirty="0">
                <a:solidFill>
                  <a:srgbClr val="FF0000"/>
                </a:solidFill>
                <a:sym typeface="Wingdings" pitchFamily="2" charset="2"/>
              </a:rPr>
              <a:t>:</a:t>
            </a:r>
          </a:p>
          <a:p>
            <a:r>
              <a:rPr lang="en-US" sz="4500" dirty="0">
                <a:sym typeface="Wingdings" pitchFamily="2" charset="2"/>
              </a:rPr>
              <a:t>	# statements to execute</a:t>
            </a:r>
          </a:p>
        </p:txBody>
      </p:sp>
    </p:spTree>
    <p:extLst>
      <p:ext uri="{BB962C8B-B14F-4D97-AF65-F5344CB8AC3E}">
        <p14:creationId xmlns:p14="http://schemas.microsoft.com/office/powerpoint/2010/main" val="318025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1008199" y="2428742"/>
            <a:ext cx="10678886" cy="2169825"/>
          </a:xfrm>
          <a:prstGeom prst="rect">
            <a:avLst/>
          </a:prstGeom>
          <a:noFill/>
        </p:spPr>
        <p:txBody>
          <a:bodyPr wrap="square" rtlCol="0">
            <a:spAutoFit/>
          </a:bodyPr>
          <a:lstStyle/>
          <a:p>
            <a:endParaRPr lang="en-US" sz="4500" dirty="0">
              <a:sym typeface="Wingdings" pitchFamily="2" charset="2"/>
            </a:endParaRPr>
          </a:p>
          <a:p>
            <a:r>
              <a:rPr lang="en-US" sz="4500" dirty="0">
                <a:sym typeface="Wingdings" pitchFamily="2" charset="2"/>
              </a:rPr>
              <a:t>def </a:t>
            </a:r>
            <a:r>
              <a:rPr lang="en-US" sz="4500" i="1" dirty="0">
                <a:sym typeface="Wingdings" pitchFamily="2" charset="2"/>
              </a:rPr>
              <a:t>name </a:t>
            </a:r>
            <a:r>
              <a:rPr lang="en-US" sz="4500" dirty="0">
                <a:sym typeface="Wingdings" pitchFamily="2" charset="2"/>
              </a:rPr>
              <a:t>(</a:t>
            </a:r>
            <a:r>
              <a:rPr lang="en-US" sz="4500" i="1" dirty="0">
                <a:sym typeface="Wingdings" pitchFamily="2" charset="2"/>
              </a:rPr>
              <a:t>parameters</a:t>
            </a:r>
            <a:r>
              <a:rPr lang="en-US" sz="4500" dirty="0">
                <a:sym typeface="Wingdings" pitchFamily="2" charset="2"/>
              </a:rPr>
              <a:t>):</a:t>
            </a:r>
          </a:p>
          <a:p>
            <a:r>
              <a:rPr lang="en-US" sz="4500" dirty="0">
                <a:solidFill>
                  <a:srgbClr val="FF0000"/>
                </a:solidFill>
                <a:sym typeface="Wingdings" pitchFamily="2" charset="2"/>
              </a:rPr>
              <a:t>	# statements to execute</a:t>
            </a:r>
          </a:p>
        </p:txBody>
      </p:sp>
      <p:sp>
        <p:nvSpPr>
          <p:cNvPr id="4" name="Right Arrow 3">
            <a:extLst>
              <a:ext uri="{FF2B5EF4-FFF2-40B4-BE49-F238E27FC236}">
                <a16:creationId xmlns:a16="http://schemas.microsoft.com/office/drawing/2014/main" id="{8FBADC4F-54EA-F646-9D62-2D94A13955B1}"/>
              </a:ext>
            </a:extLst>
          </p:cNvPr>
          <p:cNvSpPr/>
          <p:nvPr/>
        </p:nvSpPr>
        <p:spPr>
          <a:xfrm rot="20692525" flipH="1">
            <a:off x="7845070" y="3767096"/>
            <a:ext cx="801560" cy="524101"/>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38E2E8-6CEA-0F4D-8E9F-11EDAE7A2861}"/>
              </a:ext>
            </a:extLst>
          </p:cNvPr>
          <p:cNvSpPr txBox="1"/>
          <p:nvPr/>
        </p:nvSpPr>
        <p:spPr>
          <a:xfrm>
            <a:off x="8924447" y="3513654"/>
            <a:ext cx="2539313" cy="646331"/>
          </a:xfrm>
          <a:prstGeom prst="rect">
            <a:avLst/>
          </a:prstGeom>
          <a:noFill/>
        </p:spPr>
        <p:txBody>
          <a:bodyPr wrap="square" rtlCol="0">
            <a:spAutoFit/>
          </a:bodyPr>
          <a:lstStyle/>
          <a:p>
            <a:r>
              <a:rPr lang="en-US" dirty="0"/>
              <a:t>The stuff the function does when called</a:t>
            </a:r>
          </a:p>
        </p:txBody>
      </p:sp>
      <p:sp>
        <p:nvSpPr>
          <p:cNvPr id="6" name="TextBox 5">
            <a:extLst>
              <a:ext uri="{FF2B5EF4-FFF2-40B4-BE49-F238E27FC236}">
                <a16:creationId xmlns:a16="http://schemas.microsoft.com/office/drawing/2014/main" id="{F487F463-6ED0-7E4C-B920-CC1D002D6B9D}"/>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ANATOMY OF A FUNCTION DEFINITION</a:t>
            </a:r>
          </a:p>
        </p:txBody>
      </p:sp>
    </p:spTree>
    <p:extLst>
      <p:ext uri="{BB962C8B-B14F-4D97-AF65-F5344CB8AC3E}">
        <p14:creationId xmlns:p14="http://schemas.microsoft.com/office/powerpoint/2010/main" val="2098616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851724" y="1263469"/>
            <a:ext cx="10678886" cy="2169825"/>
          </a:xfrm>
          <a:prstGeom prst="rect">
            <a:avLst/>
          </a:prstGeom>
          <a:noFill/>
        </p:spPr>
        <p:txBody>
          <a:bodyPr wrap="square" rtlCol="0">
            <a:spAutoFit/>
          </a:bodyPr>
          <a:lstStyle/>
          <a:p>
            <a:r>
              <a:rPr lang="en-US" sz="4500" dirty="0">
                <a:sym typeface="Wingdings" pitchFamily="2" charset="2"/>
              </a:rPr>
              <a:t>def </a:t>
            </a:r>
            <a:r>
              <a:rPr lang="en-US" sz="4500" dirty="0" err="1">
                <a:sym typeface="Wingdings" pitchFamily="2" charset="2"/>
              </a:rPr>
              <a:t>annoyingFunction</a:t>
            </a:r>
            <a:r>
              <a:rPr lang="en-US" sz="4500" dirty="0">
                <a:sym typeface="Wingdings" pitchFamily="2" charset="2"/>
              </a:rPr>
              <a:t>(repetitions):</a:t>
            </a:r>
          </a:p>
          <a:p>
            <a:r>
              <a:rPr lang="en-US" sz="4500" dirty="0">
                <a:sym typeface="Wingdings" pitchFamily="2" charset="2"/>
              </a:rPr>
              <a:t>	for word in range(repetitions):</a:t>
            </a:r>
          </a:p>
          <a:p>
            <a:r>
              <a:rPr lang="en-US" sz="4500" dirty="0">
                <a:sym typeface="Wingdings" pitchFamily="2" charset="2"/>
              </a:rPr>
              <a:t>		print("hello!")</a:t>
            </a:r>
          </a:p>
        </p:txBody>
      </p:sp>
      <p:sp>
        <p:nvSpPr>
          <p:cNvPr id="10" name="TextBox 9">
            <a:extLst>
              <a:ext uri="{FF2B5EF4-FFF2-40B4-BE49-F238E27FC236}">
                <a16:creationId xmlns:a16="http://schemas.microsoft.com/office/drawing/2014/main" id="{B464DC1D-12E2-8346-9F13-3BF70F8ADBE9}"/>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EXAMPLE:</a:t>
            </a:r>
          </a:p>
        </p:txBody>
      </p:sp>
      <p:sp>
        <p:nvSpPr>
          <p:cNvPr id="8" name="Right Arrow 7">
            <a:extLst>
              <a:ext uri="{FF2B5EF4-FFF2-40B4-BE49-F238E27FC236}">
                <a16:creationId xmlns:a16="http://schemas.microsoft.com/office/drawing/2014/main" id="{CD20CC3A-A5B8-544D-A07D-CA0EABF1FF9A}"/>
              </a:ext>
            </a:extLst>
          </p:cNvPr>
          <p:cNvSpPr/>
          <p:nvPr/>
        </p:nvSpPr>
        <p:spPr>
          <a:xfrm rot="3758475" flipH="1">
            <a:off x="7458704" y="2839817"/>
            <a:ext cx="801560" cy="524101"/>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C3918E-3D94-5944-B01A-ADB87AF049D8}"/>
              </a:ext>
            </a:extLst>
          </p:cNvPr>
          <p:cNvSpPr txBox="1"/>
          <p:nvPr/>
        </p:nvSpPr>
        <p:spPr>
          <a:xfrm>
            <a:off x="8276406" y="3825025"/>
            <a:ext cx="3538341" cy="923330"/>
          </a:xfrm>
          <a:prstGeom prst="rect">
            <a:avLst/>
          </a:prstGeom>
          <a:noFill/>
        </p:spPr>
        <p:txBody>
          <a:bodyPr wrap="none" rtlCol="0">
            <a:spAutoFit/>
          </a:bodyPr>
          <a:lstStyle/>
          <a:p>
            <a:r>
              <a:rPr lang="en-US" dirty="0"/>
              <a:t>the value of the repetitions variable</a:t>
            </a:r>
          </a:p>
          <a:p>
            <a:r>
              <a:rPr lang="en-US" dirty="0"/>
              <a:t>is whatever value given as an</a:t>
            </a:r>
          </a:p>
          <a:p>
            <a:r>
              <a:rPr lang="en-US" dirty="0"/>
              <a:t>argument in the function call</a:t>
            </a:r>
          </a:p>
        </p:txBody>
      </p:sp>
    </p:spTree>
    <p:extLst>
      <p:ext uri="{BB962C8B-B14F-4D97-AF65-F5344CB8AC3E}">
        <p14:creationId xmlns:p14="http://schemas.microsoft.com/office/powerpoint/2010/main" val="3260564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851724" y="1263469"/>
            <a:ext cx="10678886" cy="4939814"/>
          </a:xfrm>
          <a:prstGeom prst="rect">
            <a:avLst/>
          </a:prstGeom>
          <a:noFill/>
        </p:spPr>
        <p:txBody>
          <a:bodyPr wrap="square" rtlCol="0">
            <a:spAutoFit/>
          </a:bodyPr>
          <a:lstStyle/>
          <a:p>
            <a:r>
              <a:rPr lang="en-US" sz="4500" dirty="0">
                <a:sym typeface="Wingdings" pitchFamily="2" charset="2"/>
              </a:rPr>
              <a:t>def </a:t>
            </a:r>
            <a:r>
              <a:rPr lang="en-US" sz="4500" dirty="0" err="1">
                <a:sym typeface="Wingdings" pitchFamily="2" charset="2"/>
              </a:rPr>
              <a:t>annoyingFunction</a:t>
            </a:r>
            <a:r>
              <a:rPr lang="en-US" sz="4500" dirty="0">
                <a:sym typeface="Wingdings" pitchFamily="2" charset="2"/>
              </a:rPr>
              <a:t>(repetitions, word):</a:t>
            </a:r>
          </a:p>
          <a:p>
            <a:r>
              <a:rPr lang="en-US" sz="4500" dirty="0">
                <a:sym typeface="Wingdings" pitchFamily="2" charset="2"/>
              </a:rPr>
              <a:t>	for word in range(repetitions):</a:t>
            </a:r>
          </a:p>
          <a:p>
            <a:r>
              <a:rPr lang="en-US" sz="4500" dirty="0">
                <a:sym typeface="Wingdings" pitchFamily="2" charset="2"/>
              </a:rPr>
              <a:t>		print(word)</a:t>
            </a:r>
          </a:p>
          <a:p>
            <a:endParaRPr lang="en-US" sz="4500" dirty="0">
              <a:sym typeface="Wingdings" pitchFamily="2" charset="2"/>
            </a:endParaRPr>
          </a:p>
          <a:p>
            <a:endParaRPr lang="en-US" sz="4500" dirty="0">
              <a:sym typeface="Wingdings" pitchFamily="2" charset="2"/>
            </a:endParaRPr>
          </a:p>
          <a:p>
            <a:r>
              <a:rPr lang="en-US" sz="4500" dirty="0">
                <a:sym typeface="Wingdings" pitchFamily="2" charset="2"/>
              </a:rPr>
              <a:t>main():</a:t>
            </a:r>
          </a:p>
          <a:p>
            <a:r>
              <a:rPr lang="en-US" sz="4500" dirty="0">
                <a:sym typeface="Wingdings" pitchFamily="2" charset="2"/>
              </a:rPr>
              <a:t>	</a:t>
            </a:r>
            <a:r>
              <a:rPr lang="en-US" sz="4500" dirty="0" err="1">
                <a:sym typeface="Wingdings" pitchFamily="2" charset="2"/>
              </a:rPr>
              <a:t>annoyingFunction</a:t>
            </a:r>
            <a:r>
              <a:rPr lang="en-US" sz="4500" dirty="0">
                <a:sym typeface="Wingdings" pitchFamily="2" charset="2"/>
              </a:rPr>
              <a:t>(5,"hello!")</a:t>
            </a:r>
          </a:p>
        </p:txBody>
      </p:sp>
      <p:sp>
        <p:nvSpPr>
          <p:cNvPr id="10" name="TextBox 9">
            <a:extLst>
              <a:ext uri="{FF2B5EF4-FFF2-40B4-BE49-F238E27FC236}">
                <a16:creationId xmlns:a16="http://schemas.microsoft.com/office/drawing/2014/main" id="{B464DC1D-12E2-8346-9F13-3BF70F8ADBE9}"/>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EXAMPLE:</a:t>
            </a:r>
          </a:p>
        </p:txBody>
      </p:sp>
      <p:sp>
        <p:nvSpPr>
          <p:cNvPr id="8" name="Right Arrow 7">
            <a:extLst>
              <a:ext uri="{FF2B5EF4-FFF2-40B4-BE49-F238E27FC236}">
                <a16:creationId xmlns:a16="http://schemas.microsoft.com/office/drawing/2014/main" id="{CD20CC3A-A5B8-544D-A07D-CA0EABF1FF9A}"/>
              </a:ext>
            </a:extLst>
          </p:cNvPr>
          <p:cNvSpPr/>
          <p:nvPr/>
        </p:nvSpPr>
        <p:spPr>
          <a:xfrm rot="20484808" flipH="1">
            <a:off x="7098095" y="5119377"/>
            <a:ext cx="801560" cy="524101"/>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C3918E-3D94-5944-B01A-ADB87AF049D8}"/>
              </a:ext>
            </a:extLst>
          </p:cNvPr>
          <p:cNvSpPr txBox="1"/>
          <p:nvPr/>
        </p:nvSpPr>
        <p:spPr>
          <a:xfrm>
            <a:off x="8279451" y="4392205"/>
            <a:ext cx="3149195" cy="646331"/>
          </a:xfrm>
          <a:prstGeom prst="rect">
            <a:avLst/>
          </a:prstGeom>
          <a:noFill/>
        </p:spPr>
        <p:txBody>
          <a:bodyPr wrap="none" rtlCol="0">
            <a:spAutoFit/>
          </a:bodyPr>
          <a:lstStyle/>
          <a:p>
            <a:r>
              <a:rPr lang="en-US" dirty="0"/>
              <a:t>so if we call it this way, we print</a:t>
            </a:r>
          </a:p>
          <a:p>
            <a:r>
              <a:rPr lang="en-US" dirty="0"/>
              <a:t>hello 5 times</a:t>
            </a:r>
          </a:p>
        </p:txBody>
      </p:sp>
    </p:spTree>
    <p:extLst>
      <p:ext uri="{BB962C8B-B14F-4D97-AF65-F5344CB8AC3E}">
        <p14:creationId xmlns:p14="http://schemas.microsoft.com/office/powerpoint/2010/main" val="2825551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851724" y="1263469"/>
            <a:ext cx="10678886" cy="3693319"/>
          </a:xfrm>
          <a:prstGeom prst="rect">
            <a:avLst/>
          </a:prstGeom>
          <a:noFill/>
        </p:spPr>
        <p:txBody>
          <a:bodyPr wrap="square" rtlCol="0">
            <a:spAutoFit/>
          </a:bodyPr>
          <a:lstStyle/>
          <a:p>
            <a:r>
              <a:rPr lang="en-US" sz="2600" dirty="0">
                <a:sym typeface="Wingdings" pitchFamily="2" charset="2"/>
              </a:rPr>
              <a:t>def </a:t>
            </a:r>
            <a:r>
              <a:rPr lang="en-US" sz="2600" dirty="0" err="1">
                <a:sym typeface="Wingdings" pitchFamily="2" charset="2"/>
              </a:rPr>
              <a:t>annoyingFunction</a:t>
            </a:r>
            <a:r>
              <a:rPr lang="en-US" sz="2600" dirty="0">
                <a:sym typeface="Wingdings" pitchFamily="2" charset="2"/>
              </a:rPr>
              <a:t>(repetitions):</a:t>
            </a:r>
          </a:p>
          <a:p>
            <a:r>
              <a:rPr lang="en-US" sz="2600" dirty="0">
                <a:sym typeface="Wingdings" pitchFamily="2" charset="2"/>
              </a:rPr>
              <a:t>	output = ''</a:t>
            </a:r>
          </a:p>
          <a:p>
            <a:r>
              <a:rPr lang="en-US" sz="2600" dirty="0">
                <a:sym typeface="Wingdings" pitchFamily="2" charset="2"/>
              </a:rPr>
              <a:t>	for word in range(repetitions):</a:t>
            </a:r>
          </a:p>
          <a:p>
            <a:r>
              <a:rPr lang="en-US" sz="2600" dirty="0">
                <a:sym typeface="Wingdings" pitchFamily="2" charset="2"/>
              </a:rPr>
              <a:t>		output = output + "hello"</a:t>
            </a:r>
          </a:p>
          <a:p>
            <a:r>
              <a:rPr lang="en-US" sz="2600" dirty="0">
                <a:sym typeface="Wingdings" pitchFamily="2" charset="2"/>
              </a:rPr>
              <a:t>	return output</a:t>
            </a:r>
          </a:p>
          <a:p>
            <a:endParaRPr lang="en-US" sz="2600" dirty="0">
              <a:sym typeface="Wingdings" pitchFamily="2" charset="2"/>
            </a:endParaRPr>
          </a:p>
          <a:p>
            <a:endParaRPr lang="en-US" sz="2600" dirty="0">
              <a:sym typeface="Wingdings" pitchFamily="2" charset="2"/>
            </a:endParaRPr>
          </a:p>
          <a:p>
            <a:r>
              <a:rPr lang="en-US" sz="2600" dirty="0">
                <a:sym typeface="Wingdings" pitchFamily="2" charset="2"/>
              </a:rPr>
              <a:t>main():</a:t>
            </a:r>
          </a:p>
          <a:p>
            <a:r>
              <a:rPr lang="en-US" sz="2600" dirty="0">
                <a:sym typeface="Wingdings" pitchFamily="2" charset="2"/>
              </a:rPr>
              <a:t>	</a:t>
            </a:r>
            <a:r>
              <a:rPr lang="en-US" sz="2600" dirty="0" err="1">
                <a:sym typeface="Wingdings" pitchFamily="2" charset="2"/>
              </a:rPr>
              <a:t>annoyingFunction</a:t>
            </a:r>
            <a:r>
              <a:rPr lang="en-US" sz="2600" dirty="0">
                <a:sym typeface="Wingdings" pitchFamily="2" charset="2"/>
              </a:rPr>
              <a:t>(5)</a:t>
            </a:r>
          </a:p>
        </p:txBody>
      </p:sp>
      <p:sp>
        <p:nvSpPr>
          <p:cNvPr id="10" name="TextBox 9">
            <a:extLst>
              <a:ext uri="{FF2B5EF4-FFF2-40B4-BE49-F238E27FC236}">
                <a16:creationId xmlns:a16="http://schemas.microsoft.com/office/drawing/2014/main" id="{B464DC1D-12E2-8346-9F13-3BF70F8ADBE9}"/>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RETURN VALUES:</a:t>
            </a:r>
          </a:p>
        </p:txBody>
      </p:sp>
      <p:sp>
        <p:nvSpPr>
          <p:cNvPr id="8" name="Right Arrow 7">
            <a:extLst>
              <a:ext uri="{FF2B5EF4-FFF2-40B4-BE49-F238E27FC236}">
                <a16:creationId xmlns:a16="http://schemas.microsoft.com/office/drawing/2014/main" id="{CD20CC3A-A5B8-544D-A07D-CA0EABF1FF9A}"/>
              </a:ext>
            </a:extLst>
          </p:cNvPr>
          <p:cNvSpPr/>
          <p:nvPr/>
        </p:nvSpPr>
        <p:spPr>
          <a:xfrm rot="20484808" flipH="1">
            <a:off x="5483460" y="4130155"/>
            <a:ext cx="801560" cy="524101"/>
          </a:xfrm>
          <a:prstGeom prst="rightArrow">
            <a:avLst>
              <a:gd name="adj1" fmla="val 50000"/>
              <a:gd name="adj2" fmla="val 55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C3918E-3D94-5944-B01A-ADB87AF049D8}"/>
              </a:ext>
            </a:extLst>
          </p:cNvPr>
          <p:cNvSpPr txBox="1"/>
          <p:nvPr/>
        </p:nvSpPr>
        <p:spPr>
          <a:xfrm>
            <a:off x="6811260" y="3864171"/>
            <a:ext cx="4012893" cy="923330"/>
          </a:xfrm>
          <a:prstGeom prst="rect">
            <a:avLst/>
          </a:prstGeom>
          <a:noFill/>
        </p:spPr>
        <p:txBody>
          <a:bodyPr wrap="none" rtlCol="0">
            <a:spAutoFit/>
          </a:bodyPr>
          <a:lstStyle/>
          <a:p>
            <a:r>
              <a:rPr lang="en-US" dirty="0"/>
              <a:t>this doesn’t do anything, because </a:t>
            </a:r>
          </a:p>
          <a:p>
            <a:r>
              <a:rPr lang="en-US" dirty="0"/>
              <a:t>we don't do anything with the string the </a:t>
            </a:r>
          </a:p>
          <a:p>
            <a:r>
              <a:rPr lang="en-US" dirty="0"/>
              <a:t>function returns</a:t>
            </a:r>
          </a:p>
        </p:txBody>
      </p:sp>
    </p:spTree>
    <p:extLst>
      <p:ext uri="{BB962C8B-B14F-4D97-AF65-F5344CB8AC3E}">
        <p14:creationId xmlns:p14="http://schemas.microsoft.com/office/powerpoint/2010/main" val="2690609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851724" y="1263469"/>
            <a:ext cx="10678886" cy="4493538"/>
          </a:xfrm>
          <a:prstGeom prst="rect">
            <a:avLst/>
          </a:prstGeom>
          <a:noFill/>
        </p:spPr>
        <p:txBody>
          <a:bodyPr wrap="square" rtlCol="0">
            <a:spAutoFit/>
          </a:bodyPr>
          <a:lstStyle/>
          <a:p>
            <a:r>
              <a:rPr lang="en-US" sz="2600" dirty="0">
                <a:sym typeface="Wingdings" pitchFamily="2" charset="2"/>
              </a:rPr>
              <a:t>def </a:t>
            </a:r>
            <a:r>
              <a:rPr lang="en-US" sz="2600" dirty="0" err="1">
                <a:sym typeface="Wingdings" pitchFamily="2" charset="2"/>
              </a:rPr>
              <a:t>annoyingFunction</a:t>
            </a:r>
            <a:r>
              <a:rPr lang="en-US" sz="2600" dirty="0">
                <a:sym typeface="Wingdings" pitchFamily="2" charset="2"/>
              </a:rPr>
              <a:t>(repetitions):</a:t>
            </a:r>
          </a:p>
          <a:p>
            <a:r>
              <a:rPr lang="en-US" sz="2600" dirty="0">
                <a:sym typeface="Wingdings" pitchFamily="2" charset="2"/>
              </a:rPr>
              <a:t>	output = ''</a:t>
            </a:r>
          </a:p>
          <a:p>
            <a:r>
              <a:rPr lang="en-US" sz="2600" dirty="0">
                <a:sym typeface="Wingdings" pitchFamily="2" charset="2"/>
              </a:rPr>
              <a:t>	for word in range(repetitions):</a:t>
            </a:r>
          </a:p>
          <a:p>
            <a:r>
              <a:rPr lang="en-US" sz="2600" dirty="0">
                <a:sym typeface="Wingdings" pitchFamily="2" charset="2"/>
              </a:rPr>
              <a:t>		output = output + "hello"</a:t>
            </a:r>
          </a:p>
          <a:p>
            <a:r>
              <a:rPr lang="en-US" sz="2600" dirty="0">
                <a:sym typeface="Wingdings" pitchFamily="2" charset="2"/>
              </a:rPr>
              <a:t>	return output</a:t>
            </a:r>
          </a:p>
          <a:p>
            <a:endParaRPr lang="en-US" sz="2600" dirty="0">
              <a:sym typeface="Wingdings" pitchFamily="2" charset="2"/>
            </a:endParaRPr>
          </a:p>
          <a:p>
            <a:endParaRPr lang="en-US" sz="2600" dirty="0">
              <a:sym typeface="Wingdings" pitchFamily="2" charset="2"/>
            </a:endParaRPr>
          </a:p>
          <a:p>
            <a:r>
              <a:rPr lang="en-US" sz="2600" dirty="0">
                <a:sym typeface="Wingdings" pitchFamily="2" charset="2"/>
              </a:rPr>
              <a:t>main():</a:t>
            </a:r>
          </a:p>
          <a:p>
            <a:r>
              <a:rPr lang="en-US" sz="2600" dirty="0">
                <a:sym typeface="Wingdings" pitchFamily="2" charset="2"/>
              </a:rPr>
              <a:t>	result = </a:t>
            </a:r>
            <a:r>
              <a:rPr lang="en-US" sz="2600" dirty="0" err="1">
                <a:sym typeface="Wingdings" pitchFamily="2" charset="2"/>
              </a:rPr>
              <a:t>annoyingFunction</a:t>
            </a:r>
            <a:r>
              <a:rPr lang="en-US" sz="2600" dirty="0">
                <a:sym typeface="Wingdings" pitchFamily="2" charset="2"/>
              </a:rPr>
              <a:t>(5)</a:t>
            </a:r>
          </a:p>
          <a:p>
            <a:r>
              <a:rPr lang="en-US" sz="2600" dirty="0">
                <a:sym typeface="Wingdings" pitchFamily="2" charset="2"/>
              </a:rPr>
              <a:t>	print(result)	</a:t>
            </a:r>
          </a:p>
          <a:p>
            <a:r>
              <a:rPr lang="en-US" sz="2600" dirty="0">
                <a:sym typeface="Wingdings" pitchFamily="2" charset="2"/>
              </a:rPr>
              <a:t>	</a:t>
            </a:r>
          </a:p>
        </p:txBody>
      </p:sp>
      <p:sp>
        <p:nvSpPr>
          <p:cNvPr id="10" name="TextBox 9">
            <a:extLst>
              <a:ext uri="{FF2B5EF4-FFF2-40B4-BE49-F238E27FC236}">
                <a16:creationId xmlns:a16="http://schemas.microsoft.com/office/drawing/2014/main" id="{B464DC1D-12E2-8346-9F13-3BF70F8ADBE9}"/>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RETURN VALUES:</a:t>
            </a:r>
          </a:p>
        </p:txBody>
      </p:sp>
      <p:sp>
        <p:nvSpPr>
          <p:cNvPr id="6" name="Right Arrow 5">
            <a:extLst>
              <a:ext uri="{FF2B5EF4-FFF2-40B4-BE49-F238E27FC236}">
                <a16:creationId xmlns:a16="http://schemas.microsoft.com/office/drawing/2014/main" id="{F0CABB65-F9BA-3747-9E65-FA7C2DF01B30}"/>
              </a:ext>
            </a:extLst>
          </p:cNvPr>
          <p:cNvSpPr/>
          <p:nvPr/>
        </p:nvSpPr>
        <p:spPr>
          <a:xfrm rot="2064313" flipH="1">
            <a:off x="3860722" y="5160464"/>
            <a:ext cx="801560" cy="524101"/>
          </a:xfrm>
          <a:prstGeom prst="rightArrow">
            <a:avLst>
              <a:gd name="adj1" fmla="val 50000"/>
              <a:gd name="adj2" fmla="val 668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5818F81-7A1A-4148-99A7-1B578D40A8FA}"/>
              </a:ext>
            </a:extLst>
          </p:cNvPr>
          <p:cNvSpPr txBox="1"/>
          <p:nvPr/>
        </p:nvSpPr>
        <p:spPr>
          <a:xfrm>
            <a:off x="5228823" y="5680515"/>
            <a:ext cx="3289170" cy="369332"/>
          </a:xfrm>
          <a:prstGeom prst="rect">
            <a:avLst/>
          </a:prstGeom>
          <a:noFill/>
        </p:spPr>
        <p:txBody>
          <a:bodyPr wrap="none" rtlCol="0">
            <a:spAutoFit/>
          </a:bodyPr>
          <a:lstStyle/>
          <a:p>
            <a:r>
              <a:rPr lang="en-US" dirty="0"/>
              <a:t>prints "</a:t>
            </a:r>
            <a:r>
              <a:rPr lang="en-US" dirty="0" err="1"/>
              <a:t>hellohellohellohellohello</a:t>
            </a:r>
            <a:r>
              <a:rPr lang="en-US" dirty="0"/>
              <a:t>"</a:t>
            </a:r>
          </a:p>
        </p:txBody>
      </p:sp>
    </p:spTree>
    <p:extLst>
      <p:ext uri="{BB962C8B-B14F-4D97-AF65-F5344CB8AC3E}">
        <p14:creationId xmlns:p14="http://schemas.microsoft.com/office/powerpoint/2010/main" val="2197383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851724" y="1263469"/>
            <a:ext cx="10678886" cy="4493538"/>
          </a:xfrm>
          <a:prstGeom prst="rect">
            <a:avLst/>
          </a:prstGeom>
          <a:noFill/>
        </p:spPr>
        <p:txBody>
          <a:bodyPr wrap="square" rtlCol="0">
            <a:spAutoFit/>
          </a:bodyPr>
          <a:lstStyle/>
          <a:p>
            <a:r>
              <a:rPr lang="en-US" sz="2600" dirty="0">
                <a:sym typeface="Wingdings" pitchFamily="2" charset="2"/>
              </a:rPr>
              <a:t>def </a:t>
            </a:r>
            <a:r>
              <a:rPr lang="en-US" sz="2600" dirty="0" err="1">
                <a:sym typeface="Wingdings" pitchFamily="2" charset="2"/>
              </a:rPr>
              <a:t>annoyingFunction</a:t>
            </a:r>
            <a:r>
              <a:rPr lang="en-US" sz="2600" dirty="0">
                <a:sym typeface="Wingdings" pitchFamily="2" charset="2"/>
              </a:rPr>
              <a:t>(repetitions):</a:t>
            </a:r>
          </a:p>
          <a:p>
            <a:r>
              <a:rPr lang="en-US" sz="2600" dirty="0">
                <a:sym typeface="Wingdings" pitchFamily="2" charset="2"/>
              </a:rPr>
              <a:t>	output = ''</a:t>
            </a:r>
          </a:p>
          <a:p>
            <a:r>
              <a:rPr lang="en-US" sz="2600" dirty="0">
                <a:sym typeface="Wingdings" pitchFamily="2" charset="2"/>
              </a:rPr>
              <a:t>	for word in range(repetitions):</a:t>
            </a:r>
          </a:p>
          <a:p>
            <a:r>
              <a:rPr lang="en-US" sz="2600" dirty="0">
                <a:sym typeface="Wingdings" pitchFamily="2" charset="2"/>
              </a:rPr>
              <a:t>		output = output + "hello"</a:t>
            </a:r>
          </a:p>
          <a:p>
            <a:r>
              <a:rPr lang="en-US" sz="2600" dirty="0">
                <a:sym typeface="Wingdings" pitchFamily="2" charset="2"/>
              </a:rPr>
              <a:t>	return output</a:t>
            </a:r>
          </a:p>
          <a:p>
            <a:endParaRPr lang="en-US" sz="2600" dirty="0">
              <a:sym typeface="Wingdings" pitchFamily="2" charset="2"/>
            </a:endParaRPr>
          </a:p>
          <a:p>
            <a:endParaRPr lang="en-US" sz="2600" dirty="0">
              <a:sym typeface="Wingdings" pitchFamily="2" charset="2"/>
            </a:endParaRPr>
          </a:p>
          <a:p>
            <a:r>
              <a:rPr lang="en-US" sz="2600" dirty="0">
                <a:sym typeface="Wingdings" pitchFamily="2" charset="2"/>
              </a:rPr>
              <a:t>main():</a:t>
            </a:r>
          </a:p>
          <a:p>
            <a:r>
              <a:rPr lang="en-US" sz="2600" dirty="0">
                <a:sym typeface="Wingdings" pitchFamily="2" charset="2"/>
              </a:rPr>
              <a:t>	print(</a:t>
            </a:r>
            <a:r>
              <a:rPr lang="en-US" sz="2600" dirty="0" err="1">
                <a:sym typeface="Wingdings" pitchFamily="2" charset="2"/>
              </a:rPr>
              <a:t>annoyingFunction</a:t>
            </a:r>
            <a:r>
              <a:rPr lang="en-US" sz="2600" dirty="0">
                <a:sym typeface="Wingdings" pitchFamily="2" charset="2"/>
              </a:rPr>
              <a:t>(5))</a:t>
            </a:r>
          </a:p>
          <a:p>
            <a:r>
              <a:rPr lang="en-US" sz="2600" dirty="0">
                <a:sym typeface="Wingdings" pitchFamily="2" charset="2"/>
              </a:rPr>
              <a:t>		</a:t>
            </a:r>
          </a:p>
          <a:p>
            <a:r>
              <a:rPr lang="en-US" sz="2600" dirty="0">
                <a:sym typeface="Wingdings" pitchFamily="2" charset="2"/>
              </a:rPr>
              <a:t>	</a:t>
            </a:r>
          </a:p>
        </p:txBody>
      </p:sp>
      <p:sp>
        <p:nvSpPr>
          <p:cNvPr id="10" name="TextBox 9">
            <a:extLst>
              <a:ext uri="{FF2B5EF4-FFF2-40B4-BE49-F238E27FC236}">
                <a16:creationId xmlns:a16="http://schemas.microsoft.com/office/drawing/2014/main" id="{B464DC1D-12E2-8346-9F13-3BF70F8ADBE9}"/>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RETURN VALUES:</a:t>
            </a:r>
          </a:p>
        </p:txBody>
      </p:sp>
      <p:sp>
        <p:nvSpPr>
          <p:cNvPr id="6" name="Right Arrow 5">
            <a:extLst>
              <a:ext uri="{FF2B5EF4-FFF2-40B4-BE49-F238E27FC236}">
                <a16:creationId xmlns:a16="http://schemas.microsoft.com/office/drawing/2014/main" id="{F0CABB65-F9BA-3747-9E65-FA7C2DF01B30}"/>
              </a:ext>
            </a:extLst>
          </p:cNvPr>
          <p:cNvSpPr/>
          <p:nvPr/>
        </p:nvSpPr>
        <p:spPr>
          <a:xfrm rot="2064313" flipH="1">
            <a:off x="3860722" y="5160464"/>
            <a:ext cx="801560" cy="524101"/>
          </a:xfrm>
          <a:prstGeom prst="rightArrow">
            <a:avLst>
              <a:gd name="adj1" fmla="val 50000"/>
              <a:gd name="adj2" fmla="val 668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5818F81-7A1A-4148-99A7-1B578D40A8FA}"/>
              </a:ext>
            </a:extLst>
          </p:cNvPr>
          <p:cNvSpPr txBox="1"/>
          <p:nvPr/>
        </p:nvSpPr>
        <p:spPr>
          <a:xfrm>
            <a:off x="5228823" y="5680515"/>
            <a:ext cx="5170133" cy="369332"/>
          </a:xfrm>
          <a:prstGeom prst="rect">
            <a:avLst/>
          </a:prstGeom>
          <a:noFill/>
        </p:spPr>
        <p:txBody>
          <a:bodyPr wrap="none" rtlCol="0">
            <a:spAutoFit/>
          </a:bodyPr>
          <a:lstStyle/>
          <a:p>
            <a:r>
              <a:rPr lang="en-US" dirty="0"/>
              <a:t>prints "</a:t>
            </a:r>
            <a:r>
              <a:rPr lang="en-US" dirty="0" err="1"/>
              <a:t>hellohellohellohellohello</a:t>
            </a:r>
            <a:r>
              <a:rPr lang="en-US" dirty="0"/>
              <a:t>", as in previous slide</a:t>
            </a:r>
          </a:p>
        </p:txBody>
      </p:sp>
    </p:spTree>
    <p:extLst>
      <p:ext uri="{BB962C8B-B14F-4D97-AF65-F5344CB8AC3E}">
        <p14:creationId xmlns:p14="http://schemas.microsoft.com/office/powerpoint/2010/main" val="539143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851724" y="1263469"/>
            <a:ext cx="10678886" cy="5693866"/>
          </a:xfrm>
          <a:prstGeom prst="rect">
            <a:avLst/>
          </a:prstGeom>
          <a:noFill/>
        </p:spPr>
        <p:txBody>
          <a:bodyPr wrap="square" rtlCol="0">
            <a:spAutoFit/>
          </a:bodyPr>
          <a:lstStyle/>
          <a:p>
            <a:r>
              <a:rPr lang="en-US" sz="2600" dirty="0">
                <a:sym typeface="Wingdings" pitchFamily="2" charset="2"/>
              </a:rPr>
              <a:t>def </a:t>
            </a:r>
            <a:r>
              <a:rPr lang="en-US" sz="2600" dirty="0" err="1">
                <a:sym typeface="Wingdings" pitchFamily="2" charset="2"/>
              </a:rPr>
              <a:t>annoyingFunction</a:t>
            </a:r>
            <a:r>
              <a:rPr lang="en-US" sz="2600" dirty="0">
                <a:sym typeface="Wingdings" pitchFamily="2" charset="2"/>
              </a:rPr>
              <a:t>(repetitions):</a:t>
            </a:r>
          </a:p>
          <a:p>
            <a:r>
              <a:rPr lang="en-US" sz="2600" dirty="0">
                <a:sym typeface="Wingdings" pitchFamily="2" charset="2"/>
              </a:rPr>
              <a:t>	output = ''</a:t>
            </a:r>
          </a:p>
          <a:p>
            <a:r>
              <a:rPr lang="en-US" sz="2600" dirty="0">
                <a:sym typeface="Wingdings" pitchFamily="2" charset="2"/>
              </a:rPr>
              <a:t>	for word in range(repetitions):</a:t>
            </a:r>
          </a:p>
          <a:p>
            <a:r>
              <a:rPr lang="en-US" sz="2600" dirty="0">
                <a:sym typeface="Wingdings" pitchFamily="2" charset="2"/>
              </a:rPr>
              <a:t>		output = output + "hello"</a:t>
            </a:r>
          </a:p>
          <a:p>
            <a:r>
              <a:rPr lang="en-US" sz="2600" dirty="0">
                <a:sym typeface="Wingdings" pitchFamily="2" charset="2"/>
              </a:rPr>
              <a:t>	return output</a:t>
            </a:r>
          </a:p>
          <a:p>
            <a:r>
              <a:rPr lang="en-US" sz="2600" dirty="0">
                <a:sym typeface="Wingdings" pitchFamily="2" charset="2"/>
              </a:rPr>
              <a:t>	print(output)</a:t>
            </a:r>
          </a:p>
          <a:p>
            <a:endParaRPr lang="en-US" sz="2600" dirty="0">
              <a:sym typeface="Wingdings" pitchFamily="2" charset="2"/>
            </a:endParaRPr>
          </a:p>
          <a:p>
            <a:r>
              <a:rPr lang="en-US" sz="2600" dirty="0">
                <a:sym typeface="Wingdings" pitchFamily="2" charset="2"/>
              </a:rPr>
              <a:t>	</a:t>
            </a:r>
          </a:p>
          <a:p>
            <a:endParaRPr lang="en-US" sz="2600" dirty="0">
              <a:sym typeface="Wingdings" pitchFamily="2" charset="2"/>
            </a:endParaRPr>
          </a:p>
          <a:p>
            <a:r>
              <a:rPr lang="en-US" sz="2600" dirty="0">
                <a:sym typeface="Wingdings" pitchFamily="2" charset="2"/>
              </a:rPr>
              <a:t>main():</a:t>
            </a:r>
          </a:p>
          <a:p>
            <a:r>
              <a:rPr lang="en-US" sz="2600" dirty="0">
                <a:sym typeface="Wingdings" pitchFamily="2" charset="2"/>
              </a:rPr>
              <a:t>	</a:t>
            </a:r>
            <a:r>
              <a:rPr lang="en-US" sz="2600" dirty="0" err="1">
                <a:sym typeface="Wingdings" pitchFamily="2" charset="2"/>
              </a:rPr>
              <a:t>annoyingFunction</a:t>
            </a:r>
            <a:r>
              <a:rPr lang="en-US" sz="2600" dirty="0">
                <a:sym typeface="Wingdings" pitchFamily="2" charset="2"/>
              </a:rPr>
              <a:t>(5)</a:t>
            </a:r>
          </a:p>
          <a:p>
            <a:endParaRPr lang="en-US" sz="2600" dirty="0">
              <a:sym typeface="Wingdings" pitchFamily="2" charset="2"/>
            </a:endParaRPr>
          </a:p>
          <a:p>
            <a:r>
              <a:rPr lang="en-US" sz="2600" dirty="0">
                <a:sym typeface="Wingdings" pitchFamily="2" charset="2"/>
              </a:rPr>
              <a:t>		</a:t>
            </a:r>
          </a:p>
          <a:p>
            <a:r>
              <a:rPr lang="en-US" sz="2600" dirty="0">
                <a:sym typeface="Wingdings" pitchFamily="2" charset="2"/>
              </a:rPr>
              <a:t>	</a:t>
            </a:r>
          </a:p>
        </p:txBody>
      </p:sp>
      <p:sp>
        <p:nvSpPr>
          <p:cNvPr id="10" name="TextBox 9">
            <a:extLst>
              <a:ext uri="{FF2B5EF4-FFF2-40B4-BE49-F238E27FC236}">
                <a16:creationId xmlns:a16="http://schemas.microsoft.com/office/drawing/2014/main" id="{B464DC1D-12E2-8346-9F13-3BF70F8ADBE9}"/>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RETURN VALUES:</a:t>
            </a:r>
          </a:p>
        </p:txBody>
      </p:sp>
      <p:sp>
        <p:nvSpPr>
          <p:cNvPr id="6" name="Right Arrow 5">
            <a:extLst>
              <a:ext uri="{FF2B5EF4-FFF2-40B4-BE49-F238E27FC236}">
                <a16:creationId xmlns:a16="http://schemas.microsoft.com/office/drawing/2014/main" id="{F0CABB65-F9BA-3747-9E65-FA7C2DF01B30}"/>
              </a:ext>
            </a:extLst>
          </p:cNvPr>
          <p:cNvSpPr/>
          <p:nvPr/>
        </p:nvSpPr>
        <p:spPr>
          <a:xfrm rot="2064313" flipH="1">
            <a:off x="4028147" y="3209942"/>
            <a:ext cx="801560" cy="524101"/>
          </a:xfrm>
          <a:prstGeom prst="rightArrow">
            <a:avLst>
              <a:gd name="adj1" fmla="val 50000"/>
              <a:gd name="adj2" fmla="val 668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5818F81-7A1A-4148-99A7-1B578D40A8FA}"/>
              </a:ext>
            </a:extLst>
          </p:cNvPr>
          <p:cNvSpPr txBox="1"/>
          <p:nvPr/>
        </p:nvSpPr>
        <p:spPr>
          <a:xfrm>
            <a:off x="4907665" y="3545327"/>
            <a:ext cx="6789487" cy="646331"/>
          </a:xfrm>
          <a:prstGeom prst="rect">
            <a:avLst/>
          </a:prstGeom>
          <a:noFill/>
        </p:spPr>
        <p:txBody>
          <a:bodyPr wrap="none" rtlCol="0">
            <a:spAutoFit/>
          </a:bodyPr>
          <a:lstStyle/>
          <a:p>
            <a:r>
              <a:rPr lang="en-US" dirty="0"/>
              <a:t>once we return from a function, we stop running that function. this </a:t>
            </a:r>
          </a:p>
          <a:p>
            <a:r>
              <a:rPr lang="en-US" dirty="0"/>
              <a:t>print statement never runs, because it comes after the return keyword</a:t>
            </a:r>
          </a:p>
        </p:txBody>
      </p:sp>
    </p:spTree>
    <p:extLst>
      <p:ext uri="{BB962C8B-B14F-4D97-AF65-F5344CB8AC3E}">
        <p14:creationId xmlns:p14="http://schemas.microsoft.com/office/powerpoint/2010/main" val="1571141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435F4-DF5B-7A41-A324-52064DE98343}"/>
              </a:ext>
            </a:extLst>
          </p:cNvPr>
          <p:cNvSpPr txBox="1"/>
          <p:nvPr/>
        </p:nvSpPr>
        <p:spPr>
          <a:xfrm>
            <a:off x="851724" y="1263469"/>
            <a:ext cx="10678886" cy="3693319"/>
          </a:xfrm>
          <a:prstGeom prst="rect">
            <a:avLst/>
          </a:prstGeom>
          <a:noFill/>
        </p:spPr>
        <p:txBody>
          <a:bodyPr wrap="square" rtlCol="0">
            <a:spAutoFit/>
          </a:bodyPr>
          <a:lstStyle/>
          <a:p>
            <a:r>
              <a:rPr lang="en-US" sz="2600" dirty="0">
                <a:sym typeface="Wingdings" pitchFamily="2" charset="2"/>
              </a:rPr>
              <a:t>def </a:t>
            </a:r>
            <a:r>
              <a:rPr lang="en-US" sz="2600" dirty="0" err="1">
                <a:sym typeface="Wingdings" pitchFamily="2" charset="2"/>
              </a:rPr>
              <a:t>isUpper</a:t>
            </a:r>
            <a:r>
              <a:rPr lang="en-US" sz="2600" dirty="0">
                <a:sym typeface="Wingdings" pitchFamily="2" charset="2"/>
              </a:rPr>
              <a:t>(</a:t>
            </a:r>
            <a:r>
              <a:rPr lang="en-US" sz="2600" dirty="0" err="1">
                <a:sym typeface="Wingdings" pitchFamily="2" charset="2"/>
              </a:rPr>
              <a:t>userInput</a:t>
            </a:r>
            <a:r>
              <a:rPr lang="en-US" sz="2600" dirty="0">
                <a:sym typeface="Wingdings" pitchFamily="2" charset="2"/>
              </a:rPr>
              <a:t>):</a:t>
            </a:r>
          </a:p>
          <a:p>
            <a:r>
              <a:rPr lang="en-US" sz="2600" dirty="0">
                <a:sym typeface="Wingdings" pitchFamily="2" charset="2"/>
              </a:rPr>
              <a:t>	if </a:t>
            </a:r>
            <a:r>
              <a:rPr lang="en-US" sz="2600" dirty="0" err="1">
                <a:sym typeface="Wingdings" pitchFamily="2" charset="2"/>
              </a:rPr>
              <a:t>userInput.isupper</a:t>
            </a:r>
            <a:r>
              <a:rPr lang="en-US" sz="2600" dirty="0">
                <a:sym typeface="Wingdings" pitchFamily="2" charset="2"/>
              </a:rPr>
              <a:t>():</a:t>
            </a:r>
          </a:p>
          <a:p>
            <a:r>
              <a:rPr lang="en-US" sz="2600" dirty="0">
                <a:sym typeface="Wingdings" pitchFamily="2" charset="2"/>
              </a:rPr>
              <a:t>		print("it's uppercase!")</a:t>
            </a:r>
          </a:p>
          <a:p>
            <a:r>
              <a:rPr lang="en-US" sz="2600" dirty="0">
                <a:sym typeface="Wingdings" pitchFamily="2" charset="2"/>
              </a:rPr>
              <a:t>		return True</a:t>
            </a:r>
          </a:p>
          <a:p>
            <a:r>
              <a:rPr lang="en-US" sz="2600" dirty="0">
                <a:sym typeface="Wingdings" pitchFamily="2" charset="2"/>
              </a:rPr>
              <a:t>	else:</a:t>
            </a:r>
          </a:p>
          <a:p>
            <a:r>
              <a:rPr lang="en-US" sz="2600" dirty="0">
                <a:sym typeface="Wingdings" pitchFamily="2" charset="2"/>
              </a:rPr>
              <a:t>		print("it's not uppercase")</a:t>
            </a:r>
          </a:p>
          <a:p>
            <a:r>
              <a:rPr lang="en-US" sz="2600" dirty="0">
                <a:sym typeface="Wingdings" pitchFamily="2" charset="2"/>
              </a:rPr>
              <a:t>		return False</a:t>
            </a:r>
          </a:p>
          <a:p>
            <a:r>
              <a:rPr lang="en-US" sz="2600" dirty="0">
                <a:sym typeface="Wingdings" pitchFamily="2" charset="2"/>
              </a:rPr>
              <a:t>			</a:t>
            </a:r>
          </a:p>
          <a:p>
            <a:r>
              <a:rPr lang="en-US" sz="2600" dirty="0">
                <a:sym typeface="Wingdings" pitchFamily="2" charset="2"/>
              </a:rPr>
              <a:t>	</a:t>
            </a:r>
          </a:p>
        </p:txBody>
      </p:sp>
      <p:sp>
        <p:nvSpPr>
          <p:cNvPr id="10" name="TextBox 9">
            <a:extLst>
              <a:ext uri="{FF2B5EF4-FFF2-40B4-BE49-F238E27FC236}">
                <a16:creationId xmlns:a16="http://schemas.microsoft.com/office/drawing/2014/main" id="{B464DC1D-12E2-8346-9F13-3BF70F8ADBE9}"/>
              </a:ext>
            </a:extLst>
          </p:cNvPr>
          <p:cNvSpPr txBox="1"/>
          <p:nvPr/>
        </p:nvSpPr>
        <p:spPr>
          <a:xfrm>
            <a:off x="590309" y="555583"/>
            <a:ext cx="11514666" cy="707886"/>
          </a:xfrm>
          <a:prstGeom prst="rect">
            <a:avLst/>
          </a:prstGeom>
          <a:noFill/>
        </p:spPr>
        <p:txBody>
          <a:bodyPr wrap="square" rtlCol="0">
            <a:spAutoFit/>
          </a:bodyPr>
          <a:lstStyle/>
          <a:p>
            <a:r>
              <a:rPr lang="en-US" sz="4000" dirty="0">
                <a:solidFill>
                  <a:srgbClr val="FF0000"/>
                </a:solidFill>
              </a:rPr>
              <a:t>RETURN VALUES:</a:t>
            </a:r>
          </a:p>
        </p:txBody>
      </p:sp>
      <p:sp>
        <p:nvSpPr>
          <p:cNvPr id="8" name="Right Arrow 7">
            <a:extLst>
              <a:ext uri="{FF2B5EF4-FFF2-40B4-BE49-F238E27FC236}">
                <a16:creationId xmlns:a16="http://schemas.microsoft.com/office/drawing/2014/main" id="{DB49F9E4-EEC0-B24E-840A-CD04745991EB}"/>
              </a:ext>
            </a:extLst>
          </p:cNvPr>
          <p:cNvSpPr/>
          <p:nvPr/>
        </p:nvSpPr>
        <p:spPr>
          <a:xfrm rot="7520190" flipH="1">
            <a:off x="1104642" y="3326587"/>
            <a:ext cx="801560" cy="524101"/>
          </a:xfrm>
          <a:prstGeom prst="rightArrow">
            <a:avLst>
              <a:gd name="adj1" fmla="val 50000"/>
              <a:gd name="adj2" fmla="val 668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5EF5F25-AFB6-AE4F-A821-CF27EF115D75}"/>
              </a:ext>
            </a:extLst>
          </p:cNvPr>
          <p:cNvSpPr txBox="1"/>
          <p:nvPr/>
        </p:nvSpPr>
        <p:spPr>
          <a:xfrm>
            <a:off x="695459" y="4803820"/>
            <a:ext cx="11127726" cy="646331"/>
          </a:xfrm>
          <a:prstGeom prst="rect">
            <a:avLst/>
          </a:prstGeom>
          <a:noFill/>
        </p:spPr>
        <p:txBody>
          <a:bodyPr wrap="none" rtlCol="0">
            <a:spAutoFit/>
          </a:bodyPr>
          <a:lstStyle/>
          <a:p>
            <a:r>
              <a:rPr lang="en-US" dirty="0"/>
              <a:t>this stuff comes after a return statement, but it doesn't come after a return statement is actually executed – we only </a:t>
            </a:r>
          </a:p>
          <a:p>
            <a:r>
              <a:rPr lang="en-US" dirty="0"/>
              <a:t>do the stuff after this else statement if the original if statement wasn't true.</a:t>
            </a:r>
          </a:p>
        </p:txBody>
      </p:sp>
    </p:spTree>
    <p:extLst>
      <p:ext uri="{BB962C8B-B14F-4D97-AF65-F5344CB8AC3E}">
        <p14:creationId xmlns:p14="http://schemas.microsoft.com/office/powerpoint/2010/main" val="1247015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4AF37B-C0FC-3743-A0E4-AAB61E028799}"/>
              </a:ext>
            </a:extLst>
          </p:cNvPr>
          <p:cNvSpPr txBox="1"/>
          <p:nvPr/>
        </p:nvSpPr>
        <p:spPr>
          <a:xfrm>
            <a:off x="590309" y="555583"/>
            <a:ext cx="2132315" cy="3170099"/>
          </a:xfrm>
          <a:prstGeom prst="rect">
            <a:avLst/>
          </a:prstGeom>
          <a:noFill/>
        </p:spPr>
        <p:txBody>
          <a:bodyPr wrap="none" rtlCol="0">
            <a:spAutoFit/>
          </a:bodyPr>
          <a:lstStyle/>
          <a:p>
            <a:r>
              <a:rPr lang="en-US" sz="20000" dirty="0"/>
              <a:t>1.</a:t>
            </a:r>
          </a:p>
        </p:txBody>
      </p:sp>
      <p:sp>
        <p:nvSpPr>
          <p:cNvPr id="3" name="TextBox 2">
            <a:extLst>
              <a:ext uri="{FF2B5EF4-FFF2-40B4-BE49-F238E27FC236}">
                <a16:creationId xmlns:a16="http://schemas.microsoft.com/office/drawing/2014/main" id="{E42D67C2-3010-0B46-A3B3-EDDCD41D3FBD}"/>
              </a:ext>
            </a:extLst>
          </p:cNvPr>
          <p:cNvSpPr txBox="1"/>
          <p:nvPr/>
        </p:nvSpPr>
        <p:spPr>
          <a:xfrm>
            <a:off x="2546667" y="1288033"/>
            <a:ext cx="9645333" cy="2092881"/>
          </a:xfrm>
          <a:prstGeom prst="rect">
            <a:avLst/>
          </a:prstGeom>
          <a:noFill/>
        </p:spPr>
        <p:txBody>
          <a:bodyPr wrap="none" rtlCol="0">
            <a:spAutoFit/>
          </a:bodyPr>
          <a:lstStyle/>
          <a:p>
            <a:r>
              <a:rPr lang="en-US" sz="13000" dirty="0">
                <a:solidFill>
                  <a:srgbClr val="FF0000"/>
                </a:solidFill>
              </a:rPr>
              <a:t>PSEUDOCODE</a:t>
            </a:r>
          </a:p>
        </p:txBody>
      </p:sp>
    </p:spTree>
    <p:extLst>
      <p:ext uri="{BB962C8B-B14F-4D97-AF65-F5344CB8AC3E}">
        <p14:creationId xmlns:p14="http://schemas.microsoft.com/office/powerpoint/2010/main" val="922189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PSEUDOCODE</a:t>
            </a:r>
          </a:p>
        </p:txBody>
      </p:sp>
      <p:sp>
        <p:nvSpPr>
          <p:cNvPr id="8" name="TextBox 7">
            <a:extLst>
              <a:ext uri="{FF2B5EF4-FFF2-40B4-BE49-F238E27FC236}">
                <a16:creationId xmlns:a16="http://schemas.microsoft.com/office/drawing/2014/main" id="{B1015BC0-ECB4-5342-AF84-263C63834E06}"/>
              </a:ext>
            </a:extLst>
          </p:cNvPr>
          <p:cNvSpPr txBox="1"/>
          <p:nvPr/>
        </p:nvSpPr>
        <p:spPr>
          <a:xfrm>
            <a:off x="590309" y="1571246"/>
            <a:ext cx="10678886" cy="4893647"/>
          </a:xfrm>
          <a:prstGeom prst="rect">
            <a:avLst/>
          </a:prstGeom>
          <a:noFill/>
        </p:spPr>
        <p:txBody>
          <a:bodyPr wrap="square" rtlCol="0">
            <a:spAutoFit/>
          </a:bodyPr>
          <a:lstStyle/>
          <a:p>
            <a:pPr marL="457200" indent="-457200">
              <a:buFont typeface="Arial" panose="020B0604020202020204" pitchFamily="34" charset="0"/>
              <a:buChar char="•"/>
            </a:pPr>
            <a:r>
              <a:rPr lang="en-US" sz="2600" dirty="0">
                <a:sym typeface="Wingdings" pitchFamily="2" charset="2"/>
              </a:rPr>
              <a:t>Recall that an algorithm is a step-by-step description of a process</a:t>
            </a:r>
          </a:p>
          <a:p>
            <a:pPr marL="457200" indent="-457200">
              <a:buFont typeface="Arial" panose="020B0604020202020204" pitchFamily="34" charset="0"/>
              <a:buChar char="•"/>
            </a:pPr>
            <a:r>
              <a:rPr lang="en-US" sz="2600" dirty="0">
                <a:sym typeface="Wingdings" pitchFamily="2" charset="2"/>
              </a:rPr>
              <a:t>Pseudocode is a way to describe algorithms in an informal mixture of </a:t>
            </a:r>
            <a:r>
              <a:rPr lang="en-US" sz="2600" dirty="0" err="1">
                <a:sym typeface="Wingdings" pitchFamily="2" charset="2"/>
              </a:rPr>
              <a:t>english</a:t>
            </a:r>
            <a:r>
              <a:rPr lang="en-US" sz="2600" dirty="0">
                <a:sym typeface="Wingdings" pitchFamily="2" charset="2"/>
              </a:rPr>
              <a:t> and code.</a:t>
            </a:r>
          </a:p>
          <a:p>
            <a:pPr marL="457200" indent="-457200">
              <a:buFont typeface="Arial" panose="020B0604020202020204" pitchFamily="34" charset="0"/>
              <a:buChar char="•"/>
            </a:pPr>
            <a:r>
              <a:rPr lang="en-US" sz="2600" dirty="0">
                <a:sym typeface="Wingdings" pitchFamily="2" charset="2"/>
              </a:rPr>
              <a:t>Writing pseudocode before writing working code is a strategy to speed up software development </a:t>
            </a:r>
          </a:p>
          <a:p>
            <a:pPr marL="457200" indent="-457200">
              <a:buFont typeface="Arial" panose="020B0604020202020204" pitchFamily="34" charset="0"/>
              <a:buChar char="•"/>
            </a:pPr>
            <a:r>
              <a:rPr lang="en-US" sz="2600" dirty="0">
                <a:sym typeface="Wingdings" pitchFamily="2" charset="2"/>
              </a:rPr>
              <a:t>How does writing pseudocode speed up development? It lets you figure out the top-level structure of your program before you have to think about syntax detail.</a:t>
            </a:r>
          </a:p>
          <a:p>
            <a:pPr marL="457200" indent="-457200">
              <a:buFont typeface="Arial" panose="020B0604020202020204" pitchFamily="34" charset="0"/>
              <a:buChar char="•"/>
            </a:pPr>
            <a:r>
              <a:rPr lang="en-US" sz="2600" dirty="0">
                <a:sym typeface="Wingdings" pitchFamily="2" charset="2"/>
              </a:rPr>
              <a:t>Pseudocode doesn't have to be particularly precise.</a:t>
            </a:r>
          </a:p>
          <a:p>
            <a:pPr marL="457200" indent="-457200">
              <a:buFont typeface="Arial" panose="020B0604020202020204" pitchFamily="34" charset="0"/>
              <a:buChar char="•"/>
            </a:pPr>
            <a:r>
              <a:rPr lang="en-US" sz="2600" dirty="0">
                <a:sym typeface="Wingdings" pitchFamily="2" charset="2"/>
              </a:rPr>
              <a:t>Can be a good way to figure out what functions you need to define</a:t>
            </a:r>
          </a:p>
          <a:p>
            <a:endParaRPr lang="en-US" sz="2600" dirty="0">
              <a:sym typeface="Wingdings" pitchFamily="2" charset="2"/>
            </a:endParaRPr>
          </a:p>
          <a:p>
            <a:pPr marL="342900" indent="-342900">
              <a:buFont typeface="Arial" panose="020B0604020202020204" pitchFamily="34" charset="0"/>
              <a:buChar char="•"/>
            </a:pPr>
            <a:endParaRPr lang="en-US" sz="2600" dirty="0">
              <a:sym typeface="Wingdings" pitchFamily="2" charset="2"/>
            </a:endParaRPr>
          </a:p>
        </p:txBody>
      </p:sp>
    </p:spTree>
    <p:extLst>
      <p:ext uri="{BB962C8B-B14F-4D97-AF65-F5344CB8AC3E}">
        <p14:creationId xmlns:p14="http://schemas.microsoft.com/office/powerpoint/2010/main" val="3078785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PSEUDOCODE EXAMPLE – waking up</a:t>
            </a:r>
          </a:p>
        </p:txBody>
      </p:sp>
      <p:sp>
        <p:nvSpPr>
          <p:cNvPr id="8" name="TextBox 7">
            <a:extLst>
              <a:ext uri="{FF2B5EF4-FFF2-40B4-BE49-F238E27FC236}">
                <a16:creationId xmlns:a16="http://schemas.microsoft.com/office/drawing/2014/main" id="{B1015BC0-ECB4-5342-AF84-263C63834E06}"/>
              </a:ext>
            </a:extLst>
          </p:cNvPr>
          <p:cNvSpPr txBox="1"/>
          <p:nvPr/>
        </p:nvSpPr>
        <p:spPr>
          <a:xfrm>
            <a:off x="590309" y="1571246"/>
            <a:ext cx="10678886" cy="5632311"/>
          </a:xfrm>
          <a:prstGeom prst="rect">
            <a:avLst/>
          </a:prstGeom>
          <a:noFill/>
        </p:spPr>
        <p:txBody>
          <a:bodyPr wrap="square" rtlCol="0">
            <a:spAutoFit/>
          </a:bodyPr>
          <a:lstStyle/>
          <a:p>
            <a:r>
              <a:rPr lang="en-US" sz="2000" dirty="0">
                <a:sym typeface="Wingdings" pitchFamily="2" charset="2"/>
              </a:rPr>
              <a:t># pseudocode for morning routine (if you're me)</a:t>
            </a:r>
          </a:p>
          <a:p>
            <a:endParaRPr lang="en-US" sz="2000" dirty="0">
              <a:sym typeface="Wingdings" pitchFamily="2" charset="2"/>
            </a:endParaRPr>
          </a:p>
          <a:p>
            <a:r>
              <a:rPr lang="en-US" sz="2000" dirty="0" err="1">
                <a:sym typeface="Wingdings" pitchFamily="2" charset="2"/>
              </a:rPr>
              <a:t>waitForAlarm</a:t>
            </a:r>
            <a:r>
              <a:rPr lang="en-US" sz="2000" dirty="0">
                <a:sym typeface="Wingdings" pitchFamily="2" charset="2"/>
              </a:rPr>
              <a:t>()</a:t>
            </a:r>
          </a:p>
          <a:p>
            <a:r>
              <a:rPr lang="en-US" sz="2000" dirty="0">
                <a:sym typeface="Wingdings" pitchFamily="2" charset="2"/>
              </a:rPr>
              <a:t>if not </a:t>
            </a:r>
            <a:r>
              <a:rPr lang="en-US" sz="2000" dirty="0" err="1">
                <a:sym typeface="Wingdings" pitchFamily="2" charset="2"/>
              </a:rPr>
              <a:t>monday</a:t>
            </a:r>
            <a:r>
              <a:rPr lang="en-US" sz="2000" dirty="0">
                <a:sym typeface="Wingdings" pitchFamily="2" charset="2"/>
              </a:rPr>
              <a:t> </a:t>
            </a:r>
            <a:r>
              <a:rPr lang="en-US" sz="2000" dirty="0" err="1">
                <a:sym typeface="Wingdings" pitchFamily="2" charset="2"/>
              </a:rPr>
              <a:t>throgh</a:t>
            </a:r>
            <a:r>
              <a:rPr lang="en-US" sz="2000" dirty="0">
                <a:sym typeface="Wingdings" pitchFamily="2" charset="2"/>
              </a:rPr>
              <a:t> </a:t>
            </a:r>
            <a:r>
              <a:rPr lang="en-US" sz="2000" dirty="0" err="1">
                <a:sym typeface="Wingdings" pitchFamily="2" charset="2"/>
              </a:rPr>
              <a:t>thursday</a:t>
            </a:r>
            <a:r>
              <a:rPr lang="en-US" sz="2000" dirty="0">
                <a:sym typeface="Wingdings" pitchFamily="2" charset="2"/>
              </a:rPr>
              <a:t>:</a:t>
            </a:r>
          </a:p>
          <a:p>
            <a:r>
              <a:rPr lang="en-US" sz="2000" dirty="0">
                <a:sym typeface="Wingdings" pitchFamily="2" charset="2"/>
              </a:rPr>
              <a:t>	turn off alarm</a:t>
            </a:r>
          </a:p>
          <a:p>
            <a:r>
              <a:rPr lang="en-US" sz="2000" dirty="0">
                <a:sym typeface="Wingdings" pitchFamily="2" charset="2"/>
              </a:rPr>
              <a:t>else:</a:t>
            </a:r>
          </a:p>
          <a:p>
            <a:r>
              <a:rPr lang="en-US" sz="2000" dirty="0">
                <a:sym typeface="Wingdings" pitchFamily="2" charset="2"/>
              </a:rPr>
              <a:t>	</a:t>
            </a:r>
            <a:r>
              <a:rPr lang="en-US" sz="2000" dirty="0" err="1">
                <a:sym typeface="Wingdings" pitchFamily="2" charset="2"/>
              </a:rPr>
              <a:t>pushSnooze</a:t>
            </a:r>
            <a:r>
              <a:rPr lang="en-US" sz="2000" dirty="0">
                <a:sym typeface="Wingdings" pitchFamily="2" charset="2"/>
              </a:rPr>
              <a:t>(</a:t>
            </a:r>
            <a:r>
              <a:rPr lang="en-US" sz="2000" dirty="0" err="1">
                <a:sym typeface="Wingdings" pitchFamily="2" charset="2"/>
              </a:rPr>
              <a:t>randrange</a:t>
            </a:r>
            <a:r>
              <a:rPr lang="en-US" sz="2000" dirty="0">
                <a:sym typeface="Wingdings" pitchFamily="2" charset="2"/>
              </a:rPr>
              <a:t>(2, 5))</a:t>
            </a:r>
          </a:p>
          <a:p>
            <a:r>
              <a:rPr lang="en-US" sz="2000" dirty="0">
                <a:sym typeface="Wingdings" pitchFamily="2" charset="2"/>
              </a:rPr>
              <a:t>get out of bed</a:t>
            </a:r>
          </a:p>
          <a:p>
            <a:r>
              <a:rPr lang="en-US" sz="2000" dirty="0">
                <a:sym typeface="Wingdings" pitchFamily="2" charset="2"/>
              </a:rPr>
              <a:t>go to bathroom</a:t>
            </a:r>
          </a:p>
          <a:p>
            <a:r>
              <a:rPr lang="en-US" sz="2000" dirty="0">
                <a:sym typeface="Wingdings" pitchFamily="2" charset="2"/>
              </a:rPr>
              <a:t>take shower</a:t>
            </a:r>
          </a:p>
          <a:p>
            <a:r>
              <a:rPr lang="en-US" sz="2000" dirty="0">
                <a:sym typeface="Wingdings" pitchFamily="2" charset="2"/>
              </a:rPr>
              <a:t>get dressed</a:t>
            </a:r>
          </a:p>
          <a:p>
            <a:r>
              <a:rPr lang="en-US" sz="2000" dirty="0" err="1">
                <a:sym typeface="Wingdings" pitchFamily="2" charset="2"/>
              </a:rPr>
              <a:t>drinkCupsOfCoffee</a:t>
            </a:r>
            <a:r>
              <a:rPr lang="en-US" sz="2000" dirty="0">
                <a:sym typeface="Wingdings" pitchFamily="2" charset="2"/>
              </a:rPr>
              <a:t>(</a:t>
            </a:r>
            <a:r>
              <a:rPr lang="en-US" sz="2000" dirty="0" err="1">
                <a:sym typeface="Wingdings" pitchFamily="2" charset="2"/>
              </a:rPr>
              <a:t>randrange</a:t>
            </a:r>
            <a:r>
              <a:rPr lang="en-US" sz="2000" dirty="0">
                <a:sym typeface="Wingdings" pitchFamily="2" charset="2"/>
              </a:rPr>
              <a:t>(2, 5))</a:t>
            </a:r>
          </a:p>
          <a:p>
            <a:r>
              <a:rPr lang="en-US" sz="2000" dirty="0" err="1">
                <a:sym typeface="Wingdings" pitchFamily="2" charset="2"/>
              </a:rPr>
              <a:t>bikeToBart</a:t>
            </a:r>
            <a:endParaRPr lang="en-US" sz="2000" dirty="0">
              <a:sym typeface="Wingdings" pitchFamily="2" charset="2"/>
            </a:endParaRPr>
          </a:p>
          <a:p>
            <a:r>
              <a:rPr lang="en-US" sz="2000" dirty="0" err="1">
                <a:sym typeface="Wingdings" pitchFamily="2" charset="2"/>
              </a:rPr>
              <a:t>bartToBus</a:t>
            </a:r>
            <a:endParaRPr lang="en-US" sz="2000" dirty="0">
              <a:sym typeface="Wingdings" pitchFamily="2" charset="2"/>
            </a:endParaRPr>
          </a:p>
          <a:p>
            <a:r>
              <a:rPr lang="en-US" sz="2000" dirty="0" err="1">
                <a:sym typeface="Wingdings" pitchFamily="2" charset="2"/>
              </a:rPr>
              <a:t>goToOffice</a:t>
            </a:r>
            <a:endParaRPr lang="en-US" sz="2000" dirty="0">
              <a:sym typeface="Wingdings" pitchFamily="2" charset="2"/>
            </a:endParaRPr>
          </a:p>
          <a:p>
            <a:r>
              <a:rPr lang="en-US" sz="2000" dirty="0">
                <a:sym typeface="Wingdings" pitchFamily="2" charset="2"/>
              </a:rPr>
              <a:t>if </a:t>
            </a:r>
            <a:r>
              <a:rPr lang="en-US" sz="2000" dirty="0" err="1">
                <a:sym typeface="Wingdings" pitchFamily="2" charset="2"/>
              </a:rPr>
              <a:t>notEnoughCoffee</a:t>
            </a:r>
            <a:r>
              <a:rPr lang="en-US" sz="2000" dirty="0">
                <a:sym typeface="Wingdings" pitchFamily="2" charset="2"/>
              </a:rPr>
              <a:t>:</a:t>
            </a:r>
          </a:p>
          <a:p>
            <a:r>
              <a:rPr lang="en-US" sz="2000" dirty="0">
                <a:sym typeface="Wingdings" pitchFamily="2" charset="2"/>
              </a:rPr>
              <a:t>	</a:t>
            </a:r>
            <a:r>
              <a:rPr lang="en-US" sz="2000" dirty="0" err="1">
                <a:sym typeface="Wingdings" pitchFamily="2" charset="2"/>
              </a:rPr>
              <a:t>getFromFacultyLounge</a:t>
            </a:r>
            <a:endParaRPr lang="en-US" sz="2000" dirty="0">
              <a:sym typeface="Wingdings" pitchFamily="2" charset="2"/>
            </a:endParaRPr>
          </a:p>
          <a:p>
            <a:endParaRPr lang="en-US" sz="2000" dirty="0">
              <a:sym typeface="Wingdings" pitchFamily="2" charset="2"/>
            </a:endParaRP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31891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323439"/>
          </a:xfrm>
          <a:prstGeom prst="rect">
            <a:avLst/>
          </a:prstGeom>
          <a:noFill/>
        </p:spPr>
        <p:txBody>
          <a:bodyPr wrap="square" rtlCol="0">
            <a:spAutoFit/>
          </a:bodyPr>
          <a:lstStyle/>
          <a:p>
            <a:r>
              <a:rPr lang="en-US" sz="8000" dirty="0">
                <a:solidFill>
                  <a:srgbClr val="FF0000"/>
                </a:solidFill>
              </a:rPr>
              <a:t>IN-CLASS EXERCISE 1 </a:t>
            </a:r>
          </a:p>
        </p:txBody>
      </p:sp>
      <p:sp>
        <p:nvSpPr>
          <p:cNvPr id="4" name="TextBox 3">
            <a:extLst>
              <a:ext uri="{FF2B5EF4-FFF2-40B4-BE49-F238E27FC236}">
                <a16:creationId xmlns:a16="http://schemas.microsoft.com/office/drawing/2014/main" id="{E35D83AF-0E32-C145-85B6-27C9ECF9D14E}"/>
              </a:ext>
            </a:extLst>
          </p:cNvPr>
          <p:cNvSpPr txBox="1"/>
          <p:nvPr/>
        </p:nvSpPr>
        <p:spPr>
          <a:xfrm>
            <a:off x="590309" y="1879022"/>
            <a:ext cx="10678886" cy="5262979"/>
          </a:xfrm>
          <a:prstGeom prst="rect">
            <a:avLst/>
          </a:prstGeom>
          <a:noFill/>
        </p:spPr>
        <p:txBody>
          <a:bodyPr wrap="square" rtlCol="0">
            <a:spAutoFit/>
          </a:bodyPr>
          <a:lstStyle/>
          <a:p>
            <a:r>
              <a:rPr lang="en-US" sz="2400" dirty="0">
                <a:solidFill>
                  <a:srgbClr val="FF0000"/>
                </a:solidFill>
              </a:rPr>
              <a:t>WRITING PSEUDOCODE</a:t>
            </a:r>
          </a:p>
          <a:p>
            <a:endParaRPr lang="en-US" sz="2400" dirty="0">
              <a:sym typeface="Wingdings" pitchFamily="2" charset="2"/>
            </a:endParaRPr>
          </a:p>
          <a:p>
            <a:r>
              <a:rPr lang="en-US" sz="2400" dirty="0">
                <a:sym typeface="Wingdings" pitchFamily="2" charset="2"/>
              </a:rPr>
              <a:t>Write pseudocode (NOT a full program) to ask the user for a new password. Your pseudocode, if implemented, would have to:</a:t>
            </a:r>
          </a:p>
          <a:p>
            <a:endParaRPr lang="en-US" sz="2400" dirty="0">
              <a:sym typeface="Wingdings" pitchFamily="2" charset="2"/>
            </a:endParaRPr>
          </a:p>
          <a:p>
            <a:r>
              <a:rPr lang="en-US" sz="2400" dirty="0">
                <a:sym typeface="Wingdings" pitchFamily="2" charset="2"/>
              </a:rPr>
              <a:t>ask the user for a string, ask the user to re-enter the string, verify that the string is at least eight characters long, verify that that string contains at least one number, at least one lowercase letter, at least one piece of punctuation, and at least one uppercase letter.  </a:t>
            </a:r>
          </a:p>
          <a:p>
            <a:endParaRPr lang="en-US" sz="2400" dirty="0">
              <a:sym typeface="Wingdings" pitchFamily="2" charset="2"/>
            </a:endParaRPr>
          </a:p>
          <a:p>
            <a:r>
              <a:rPr lang="en-US" sz="2400" dirty="0">
                <a:sym typeface="Wingdings" pitchFamily="2" charset="2"/>
              </a:rPr>
              <a:t>Start over if either the two strings don't match, or if the string is too short or doesn't have all the required characters.</a:t>
            </a:r>
          </a:p>
          <a:p>
            <a:endParaRPr lang="en-US" sz="2400" dirty="0">
              <a:sym typeface="Wingdings" pitchFamily="2" charset="2"/>
            </a:endParaRPr>
          </a:p>
          <a:p>
            <a:pPr marL="457200" indent="-457200">
              <a:buFont typeface="Arial" panose="020B0604020202020204" pitchFamily="34" charset="0"/>
              <a:buChar char="•"/>
            </a:pPr>
            <a:endParaRPr lang="en-US" sz="2400" dirty="0">
              <a:sym typeface="Wingdings" pitchFamily="2" charset="2"/>
            </a:endParaRPr>
          </a:p>
        </p:txBody>
      </p:sp>
    </p:spTree>
    <p:extLst>
      <p:ext uri="{BB962C8B-B14F-4D97-AF65-F5344CB8AC3E}">
        <p14:creationId xmlns:p14="http://schemas.microsoft.com/office/powerpoint/2010/main" val="3525675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323439"/>
          </a:xfrm>
          <a:prstGeom prst="rect">
            <a:avLst/>
          </a:prstGeom>
          <a:noFill/>
        </p:spPr>
        <p:txBody>
          <a:bodyPr wrap="square" rtlCol="0">
            <a:spAutoFit/>
          </a:bodyPr>
          <a:lstStyle/>
          <a:p>
            <a:r>
              <a:rPr lang="en-US" sz="8000" dirty="0">
                <a:solidFill>
                  <a:srgbClr val="FF0000"/>
                </a:solidFill>
              </a:rPr>
              <a:t>NOTE</a:t>
            </a:r>
          </a:p>
        </p:txBody>
      </p:sp>
      <p:sp>
        <p:nvSpPr>
          <p:cNvPr id="4" name="TextBox 3">
            <a:extLst>
              <a:ext uri="{FF2B5EF4-FFF2-40B4-BE49-F238E27FC236}">
                <a16:creationId xmlns:a16="http://schemas.microsoft.com/office/drawing/2014/main" id="{E35D83AF-0E32-C145-85B6-27C9ECF9D14E}"/>
              </a:ext>
            </a:extLst>
          </p:cNvPr>
          <p:cNvSpPr txBox="1"/>
          <p:nvPr/>
        </p:nvSpPr>
        <p:spPr>
          <a:xfrm>
            <a:off x="590309" y="1879022"/>
            <a:ext cx="10678886" cy="2677656"/>
          </a:xfrm>
          <a:prstGeom prst="rect">
            <a:avLst/>
          </a:prstGeom>
          <a:noFill/>
        </p:spPr>
        <p:txBody>
          <a:bodyPr wrap="square" rtlCol="0">
            <a:spAutoFit/>
          </a:bodyPr>
          <a:lstStyle/>
          <a:p>
            <a:r>
              <a:rPr lang="en-US" sz="2400" dirty="0">
                <a:sym typeface="Wingdings" pitchFamily="2" charset="2"/>
              </a:rPr>
              <a:t>how to check for punctuation characters:</a:t>
            </a:r>
          </a:p>
          <a:p>
            <a:endParaRPr lang="en-US" sz="2400" dirty="0">
              <a:sym typeface="Wingdings" pitchFamily="2" charset="2"/>
            </a:endParaRPr>
          </a:p>
          <a:p>
            <a:r>
              <a:rPr lang="en-US" sz="2400" dirty="0">
                <a:sym typeface="Wingdings" pitchFamily="2" charset="2"/>
              </a:rPr>
              <a:t>import string</a:t>
            </a:r>
          </a:p>
          <a:p>
            <a:endParaRPr lang="en-US" sz="2400" dirty="0">
              <a:sym typeface="Wingdings" pitchFamily="2" charset="2"/>
            </a:endParaRPr>
          </a:p>
          <a:p>
            <a:r>
              <a:rPr lang="en-US" sz="2400" dirty="0" err="1">
                <a:sym typeface="Wingdings" pitchFamily="2" charset="2"/>
              </a:rPr>
              <a:t>string.punctuation</a:t>
            </a:r>
            <a:endParaRPr lang="en-US" sz="2400" dirty="0">
              <a:sym typeface="Wingdings" pitchFamily="2" charset="2"/>
            </a:endParaRPr>
          </a:p>
          <a:p>
            <a:endParaRPr lang="en-US" sz="2400" dirty="0">
              <a:sym typeface="Wingdings" pitchFamily="2" charset="2"/>
            </a:endParaRPr>
          </a:p>
          <a:p>
            <a:pPr marL="457200" indent="-457200">
              <a:buFont typeface="Arial" panose="020B0604020202020204" pitchFamily="34" charset="0"/>
              <a:buChar char="•"/>
            </a:pPr>
            <a:endParaRPr lang="en-US" sz="2400" dirty="0">
              <a:sym typeface="Wingdings" pitchFamily="2" charset="2"/>
            </a:endParaRPr>
          </a:p>
        </p:txBody>
      </p:sp>
    </p:spTree>
    <p:extLst>
      <p:ext uri="{BB962C8B-B14F-4D97-AF65-F5344CB8AC3E}">
        <p14:creationId xmlns:p14="http://schemas.microsoft.com/office/powerpoint/2010/main" val="1676570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938992"/>
          </a:xfrm>
          <a:prstGeom prst="rect">
            <a:avLst/>
          </a:prstGeom>
          <a:noFill/>
        </p:spPr>
        <p:txBody>
          <a:bodyPr wrap="square" rtlCol="0">
            <a:spAutoFit/>
          </a:bodyPr>
          <a:lstStyle/>
          <a:p>
            <a:r>
              <a:rPr lang="en-US" sz="6000" dirty="0">
                <a:solidFill>
                  <a:srgbClr val="FF0000"/>
                </a:solidFill>
              </a:rPr>
              <a:t>ONE STRATEGY FOR DECIDING </a:t>
            </a:r>
          </a:p>
          <a:p>
            <a:r>
              <a:rPr lang="en-US" sz="6000" dirty="0">
                <a:solidFill>
                  <a:srgbClr val="FF0000"/>
                </a:solidFill>
              </a:rPr>
              <a:t>WHICH FUNCTIONS TO WRITE</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633075"/>
            <a:ext cx="10678886" cy="2123658"/>
          </a:xfrm>
          <a:prstGeom prst="rect">
            <a:avLst/>
          </a:prstGeom>
          <a:noFill/>
        </p:spPr>
        <p:txBody>
          <a:bodyPr wrap="square" rtlCol="0">
            <a:spAutoFit/>
          </a:bodyPr>
          <a:lstStyle/>
          <a:p>
            <a:pPr marL="457200" indent="-457200">
              <a:buFont typeface="Arial" panose="020B0604020202020204" pitchFamily="34" charset="0"/>
              <a:buChar char="•"/>
            </a:pPr>
            <a:r>
              <a:rPr lang="en-US" sz="2200" dirty="0">
                <a:sym typeface="Wingdings" pitchFamily="2" charset="2"/>
              </a:rPr>
              <a:t>Write out your main() function as pseudocode. Include function calls to functions that "magically" do whatever complicated thing you need to do to actually implement the code</a:t>
            </a:r>
          </a:p>
          <a:p>
            <a:pPr marL="457200" indent="-457200">
              <a:buFont typeface="Arial" panose="020B0604020202020204" pitchFamily="34" charset="0"/>
              <a:buChar char="•"/>
            </a:pPr>
            <a:r>
              <a:rPr lang="en-US" sz="2200" dirty="0">
                <a:sym typeface="Wingdings" pitchFamily="2" charset="2"/>
              </a:rPr>
              <a:t>Go back and actually write the functions</a:t>
            </a:r>
          </a:p>
          <a:p>
            <a:pPr marL="457200" indent="-457200">
              <a:buFont typeface="Arial" panose="020B0604020202020204" pitchFamily="34" charset="0"/>
              <a:buChar char="•"/>
            </a:pPr>
            <a:r>
              <a:rPr lang="en-US" sz="2200" dirty="0">
                <a:sym typeface="Wingdings" pitchFamily="2" charset="2"/>
              </a:rPr>
              <a:t>This is called "top-down design" – it's a good way to make sure your code is clean and readable</a:t>
            </a:r>
          </a:p>
        </p:txBody>
      </p:sp>
    </p:spTree>
    <p:extLst>
      <p:ext uri="{BB962C8B-B14F-4D97-AF65-F5344CB8AC3E}">
        <p14:creationId xmlns:p14="http://schemas.microsoft.com/office/powerpoint/2010/main" val="3874932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4AF37B-C0FC-3743-A0E4-AAB61E028799}"/>
              </a:ext>
            </a:extLst>
          </p:cNvPr>
          <p:cNvSpPr txBox="1"/>
          <p:nvPr/>
        </p:nvSpPr>
        <p:spPr>
          <a:xfrm>
            <a:off x="590309" y="555583"/>
            <a:ext cx="2132315" cy="3170099"/>
          </a:xfrm>
          <a:prstGeom prst="rect">
            <a:avLst/>
          </a:prstGeom>
          <a:noFill/>
        </p:spPr>
        <p:txBody>
          <a:bodyPr wrap="none" rtlCol="0">
            <a:spAutoFit/>
          </a:bodyPr>
          <a:lstStyle/>
          <a:p>
            <a:r>
              <a:rPr lang="en-US" sz="20000" dirty="0"/>
              <a:t>2.</a:t>
            </a:r>
          </a:p>
        </p:txBody>
      </p:sp>
      <p:sp>
        <p:nvSpPr>
          <p:cNvPr id="3" name="TextBox 2">
            <a:extLst>
              <a:ext uri="{FF2B5EF4-FFF2-40B4-BE49-F238E27FC236}">
                <a16:creationId xmlns:a16="http://schemas.microsoft.com/office/drawing/2014/main" id="{E42D67C2-3010-0B46-A3B3-EDDCD41D3FBD}"/>
              </a:ext>
            </a:extLst>
          </p:cNvPr>
          <p:cNvSpPr txBox="1"/>
          <p:nvPr/>
        </p:nvSpPr>
        <p:spPr>
          <a:xfrm>
            <a:off x="2546667" y="1288033"/>
            <a:ext cx="9294917" cy="3477875"/>
          </a:xfrm>
          <a:prstGeom prst="rect">
            <a:avLst/>
          </a:prstGeom>
          <a:noFill/>
        </p:spPr>
        <p:txBody>
          <a:bodyPr wrap="none" rtlCol="0">
            <a:spAutoFit/>
          </a:bodyPr>
          <a:lstStyle/>
          <a:p>
            <a:r>
              <a:rPr lang="en-US" sz="11000" dirty="0">
                <a:solidFill>
                  <a:srgbClr val="FF0000"/>
                </a:solidFill>
              </a:rPr>
              <a:t>STRING</a:t>
            </a:r>
          </a:p>
          <a:p>
            <a:r>
              <a:rPr lang="en-US" sz="11000" dirty="0">
                <a:solidFill>
                  <a:srgbClr val="FF0000"/>
                </a:solidFill>
              </a:rPr>
              <a:t>MANIPULATION</a:t>
            </a:r>
          </a:p>
        </p:txBody>
      </p:sp>
    </p:spTree>
    <p:extLst>
      <p:ext uri="{BB962C8B-B14F-4D97-AF65-F5344CB8AC3E}">
        <p14:creationId xmlns:p14="http://schemas.microsoft.com/office/powerpoint/2010/main" val="1380732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STRING METHODS</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1422461"/>
            <a:ext cx="11837804" cy="4154984"/>
          </a:xfrm>
          <a:prstGeom prst="rect">
            <a:avLst/>
          </a:prstGeom>
          <a:noFill/>
        </p:spPr>
        <p:txBody>
          <a:bodyPr wrap="square" rtlCol="0">
            <a:spAutoFit/>
          </a:bodyPr>
          <a:lstStyle/>
          <a:p>
            <a:pPr marL="342900" indent="-342900">
              <a:buFont typeface="Arial" panose="020B0604020202020204" pitchFamily="34" charset="0"/>
              <a:buChar char="•"/>
            </a:pPr>
            <a:r>
              <a:rPr lang="en-US" sz="2200" dirty="0">
                <a:sym typeface="Wingdings" pitchFamily="2" charset="2"/>
              </a:rPr>
              <a:t>See textbook for a reference of string methods: </a:t>
            </a:r>
          </a:p>
          <a:p>
            <a:endParaRPr lang="en-US" sz="2200" dirty="0">
              <a:sym typeface="Wingdings" pitchFamily="2" charset="2"/>
            </a:endParaRPr>
          </a:p>
          <a:p>
            <a:pPr marL="342900" indent="-342900">
              <a:buFont typeface="Arial" panose="020B0604020202020204" pitchFamily="34" charset="0"/>
              <a:buChar char="•"/>
            </a:pPr>
            <a:r>
              <a:rPr lang="en-US" sz="2200" dirty="0">
                <a:sym typeface="Wingdings" pitchFamily="2" charset="2"/>
              </a:rPr>
              <a:t>try out: find, replace, strip</a:t>
            </a:r>
          </a:p>
          <a:p>
            <a:pPr marL="342900" indent="-342900">
              <a:buFont typeface="Arial" panose="020B0604020202020204" pitchFamily="34" charset="0"/>
              <a:buChar char="•"/>
            </a:pPr>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  hello world.    "</a:t>
            </a:r>
          </a:p>
          <a:p>
            <a:r>
              <a:rPr lang="en-US" sz="2200" dirty="0">
                <a:sym typeface="Wingdings" pitchFamily="2" charset="2"/>
              </a:rPr>
              <a:t>print(</a:t>
            </a:r>
            <a:r>
              <a:rPr lang="en-US" sz="2200" dirty="0" err="1">
                <a:sym typeface="Wingdings" pitchFamily="2" charset="2"/>
              </a:rPr>
              <a:t>myString.strip</a:t>
            </a:r>
            <a:r>
              <a:rPr lang="en-US" sz="2200" dirty="0">
                <a:sym typeface="Wingdings" pitchFamily="2" charset="2"/>
              </a:rPr>
              <a:t>())		 prints "hello world"</a:t>
            </a:r>
          </a:p>
          <a:p>
            <a:r>
              <a:rPr lang="en-US" sz="2200" dirty="0" err="1">
                <a:sym typeface="Wingdings" pitchFamily="2" charset="2"/>
              </a:rPr>
              <a:t>myString</a:t>
            </a:r>
            <a:r>
              <a:rPr lang="en-US" sz="2200" dirty="0">
                <a:sym typeface="Wingdings" pitchFamily="2" charset="2"/>
              </a:rPr>
              <a:t> = </a:t>
            </a:r>
            <a:r>
              <a:rPr lang="en-US" sz="2200" dirty="0" err="1">
                <a:sym typeface="Wingdings" pitchFamily="2" charset="2"/>
              </a:rPr>
              <a:t>myString.strip</a:t>
            </a:r>
            <a:r>
              <a:rPr lang="en-US" sz="2200" dirty="0">
                <a:sym typeface="Wingdings" pitchFamily="2" charset="2"/>
              </a:rPr>
              <a:t>())	</a:t>
            </a:r>
          </a:p>
          <a:p>
            <a:r>
              <a:rPr lang="en-US" sz="2200" dirty="0">
                <a:sym typeface="Wingdings" pitchFamily="2" charset="2"/>
              </a:rPr>
              <a:t>print(</a:t>
            </a:r>
            <a:r>
              <a:rPr lang="en-US" sz="2200" dirty="0" err="1">
                <a:sym typeface="Wingdings" pitchFamily="2" charset="2"/>
              </a:rPr>
              <a:t>myString.find</a:t>
            </a:r>
            <a:r>
              <a:rPr lang="en-US" sz="2200" dirty="0">
                <a:sym typeface="Wingdings" pitchFamily="2" charset="2"/>
              </a:rPr>
              <a:t>('</a:t>
            </a:r>
            <a:r>
              <a:rPr lang="en-US" sz="2200" dirty="0" err="1">
                <a:sym typeface="Wingdings" pitchFamily="2" charset="2"/>
              </a:rPr>
              <a:t>llo</a:t>
            </a:r>
            <a:r>
              <a:rPr lang="en-US" sz="2200" dirty="0">
                <a:sym typeface="Wingdings" pitchFamily="2" charset="2"/>
              </a:rPr>
              <a:t>'))	 prints 2</a:t>
            </a:r>
          </a:p>
          <a:p>
            <a:r>
              <a:rPr lang="en-US" sz="2200" dirty="0">
                <a:sym typeface="Wingdings" pitchFamily="2" charset="2"/>
              </a:rPr>
              <a:t>print(</a:t>
            </a:r>
            <a:r>
              <a:rPr lang="en-US" sz="2200" dirty="0" err="1">
                <a:sym typeface="Wingdings" pitchFamily="2" charset="2"/>
              </a:rPr>
              <a:t>myString.find</a:t>
            </a:r>
            <a:r>
              <a:rPr lang="en-US" sz="2200" dirty="0">
                <a:sym typeface="Wingdings" pitchFamily="2" charset="2"/>
              </a:rPr>
              <a:t>('goodbye'))	 prints -1</a:t>
            </a:r>
          </a:p>
          <a:p>
            <a:r>
              <a:rPr lang="en-US" sz="2200" dirty="0">
                <a:sym typeface="Wingdings" pitchFamily="2" charset="2"/>
              </a:rPr>
              <a:t>print(</a:t>
            </a:r>
            <a:r>
              <a:rPr lang="en-US" sz="2200" dirty="0" err="1">
                <a:sym typeface="Wingdings" pitchFamily="2" charset="2"/>
              </a:rPr>
              <a:t>myString.replace</a:t>
            </a:r>
            <a:r>
              <a:rPr lang="en-US" sz="2200" dirty="0">
                <a:sym typeface="Wingdings" pitchFamily="2" charset="2"/>
              </a:rPr>
              <a:t>('world' 'operator please give me number 9'))  prints "hello operator 										please give me number 9"</a:t>
            </a:r>
          </a:p>
          <a:p>
            <a:endParaRPr lang="en-US" sz="2200" dirty="0">
              <a:sym typeface="Wingdings" pitchFamily="2" charset="2"/>
            </a:endParaRPr>
          </a:p>
        </p:txBody>
      </p:sp>
    </p:spTree>
    <p:extLst>
      <p:ext uri="{BB962C8B-B14F-4D97-AF65-F5344CB8AC3E}">
        <p14:creationId xmlns:p14="http://schemas.microsoft.com/office/powerpoint/2010/main" val="2322657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SLICE NOTATION</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633075"/>
            <a:ext cx="10678886" cy="1446550"/>
          </a:xfrm>
          <a:prstGeom prst="rect">
            <a:avLst/>
          </a:prstGeom>
          <a:noFill/>
        </p:spPr>
        <p:txBody>
          <a:bodyPr wrap="square" rtlCol="0">
            <a:spAutoFit/>
          </a:bodyPr>
          <a:lstStyle/>
          <a:p>
            <a:r>
              <a:rPr lang="en-US" sz="2200" dirty="0">
                <a:sym typeface="Wingdings" pitchFamily="2" charset="2"/>
              </a:rPr>
              <a:t>We've seen a couple of ways to get characters from strings by index:</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a:t>
            </a:r>
          </a:p>
          <a:p>
            <a:r>
              <a:rPr lang="en-US" sz="2200" dirty="0">
                <a:sym typeface="Wingdings" pitchFamily="2" charset="2"/>
              </a:rPr>
              <a:t>print(</a:t>
            </a:r>
            <a:r>
              <a:rPr lang="en-US" sz="2200" dirty="0" err="1">
                <a:sym typeface="Wingdings" pitchFamily="2" charset="2"/>
              </a:rPr>
              <a:t>myString</a:t>
            </a:r>
            <a:r>
              <a:rPr lang="en-US" sz="2200" dirty="0">
                <a:sym typeface="Wingdings" pitchFamily="2" charset="2"/>
              </a:rPr>
              <a:t>[0])</a:t>
            </a:r>
          </a:p>
        </p:txBody>
      </p:sp>
      <p:sp>
        <p:nvSpPr>
          <p:cNvPr id="5" name="Down Arrow 4">
            <a:extLst>
              <a:ext uri="{FF2B5EF4-FFF2-40B4-BE49-F238E27FC236}">
                <a16:creationId xmlns:a16="http://schemas.microsoft.com/office/drawing/2014/main" id="{F6BF44C4-89FF-7C47-B873-D8D9A447216A}"/>
              </a:ext>
            </a:extLst>
          </p:cNvPr>
          <p:cNvSpPr/>
          <p:nvPr/>
        </p:nvSpPr>
        <p:spPr>
          <a:xfrm rot="6353669">
            <a:off x="3108811" y="3651177"/>
            <a:ext cx="413145" cy="591933"/>
          </a:xfrm>
          <a:prstGeom prst="downArrow">
            <a:avLst>
              <a:gd name="adj1" fmla="val 50000"/>
              <a:gd name="adj2" fmla="val 534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BBB3F0-5DD2-4F4D-9386-D0C0225D6494}"/>
              </a:ext>
            </a:extLst>
          </p:cNvPr>
          <p:cNvSpPr txBox="1"/>
          <p:nvPr/>
        </p:nvSpPr>
        <p:spPr>
          <a:xfrm>
            <a:off x="4082603" y="3857542"/>
            <a:ext cx="1003288" cy="369332"/>
          </a:xfrm>
          <a:prstGeom prst="rect">
            <a:avLst/>
          </a:prstGeom>
          <a:noFill/>
        </p:spPr>
        <p:txBody>
          <a:bodyPr wrap="none" rtlCol="0">
            <a:spAutoFit/>
          </a:bodyPr>
          <a:lstStyle/>
          <a:p>
            <a:r>
              <a:rPr lang="en-US" dirty="0"/>
              <a:t>prints 'h'</a:t>
            </a:r>
          </a:p>
        </p:txBody>
      </p:sp>
    </p:spTree>
    <p:extLst>
      <p:ext uri="{BB962C8B-B14F-4D97-AF65-F5344CB8AC3E}">
        <p14:creationId xmlns:p14="http://schemas.microsoft.com/office/powerpoint/2010/main" val="2156631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SLICE NOTATION</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633075"/>
            <a:ext cx="10678886" cy="2123658"/>
          </a:xfrm>
          <a:prstGeom prst="rect">
            <a:avLst/>
          </a:prstGeom>
          <a:noFill/>
        </p:spPr>
        <p:txBody>
          <a:bodyPr wrap="square" rtlCol="0">
            <a:spAutoFit/>
          </a:bodyPr>
          <a:lstStyle/>
          <a:p>
            <a:r>
              <a:rPr lang="en-US" sz="2200" dirty="0">
                <a:sym typeface="Wingdings" pitchFamily="2" charset="2"/>
              </a:rPr>
              <a:t>We've seen a couple of ways to get characters from strings by index:</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a:t>
            </a:r>
          </a:p>
          <a:p>
            <a:r>
              <a:rPr lang="en-US" sz="2200" dirty="0">
                <a:sym typeface="Wingdings" pitchFamily="2" charset="2"/>
              </a:rPr>
              <a:t>print(</a:t>
            </a:r>
            <a:r>
              <a:rPr lang="en-US" sz="2200" dirty="0" err="1">
                <a:sym typeface="Wingdings" pitchFamily="2" charset="2"/>
              </a:rPr>
              <a:t>myString</a:t>
            </a:r>
            <a:r>
              <a:rPr lang="en-US" sz="2200" dirty="0">
                <a:sym typeface="Wingdings" pitchFamily="2" charset="2"/>
              </a:rPr>
              <a:t>[0])</a:t>
            </a:r>
          </a:p>
          <a:p>
            <a:endParaRPr lang="en-US" sz="2200" dirty="0">
              <a:sym typeface="Wingdings" pitchFamily="2" charset="2"/>
            </a:endParaRPr>
          </a:p>
          <a:p>
            <a:r>
              <a:rPr lang="en-US" sz="2200" dirty="0">
                <a:sym typeface="Wingdings" pitchFamily="2" charset="2"/>
              </a:rPr>
              <a:t>print(</a:t>
            </a:r>
            <a:r>
              <a:rPr lang="en-US" sz="2200" dirty="0" err="1">
                <a:sym typeface="Wingdings" pitchFamily="2" charset="2"/>
              </a:rPr>
              <a:t>myString</a:t>
            </a:r>
            <a:r>
              <a:rPr lang="en-US" sz="2200" dirty="0">
                <a:sym typeface="Wingdings" pitchFamily="2" charset="2"/>
              </a:rPr>
              <a:t>[-1])</a:t>
            </a:r>
          </a:p>
        </p:txBody>
      </p:sp>
      <p:sp>
        <p:nvSpPr>
          <p:cNvPr id="5" name="Down Arrow 4">
            <a:extLst>
              <a:ext uri="{FF2B5EF4-FFF2-40B4-BE49-F238E27FC236}">
                <a16:creationId xmlns:a16="http://schemas.microsoft.com/office/drawing/2014/main" id="{F6BF44C4-89FF-7C47-B873-D8D9A447216A}"/>
              </a:ext>
            </a:extLst>
          </p:cNvPr>
          <p:cNvSpPr/>
          <p:nvPr/>
        </p:nvSpPr>
        <p:spPr>
          <a:xfrm rot="6353669">
            <a:off x="3224721" y="4210637"/>
            <a:ext cx="413145" cy="591933"/>
          </a:xfrm>
          <a:prstGeom prst="downArrow">
            <a:avLst>
              <a:gd name="adj1" fmla="val 50000"/>
              <a:gd name="adj2" fmla="val 534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BBB3F0-5DD2-4F4D-9386-D0C0225D6494}"/>
              </a:ext>
            </a:extLst>
          </p:cNvPr>
          <p:cNvSpPr txBox="1"/>
          <p:nvPr/>
        </p:nvSpPr>
        <p:spPr>
          <a:xfrm>
            <a:off x="4095482" y="4506603"/>
            <a:ext cx="1003288" cy="369332"/>
          </a:xfrm>
          <a:prstGeom prst="rect">
            <a:avLst/>
          </a:prstGeom>
          <a:noFill/>
        </p:spPr>
        <p:txBody>
          <a:bodyPr wrap="none" rtlCol="0">
            <a:spAutoFit/>
          </a:bodyPr>
          <a:lstStyle/>
          <a:p>
            <a:r>
              <a:rPr lang="en-US" dirty="0"/>
              <a:t>prints 'o'</a:t>
            </a:r>
          </a:p>
        </p:txBody>
      </p:sp>
    </p:spTree>
    <p:extLst>
      <p:ext uri="{BB962C8B-B14F-4D97-AF65-F5344CB8AC3E}">
        <p14:creationId xmlns:p14="http://schemas.microsoft.com/office/powerpoint/2010/main" val="1449782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SLICE NOTATION</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633075"/>
            <a:ext cx="10678886" cy="1446550"/>
          </a:xfrm>
          <a:prstGeom prst="rect">
            <a:avLst/>
          </a:prstGeom>
          <a:noFill/>
        </p:spPr>
        <p:txBody>
          <a:bodyPr wrap="square" rtlCol="0">
            <a:spAutoFit/>
          </a:bodyPr>
          <a:lstStyle/>
          <a:p>
            <a:r>
              <a:rPr lang="en-US" sz="2200" dirty="0">
                <a:sym typeface="Wingdings" pitchFamily="2" charset="2"/>
              </a:rPr>
              <a:t>We can also print a range of characters, using </a:t>
            </a:r>
            <a:r>
              <a:rPr lang="en-US" sz="2200" i="1" dirty="0">
                <a:sym typeface="Wingdings" pitchFamily="2" charset="2"/>
              </a:rPr>
              <a:t>slice notation</a:t>
            </a:r>
            <a:r>
              <a:rPr lang="en-US" sz="2200" dirty="0">
                <a:sym typeface="Wingdings" pitchFamily="2" charset="2"/>
              </a:rPr>
              <a:t>:</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a:sym typeface="Wingdings" pitchFamily="2" charset="2"/>
              </a:rPr>
              <a:t>print(</a:t>
            </a:r>
            <a:r>
              <a:rPr lang="en-US" sz="2200" dirty="0" err="1">
                <a:sym typeface="Wingdings" pitchFamily="2" charset="2"/>
              </a:rPr>
              <a:t>myString</a:t>
            </a:r>
            <a:r>
              <a:rPr lang="en-US" sz="2200" dirty="0">
                <a:sym typeface="Wingdings" pitchFamily="2" charset="2"/>
              </a:rPr>
              <a:t>[6:11])</a:t>
            </a:r>
          </a:p>
        </p:txBody>
      </p:sp>
      <p:sp>
        <p:nvSpPr>
          <p:cNvPr id="5" name="Down Arrow 4">
            <a:extLst>
              <a:ext uri="{FF2B5EF4-FFF2-40B4-BE49-F238E27FC236}">
                <a16:creationId xmlns:a16="http://schemas.microsoft.com/office/drawing/2014/main" id="{F6BF44C4-89FF-7C47-B873-D8D9A447216A}"/>
              </a:ext>
            </a:extLst>
          </p:cNvPr>
          <p:cNvSpPr/>
          <p:nvPr/>
        </p:nvSpPr>
        <p:spPr>
          <a:xfrm rot="6353669">
            <a:off x="3237600" y="3783659"/>
            <a:ext cx="413145" cy="591933"/>
          </a:xfrm>
          <a:prstGeom prst="downArrow">
            <a:avLst>
              <a:gd name="adj1" fmla="val 50000"/>
              <a:gd name="adj2" fmla="val 534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BBB3F0-5DD2-4F4D-9386-D0C0225D6494}"/>
              </a:ext>
            </a:extLst>
          </p:cNvPr>
          <p:cNvSpPr txBox="1"/>
          <p:nvPr/>
        </p:nvSpPr>
        <p:spPr>
          <a:xfrm>
            <a:off x="4095482" y="4506603"/>
            <a:ext cx="1421158" cy="369332"/>
          </a:xfrm>
          <a:prstGeom prst="rect">
            <a:avLst/>
          </a:prstGeom>
          <a:noFill/>
        </p:spPr>
        <p:txBody>
          <a:bodyPr wrap="none" rtlCol="0">
            <a:spAutoFit/>
          </a:bodyPr>
          <a:lstStyle/>
          <a:p>
            <a:r>
              <a:rPr lang="en-US" dirty="0"/>
              <a:t>prints 'world'</a:t>
            </a:r>
          </a:p>
        </p:txBody>
      </p:sp>
    </p:spTree>
    <p:extLst>
      <p:ext uri="{BB962C8B-B14F-4D97-AF65-F5344CB8AC3E}">
        <p14:creationId xmlns:p14="http://schemas.microsoft.com/office/powerpoint/2010/main" val="1035794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FUN WITH RANGES</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1785104"/>
          </a:xfrm>
          <a:prstGeom prst="rect">
            <a:avLst/>
          </a:prstGeom>
          <a:noFill/>
        </p:spPr>
        <p:txBody>
          <a:bodyPr wrap="square" rtlCol="0">
            <a:spAutoFit/>
          </a:bodyPr>
          <a:lstStyle/>
          <a:p>
            <a:r>
              <a:rPr lang="en-US" sz="2200" dirty="0">
                <a:sym typeface="Wingdings" pitchFamily="2" charset="2"/>
              </a:rPr>
              <a:t>Consider this for loop:</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a:sym typeface="Wingdings" pitchFamily="2" charset="2"/>
              </a:rPr>
              <a:t>for x in range(</a:t>
            </a:r>
            <a:r>
              <a:rPr lang="en-US" sz="2200" dirty="0" err="1">
                <a:sym typeface="Wingdings" pitchFamily="2" charset="2"/>
              </a:rPr>
              <a:t>len</a:t>
            </a:r>
            <a:r>
              <a:rPr lang="en-US" sz="2200" dirty="0">
                <a:sym typeface="Wingdings" pitchFamily="2" charset="2"/>
              </a:rPr>
              <a:t>(</a:t>
            </a:r>
            <a:r>
              <a:rPr lang="en-US" sz="2200" dirty="0" err="1">
                <a:sym typeface="Wingdings" pitchFamily="2" charset="2"/>
              </a:rPr>
              <a:t>myString</a:t>
            </a:r>
            <a:r>
              <a:rPr lang="en-US" sz="2200" dirty="0">
                <a:sym typeface="Wingdings" pitchFamily="2" charset="2"/>
              </a:rPr>
              <a:t>)):</a:t>
            </a:r>
          </a:p>
          <a:p>
            <a:r>
              <a:rPr lang="en-US" sz="2200" dirty="0">
                <a:sym typeface="Wingdings" pitchFamily="2" charset="2"/>
              </a:rPr>
              <a:t>	print(x)</a:t>
            </a:r>
          </a:p>
        </p:txBody>
      </p:sp>
      <p:sp>
        <p:nvSpPr>
          <p:cNvPr id="6" name="TextBox 5">
            <a:extLst>
              <a:ext uri="{FF2B5EF4-FFF2-40B4-BE49-F238E27FC236}">
                <a16:creationId xmlns:a16="http://schemas.microsoft.com/office/drawing/2014/main" id="{70752080-E5A5-9F4B-9CBE-5A92C332040F}"/>
              </a:ext>
            </a:extLst>
          </p:cNvPr>
          <p:cNvSpPr txBox="1"/>
          <p:nvPr/>
        </p:nvSpPr>
        <p:spPr>
          <a:xfrm>
            <a:off x="6078828" y="2694630"/>
            <a:ext cx="2164952" cy="369332"/>
          </a:xfrm>
          <a:prstGeom prst="rect">
            <a:avLst/>
          </a:prstGeom>
          <a:noFill/>
        </p:spPr>
        <p:txBody>
          <a:bodyPr wrap="none" rtlCol="0">
            <a:spAutoFit/>
          </a:bodyPr>
          <a:lstStyle/>
          <a:p>
            <a:r>
              <a:rPr lang="en-US" dirty="0"/>
              <a:t>what does this print?</a:t>
            </a:r>
          </a:p>
        </p:txBody>
      </p:sp>
    </p:spTree>
    <p:extLst>
      <p:ext uri="{BB962C8B-B14F-4D97-AF65-F5344CB8AC3E}">
        <p14:creationId xmlns:p14="http://schemas.microsoft.com/office/powerpoint/2010/main" val="1740364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FUN WITH RANGES</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1785104"/>
          </a:xfrm>
          <a:prstGeom prst="rect">
            <a:avLst/>
          </a:prstGeom>
          <a:noFill/>
        </p:spPr>
        <p:txBody>
          <a:bodyPr wrap="square" rtlCol="0">
            <a:spAutoFit/>
          </a:bodyPr>
          <a:lstStyle/>
          <a:p>
            <a:r>
              <a:rPr lang="en-US" sz="2200" dirty="0">
                <a:sym typeface="Wingdings" pitchFamily="2" charset="2"/>
              </a:rPr>
              <a:t>Consider this for loop:</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a:sym typeface="Wingdings" pitchFamily="2" charset="2"/>
              </a:rPr>
              <a:t>for x in range(</a:t>
            </a:r>
            <a:r>
              <a:rPr lang="en-US" sz="2200" dirty="0" err="1">
                <a:sym typeface="Wingdings" pitchFamily="2" charset="2"/>
              </a:rPr>
              <a:t>len</a:t>
            </a:r>
            <a:r>
              <a:rPr lang="en-US" sz="2200" dirty="0">
                <a:sym typeface="Wingdings" pitchFamily="2" charset="2"/>
              </a:rPr>
              <a:t>(</a:t>
            </a:r>
            <a:r>
              <a:rPr lang="en-US" sz="2200" dirty="0" err="1">
                <a:sym typeface="Wingdings" pitchFamily="2" charset="2"/>
              </a:rPr>
              <a:t>myString</a:t>
            </a:r>
            <a:r>
              <a:rPr lang="en-US" sz="2200" dirty="0">
                <a:sym typeface="Wingdings" pitchFamily="2" charset="2"/>
              </a:rPr>
              <a:t>)):</a:t>
            </a:r>
          </a:p>
          <a:p>
            <a:r>
              <a:rPr lang="en-US" sz="2200" dirty="0">
                <a:sym typeface="Wingdings" pitchFamily="2" charset="2"/>
              </a:rPr>
              <a:t>	print(x)</a:t>
            </a:r>
          </a:p>
        </p:txBody>
      </p:sp>
      <p:sp>
        <p:nvSpPr>
          <p:cNvPr id="6" name="TextBox 5">
            <a:extLst>
              <a:ext uri="{FF2B5EF4-FFF2-40B4-BE49-F238E27FC236}">
                <a16:creationId xmlns:a16="http://schemas.microsoft.com/office/drawing/2014/main" id="{70752080-E5A5-9F4B-9CBE-5A92C332040F}"/>
              </a:ext>
            </a:extLst>
          </p:cNvPr>
          <p:cNvSpPr txBox="1"/>
          <p:nvPr/>
        </p:nvSpPr>
        <p:spPr>
          <a:xfrm>
            <a:off x="6078828" y="2694630"/>
            <a:ext cx="2164952" cy="369332"/>
          </a:xfrm>
          <a:prstGeom prst="rect">
            <a:avLst/>
          </a:prstGeom>
          <a:noFill/>
        </p:spPr>
        <p:txBody>
          <a:bodyPr wrap="none" rtlCol="0">
            <a:spAutoFit/>
          </a:bodyPr>
          <a:lstStyle/>
          <a:p>
            <a:r>
              <a:rPr lang="en-US" dirty="0"/>
              <a:t>what does this print?</a:t>
            </a:r>
          </a:p>
        </p:txBody>
      </p:sp>
      <p:sp>
        <p:nvSpPr>
          <p:cNvPr id="4" name="TextBox 3">
            <a:extLst>
              <a:ext uri="{FF2B5EF4-FFF2-40B4-BE49-F238E27FC236}">
                <a16:creationId xmlns:a16="http://schemas.microsoft.com/office/drawing/2014/main" id="{42110F1D-BCA9-DC46-A70F-2F851FD3F0F4}"/>
              </a:ext>
            </a:extLst>
          </p:cNvPr>
          <p:cNvSpPr txBox="1"/>
          <p:nvPr/>
        </p:nvSpPr>
        <p:spPr>
          <a:xfrm>
            <a:off x="9247031" y="2002010"/>
            <a:ext cx="1342034" cy="3139321"/>
          </a:xfrm>
          <a:prstGeom prst="rect">
            <a:avLst/>
          </a:prstGeom>
          <a:solidFill>
            <a:schemeClr val="accent1"/>
          </a:solidFill>
          <a:ln>
            <a:solidFill>
              <a:schemeClr val="accent1"/>
            </a:solidFill>
          </a:ln>
        </p:spPr>
        <p:txBody>
          <a:bodyPr wrap="none" rtlCol="0">
            <a:spAutoFit/>
          </a:bodyPr>
          <a:lstStyle/>
          <a:p>
            <a:r>
              <a:rPr lang="en-US" dirty="0">
                <a:solidFill>
                  <a:srgbClr val="FFFF00"/>
                </a:solidFill>
              </a:rPr>
              <a:t>answer:  	0 </a:t>
            </a:r>
          </a:p>
          <a:p>
            <a:r>
              <a:rPr lang="en-US" dirty="0">
                <a:solidFill>
                  <a:srgbClr val="FFFF00"/>
                </a:solidFill>
              </a:rPr>
              <a:t>	1</a:t>
            </a:r>
          </a:p>
          <a:p>
            <a:r>
              <a:rPr lang="en-US" dirty="0">
                <a:solidFill>
                  <a:srgbClr val="FFFF00"/>
                </a:solidFill>
              </a:rPr>
              <a:t>	2</a:t>
            </a:r>
          </a:p>
          <a:p>
            <a:r>
              <a:rPr lang="en-US" dirty="0">
                <a:solidFill>
                  <a:srgbClr val="FFFF00"/>
                </a:solidFill>
              </a:rPr>
              <a:t>	3</a:t>
            </a:r>
          </a:p>
          <a:p>
            <a:r>
              <a:rPr lang="en-US" dirty="0">
                <a:solidFill>
                  <a:srgbClr val="FFFF00"/>
                </a:solidFill>
              </a:rPr>
              <a:t>	4</a:t>
            </a:r>
          </a:p>
          <a:p>
            <a:r>
              <a:rPr lang="en-US" dirty="0">
                <a:solidFill>
                  <a:srgbClr val="FFFF00"/>
                </a:solidFill>
              </a:rPr>
              <a:t>	5</a:t>
            </a:r>
          </a:p>
          <a:p>
            <a:r>
              <a:rPr lang="en-US" dirty="0">
                <a:solidFill>
                  <a:srgbClr val="FFFF00"/>
                </a:solidFill>
              </a:rPr>
              <a:t>	6</a:t>
            </a:r>
          </a:p>
          <a:p>
            <a:r>
              <a:rPr lang="en-US" dirty="0">
                <a:solidFill>
                  <a:srgbClr val="FFFF00"/>
                </a:solidFill>
              </a:rPr>
              <a:t>	7</a:t>
            </a:r>
          </a:p>
          <a:p>
            <a:r>
              <a:rPr lang="en-US" dirty="0">
                <a:solidFill>
                  <a:srgbClr val="FFFF00"/>
                </a:solidFill>
              </a:rPr>
              <a:t>	8</a:t>
            </a:r>
          </a:p>
          <a:p>
            <a:r>
              <a:rPr lang="en-US" dirty="0">
                <a:solidFill>
                  <a:srgbClr val="FFFF00"/>
                </a:solidFill>
              </a:rPr>
              <a:t>	9</a:t>
            </a:r>
          </a:p>
          <a:p>
            <a:r>
              <a:rPr lang="en-US" dirty="0">
                <a:solidFill>
                  <a:srgbClr val="FFFF00"/>
                </a:solidFill>
              </a:rPr>
              <a:t>	10</a:t>
            </a:r>
          </a:p>
        </p:txBody>
      </p:sp>
    </p:spTree>
    <p:extLst>
      <p:ext uri="{BB962C8B-B14F-4D97-AF65-F5344CB8AC3E}">
        <p14:creationId xmlns:p14="http://schemas.microsoft.com/office/powerpoint/2010/main" val="791396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FUN WITH RANGES</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1785104"/>
          </a:xfrm>
          <a:prstGeom prst="rect">
            <a:avLst/>
          </a:prstGeom>
          <a:noFill/>
        </p:spPr>
        <p:txBody>
          <a:bodyPr wrap="square" rtlCol="0">
            <a:spAutoFit/>
          </a:bodyPr>
          <a:lstStyle/>
          <a:p>
            <a:r>
              <a:rPr lang="en-US" sz="2200" dirty="0">
                <a:sym typeface="Wingdings" pitchFamily="2" charset="2"/>
              </a:rPr>
              <a:t>Consider this for loop:</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a:sym typeface="Wingdings" pitchFamily="2" charset="2"/>
              </a:rPr>
              <a:t>for x in range(</a:t>
            </a:r>
            <a:r>
              <a:rPr lang="en-US" sz="2200" dirty="0" err="1">
                <a:sym typeface="Wingdings" pitchFamily="2" charset="2"/>
              </a:rPr>
              <a:t>len</a:t>
            </a:r>
            <a:r>
              <a:rPr lang="en-US" sz="2200" dirty="0">
                <a:sym typeface="Wingdings" pitchFamily="2" charset="2"/>
              </a:rPr>
              <a:t>(</a:t>
            </a:r>
            <a:r>
              <a:rPr lang="en-US" sz="2200" dirty="0" err="1">
                <a:sym typeface="Wingdings" pitchFamily="2" charset="2"/>
              </a:rPr>
              <a:t>myString</a:t>
            </a:r>
            <a:r>
              <a:rPr lang="en-US" sz="2200" dirty="0">
                <a:sym typeface="Wingdings" pitchFamily="2" charset="2"/>
              </a:rPr>
              <a:t>)):</a:t>
            </a:r>
          </a:p>
          <a:p>
            <a:r>
              <a:rPr lang="en-US" sz="2200" dirty="0">
                <a:sym typeface="Wingdings" pitchFamily="2" charset="2"/>
              </a:rPr>
              <a:t>	print(x)</a:t>
            </a:r>
          </a:p>
        </p:txBody>
      </p:sp>
      <p:sp>
        <p:nvSpPr>
          <p:cNvPr id="6" name="TextBox 5">
            <a:extLst>
              <a:ext uri="{FF2B5EF4-FFF2-40B4-BE49-F238E27FC236}">
                <a16:creationId xmlns:a16="http://schemas.microsoft.com/office/drawing/2014/main" id="{70752080-E5A5-9F4B-9CBE-5A92C332040F}"/>
              </a:ext>
            </a:extLst>
          </p:cNvPr>
          <p:cNvSpPr txBox="1"/>
          <p:nvPr/>
        </p:nvSpPr>
        <p:spPr>
          <a:xfrm>
            <a:off x="6078828" y="2694630"/>
            <a:ext cx="2835071" cy="2308324"/>
          </a:xfrm>
          <a:prstGeom prst="rect">
            <a:avLst/>
          </a:prstGeom>
          <a:noFill/>
        </p:spPr>
        <p:txBody>
          <a:bodyPr wrap="none" rtlCol="0">
            <a:spAutoFit/>
          </a:bodyPr>
          <a:lstStyle/>
          <a:p>
            <a:r>
              <a:rPr lang="en-US" dirty="0"/>
              <a:t>this may not seem terribly</a:t>
            </a:r>
          </a:p>
          <a:p>
            <a:r>
              <a:rPr lang="en-US" dirty="0"/>
              <a:t>useful, but notice that these</a:t>
            </a:r>
          </a:p>
          <a:p>
            <a:r>
              <a:rPr lang="en-US" dirty="0"/>
              <a:t>are the indices of all the</a:t>
            </a:r>
          </a:p>
          <a:p>
            <a:r>
              <a:rPr lang="en-US" dirty="0"/>
              <a:t>characters in </a:t>
            </a:r>
            <a:r>
              <a:rPr lang="en-US" dirty="0" err="1"/>
              <a:t>myString</a:t>
            </a:r>
            <a:endParaRPr lang="en-US" dirty="0"/>
          </a:p>
          <a:p>
            <a:endParaRPr lang="en-US" dirty="0"/>
          </a:p>
          <a:p>
            <a:r>
              <a:rPr lang="en-US" dirty="0" err="1"/>
              <a:t>myString</a:t>
            </a:r>
            <a:r>
              <a:rPr lang="en-US" dirty="0"/>
              <a:t>[0] </a:t>
            </a:r>
            <a:r>
              <a:rPr lang="en-US" dirty="0">
                <a:sym typeface="Wingdings" pitchFamily="2" charset="2"/>
              </a:rPr>
              <a:t> 	h</a:t>
            </a:r>
          </a:p>
          <a:p>
            <a:r>
              <a:rPr lang="en-US" dirty="0" err="1">
                <a:sym typeface="Wingdings" pitchFamily="2" charset="2"/>
              </a:rPr>
              <a:t>myString</a:t>
            </a:r>
            <a:r>
              <a:rPr lang="en-US" dirty="0">
                <a:sym typeface="Wingdings" pitchFamily="2" charset="2"/>
              </a:rPr>
              <a:t>[4]  	o</a:t>
            </a:r>
          </a:p>
          <a:p>
            <a:r>
              <a:rPr lang="en-US" dirty="0" err="1">
                <a:sym typeface="Wingdings" pitchFamily="2" charset="2"/>
              </a:rPr>
              <a:t>myString</a:t>
            </a:r>
            <a:r>
              <a:rPr lang="en-US" dirty="0">
                <a:sym typeface="Wingdings" pitchFamily="2" charset="2"/>
              </a:rPr>
              <a:t>[10]  	d</a:t>
            </a:r>
          </a:p>
        </p:txBody>
      </p:sp>
      <p:sp>
        <p:nvSpPr>
          <p:cNvPr id="4" name="TextBox 3">
            <a:extLst>
              <a:ext uri="{FF2B5EF4-FFF2-40B4-BE49-F238E27FC236}">
                <a16:creationId xmlns:a16="http://schemas.microsoft.com/office/drawing/2014/main" id="{42110F1D-BCA9-DC46-A70F-2F851FD3F0F4}"/>
              </a:ext>
            </a:extLst>
          </p:cNvPr>
          <p:cNvSpPr txBox="1"/>
          <p:nvPr/>
        </p:nvSpPr>
        <p:spPr>
          <a:xfrm>
            <a:off x="9247031" y="2002010"/>
            <a:ext cx="1342034" cy="3139321"/>
          </a:xfrm>
          <a:prstGeom prst="rect">
            <a:avLst/>
          </a:prstGeom>
          <a:solidFill>
            <a:schemeClr val="accent1"/>
          </a:solidFill>
          <a:ln>
            <a:solidFill>
              <a:schemeClr val="accent1"/>
            </a:solidFill>
          </a:ln>
        </p:spPr>
        <p:txBody>
          <a:bodyPr wrap="none" rtlCol="0">
            <a:spAutoFit/>
          </a:bodyPr>
          <a:lstStyle/>
          <a:p>
            <a:r>
              <a:rPr lang="en-US" dirty="0">
                <a:solidFill>
                  <a:srgbClr val="FFFF00"/>
                </a:solidFill>
              </a:rPr>
              <a:t>answer:  	0 </a:t>
            </a:r>
          </a:p>
          <a:p>
            <a:r>
              <a:rPr lang="en-US" dirty="0">
                <a:solidFill>
                  <a:srgbClr val="FFFF00"/>
                </a:solidFill>
              </a:rPr>
              <a:t>	1</a:t>
            </a:r>
          </a:p>
          <a:p>
            <a:r>
              <a:rPr lang="en-US" dirty="0">
                <a:solidFill>
                  <a:srgbClr val="FFFF00"/>
                </a:solidFill>
              </a:rPr>
              <a:t>	2</a:t>
            </a:r>
          </a:p>
          <a:p>
            <a:r>
              <a:rPr lang="en-US" dirty="0">
                <a:solidFill>
                  <a:srgbClr val="FFFF00"/>
                </a:solidFill>
              </a:rPr>
              <a:t>	3</a:t>
            </a:r>
          </a:p>
          <a:p>
            <a:r>
              <a:rPr lang="en-US" dirty="0">
                <a:solidFill>
                  <a:srgbClr val="FFFF00"/>
                </a:solidFill>
              </a:rPr>
              <a:t>	4</a:t>
            </a:r>
          </a:p>
          <a:p>
            <a:r>
              <a:rPr lang="en-US" dirty="0">
                <a:solidFill>
                  <a:srgbClr val="FFFF00"/>
                </a:solidFill>
              </a:rPr>
              <a:t>	5</a:t>
            </a:r>
          </a:p>
          <a:p>
            <a:r>
              <a:rPr lang="en-US" dirty="0">
                <a:solidFill>
                  <a:srgbClr val="FFFF00"/>
                </a:solidFill>
              </a:rPr>
              <a:t>	6</a:t>
            </a:r>
          </a:p>
          <a:p>
            <a:r>
              <a:rPr lang="en-US" dirty="0">
                <a:solidFill>
                  <a:srgbClr val="FFFF00"/>
                </a:solidFill>
              </a:rPr>
              <a:t>	7</a:t>
            </a:r>
          </a:p>
          <a:p>
            <a:r>
              <a:rPr lang="en-US" dirty="0">
                <a:solidFill>
                  <a:srgbClr val="FFFF00"/>
                </a:solidFill>
              </a:rPr>
              <a:t>	8</a:t>
            </a:r>
          </a:p>
          <a:p>
            <a:r>
              <a:rPr lang="en-US" dirty="0">
                <a:solidFill>
                  <a:srgbClr val="FFFF00"/>
                </a:solidFill>
              </a:rPr>
              <a:t>	9</a:t>
            </a:r>
          </a:p>
          <a:p>
            <a:r>
              <a:rPr lang="en-US" dirty="0">
                <a:solidFill>
                  <a:srgbClr val="FFFF00"/>
                </a:solidFill>
              </a:rPr>
              <a:t>	10</a:t>
            </a:r>
          </a:p>
        </p:txBody>
      </p:sp>
    </p:spTree>
    <p:extLst>
      <p:ext uri="{BB962C8B-B14F-4D97-AF65-F5344CB8AC3E}">
        <p14:creationId xmlns:p14="http://schemas.microsoft.com/office/powerpoint/2010/main" val="597262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FUN WITH RANGES</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1785104"/>
          </a:xfrm>
          <a:prstGeom prst="rect">
            <a:avLst/>
          </a:prstGeom>
          <a:noFill/>
        </p:spPr>
        <p:txBody>
          <a:bodyPr wrap="square" rtlCol="0">
            <a:spAutoFit/>
          </a:bodyPr>
          <a:lstStyle/>
          <a:p>
            <a:r>
              <a:rPr lang="en-US" sz="2200" dirty="0">
                <a:sym typeface="Wingdings" pitchFamily="2" charset="2"/>
              </a:rPr>
              <a:t>Consider this for loop:</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a:sym typeface="Wingdings" pitchFamily="2" charset="2"/>
              </a:rPr>
              <a:t>for x in range(</a:t>
            </a:r>
            <a:r>
              <a:rPr lang="en-US" sz="2200" dirty="0" err="1">
                <a:sym typeface="Wingdings" pitchFamily="2" charset="2"/>
              </a:rPr>
              <a:t>len</a:t>
            </a:r>
            <a:r>
              <a:rPr lang="en-US" sz="2200" dirty="0">
                <a:sym typeface="Wingdings" pitchFamily="2" charset="2"/>
              </a:rPr>
              <a:t>(</a:t>
            </a:r>
            <a:r>
              <a:rPr lang="en-US" sz="2200" dirty="0" err="1">
                <a:sym typeface="Wingdings" pitchFamily="2" charset="2"/>
              </a:rPr>
              <a:t>myString</a:t>
            </a:r>
            <a:r>
              <a:rPr lang="en-US" sz="2200" dirty="0">
                <a:sym typeface="Wingdings" pitchFamily="2" charset="2"/>
              </a:rPr>
              <a:t>)):</a:t>
            </a:r>
          </a:p>
          <a:p>
            <a:r>
              <a:rPr lang="en-US" sz="2200" dirty="0">
                <a:sym typeface="Wingdings" pitchFamily="2" charset="2"/>
              </a:rPr>
              <a:t>	print(</a:t>
            </a:r>
            <a:r>
              <a:rPr lang="en-US" sz="2200" dirty="0" err="1">
                <a:sym typeface="Wingdings" pitchFamily="2" charset="2"/>
              </a:rPr>
              <a:t>myString</a:t>
            </a:r>
            <a:r>
              <a:rPr lang="en-US" sz="2200" dirty="0">
                <a:sym typeface="Wingdings" pitchFamily="2" charset="2"/>
              </a:rPr>
              <a:t>[x])</a:t>
            </a:r>
          </a:p>
        </p:txBody>
      </p:sp>
      <p:sp>
        <p:nvSpPr>
          <p:cNvPr id="6" name="TextBox 5">
            <a:extLst>
              <a:ext uri="{FF2B5EF4-FFF2-40B4-BE49-F238E27FC236}">
                <a16:creationId xmlns:a16="http://schemas.microsoft.com/office/drawing/2014/main" id="{70752080-E5A5-9F4B-9CBE-5A92C332040F}"/>
              </a:ext>
            </a:extLst>
          </p:cNvPr>
          <p:cNvSpPr txBox="1"/>
          <p:nvPr/>
        </p:nvSpPr>
        <p:spPr>
          <a:xfrm>
            <a:off x="6078828" y="2694630"/>
            <a:ext cx="3216906" cy="369332"/>
          </a:xfrm>
          <a:prstGeom prst="rect">
            <a:avLst/>
          </a:prstGeom>
          <a:noFill/>
        </p:spPr>
        <p:txBody>
          <a:bodyPr wrap="none" rtlCol="0">
            <a:spAutoFit/>
          </a:bodyPr>
          <a:lstStyle/>
          <a:p>
            <a:r>
              <a:rPr lang="en-US" dirty="0"/>
              <a:t>okay, what what does </a:t>
            </a:r>
            <a:r>
              <a:rPr lang="en-US" i="1" dirty="0"/>
              <a:t>this</a:t>
            </a:r>
            <a:r>
              <a:rPr lang="en-US" dirty="0"/>
              <a:t> print?</a:t>
            </a:r>
          </a:p>
        </p:txBody>
      </p:sp>
      <p:sp>
        <p:nvSpPr>
          <p:cNvPr id="4" name="TextBox 3">
            <a:extLst>
              <a:ext uri="{FF2B5EF4-FFF2-40B4-BE49-F238E27FC236}">
                <a16:creationId xmlns:a16="http://schemas.microsoft.com/office/drawing/2014/main" id="{F6C1EDF6-D09E-854A-ACE5-ED646C608BF5}"/>
              </a:ext>
            </a:extLst>
          </p:cNvPr>
          <p:cNvSpPr txBox="1"/>
          <p:nvPr/>
        </p:nvSpPr>
        <p:spPr>
          <a:xfrm>
            <a:off x="4597758" y="3503226"/>
            <a:ext cx="3990901" cy="646331"/>
          </a:xfrm>
          <a:prstGeom prst="rect">
            <a:avLst/>
          </a:prstGeom>
          <a:noFill/>
        </p:spPr>
        <p:txBody>
          <a:bodyPr wrap="none" rtlCol="0">
            <a:spAutoFit/>
          </a:bodyPr>
          <a:lstStyle/>
          <a:p>
            <a:r>
              <a:rPr lang="en-US" dirty="0"/>
              <a:t>(remember, the </a:t>
            </a:r>
            <a:r>
              <a:rPr lang="en-US" dirty="0" err="1"/>
              <a:t>len</a:t>
            </a:r>
            <a:r>
              <a:rPr lang="en-US" dirty="0"/>
              <a:t>() function prints the </a:t>
            </a:r>
          </a:p>
          <a:p>
            <a:r>
              <a:rPr lang="en-US" dirty="0"/>
              <a:t>length of the string you pass in)</a:t>
            </a:r>
          </a:p>
        </p:txBody>
      </p:sp>
      <p:sp>
        <p:nvSpPr>
          <p:cNvPr id="7" name="Down Arrow 6">
            <a:extLst>
              <a:ext uri="{FF2B5EF4-FFF2-40B4-BE49-F238E27FC236}">
                <a16:creationId xmlns:a16="http://schemas.microsoft.com/office/drawing/2014/main" id="{1D4D359E-F019-524A-8D04-CEAB5A2180BD}"/>
              </a:ext>
            </a:extLst>
          </p:cNvPr>
          <p:cNvSpPr/>
          <p:nvPr/>
        </p:nvSpPr>
        <p:spPr>
          <a:xfrm rot="6353669">
            <a:off x="4049961" y="3047725"/>
            <a:ext cx="413145" cy="591933"/>
          </a:xfrm>
          <a:prstGeom prst="downArrow">
            <a:avLst>
              <a:gd name="adj1" fmla="val 50000"/>
              <a:gd name="adj2" fmla="val 534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6066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FUN WITH RANGES</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1785104"/>
          </a:xfrm>
          <a:prstGeom prst="rect">
            <a:avLst/>
          </a:prstGeom>
          <a:noFill/>
        </p:spPr>
        <p:txBody>
          <a:bodyPr wrap="square" rtlCol="0">
            <a:spAutoFit/>
          </a:bodyPr>
          <a:lstStyle/>
          <a:p>
            <a:r>
              <a:rPr lang="en-US" sz="2200" dirty="0">
                <a:sym typeface="Wingdings" pitchFamily="2" charset="2"/>
              </a:rPr>
              <a:t>Consider this for loop:</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a:sym typeface="Wingdings" pitchFamily="2" charset="2"/>
              </a:rPr>
              <a:t>for x in range(</a:t>
            </a:r>
            <a:r>
              <a:rPr lang="en-US" sz="2200" dirty="0" err="1">
                <a:sym typeface="Wingdings" pitchFamily="2" charset="2"/>
              </a:rPr>
              <a:t>len</a:t>
            </a:r>
            <a:r>
              <a:rPr lang="en-US" sz="2200" dirty="0">
                <a:sym typeface="Wingdings" pitchFamily="2" charset="2"/>
              </a:rPr>
              <a:t>(</a:t>
            </a:r>
            <a:r>
              <a:rPr lang="en-US" sz="2200" dirty="0" err="1">
                <a:sym typeface="Wingdings" pitchFamily="2" charset="2"/>
              </a:rPr>
              <a:t>myString</a:t>
            </a:r>
            <a:r>
              <a:rPr lang="en-US" sz="2200" dirty="0">
                <a:sym typeface="Wingdings" pitchFamily="2" charset="2"/>
              </a:rPr>
              <a:t>)):</a:t>
            </a:r>
          </a:p>
          <a:p>
            <a:r>
              <a:rPr lang="en-US" sz="2200" dirty="0">
                <a:sym typeface="Wingdings" pitchFamily="2" charset="2"/>
              </a:rPr>
              <a:t>	print(</a:t>
            </a:r>
            <a:r>
              <a:rPr lang="en-US" sz="2200" dirty="0" err="1">
                <a:sym typeface="Wingdings" pitchFamily="2" charset="2"/>
              </a:rPr>
              <a:t>myString</a:t>
            </a:r>
            <a:r>
              <a:rPr lang="en-US" sz="2200" dirty="0">
                <a:sym typeface="Wingdings" pitchFamily="2" charset="2"/>
              </a:rPr>
              <a:t>[x])</a:t>
            </a:r>
          </a:p>
        </p:txBody>
      </p:sp>
      <p:sp>
        <p:nvSpPr>
          <p:cNvPr id="6" name="TextBox 5">
            <a:extLst>
              <a:ext uri="{FF2B5EF4-FFF2-40B4-BE49-F238E27FC236}">
                <a16:creationId xmlns:a16="http://schemas.microsoft.com/office/drawing/2014/main" id="{70752080-E5A5-9F4B-9CBE-5A92C332040F}"/>
              </a:ext>
            </a:extLst>
          </p:cNvPr>
          <p:cNvSpPr txBox="1"/>
          <p:nvPr/>
        </p:nvSpPr>
        <p:spPr>
          <a:xfrm>
            <a:off x="6078828" y="2694630"/>
            <a:ext cx="3216906" cy="369332"/>
          </a:xfrm>
          <a:prstGeom prst="rect">
            <a:avLst/>
          </a:prstGeom>
          <a:noFill/>
        </p:spPr>
        <p:txBody>
          <a:bodyPr wrap="none" rtlCol="0">
            <a:spAutoFit/>
          </a:bodyPr>
          <a:lstStyle/>
          <a:p>
            <a:r>
              <a:rPr lang="en-US" dirty="0"/>
              <a:t>okay, what what does </a:t>
            </a:r>
            <a:r>
              <a:rPr lang="en-US" i="1" dirty="0"/>
              <a:t>this</a:t>
            </a:r>
            <a:r>
              <a:rPr lang="en-US" dirty="0"/>
              <a:t> print?</a:t>
            </a:r>
          </a:p>
        </p:txBody>
      </p:sp>
      <p:sp>
        <p:nvSpPr>
          <p:cNvPr id="4" name="TextBox 3">
            <a:extLst>
              <a:ext uri="{FF2B5EF4-FFF2-40B4-BE49-F238E27FC236}">
                <a16:creationId xmlns:a16="http://schemas.microsoft.com/office/drawing/2014/main" id="{F6C1EDF6-D09E-854A-ACE5-ED646C608BF5}"/>
              </a:ext>
            </a:extLst>
          </p:cNvPr>
          <p:cNvSpPr txBox="1"/>
          <p:nvPr/>
        </p:nvSpPr>
        <p:spPr>
          <a:xfrm>
            <a:off x="4597758" y="3503226"/>
            <a:ext cx="3990901" cy="646331"/>
          </a:xfrm>
          <a:prstGeom prst="rect">
            <a:avLst/>
          </a:prstGeom>
          <a:noFill/>
        </p:spPr>
        <p:txBody>
          <a:bodyPr wrap="none" rtlCol="0">
            <a:spAutoFit/>
          </a:bodyPr>
          <a:lstStyle/>
          <a:p>
            <a:r>
              <a:rPr lang="en-US" dirty="0"/>
              <a:t>(remember, the </a:t>
            </a:r>
            <a:r>
              <a:rPr lang="en-US" dirty="0" err="1"/>
              <a:t>len</a:t>
            </a:r>
            <a:r>
              <a:rPr lang="en-US" dirty="0"/>
              <a:t>() function prints the </a:t>
            </a:r>
          </a:p>
          <a:p>
            <a:r>
              <a:rPr lang="en-US" dirty="0"/>
              <a:t>length of the string you pass in)</a:t>
            </a:r>
          </a:p>
        </p:txBody>
      </p:sp>
      <p:sp>
        <p:nvSpPr>
          <p:cNvPr id="7" name="Down Arrow 6">
            <a:extLst>
              <a:ext uri="{FF2B5EF4-FFF2-40B4-BE49-F238E27FC236}">
                <a16:creationId xmlns:a16="http://schemas.microsoft.com/office/drawing/2014/main" id="{1D4D359E-F019-524A-8D04-CEAB5A2180BD}"/>
              </a:ext>
            </a:extLst>
          </p:cNvPr>
          <p:cNvSpPr/>
          <p:nvPr/>
        </p:nvSpPr>
        <p:spPr>
          <a:xfrm rot="6353669">
            <a:off x="4049961" y="3047725"/>
            <a:ext cx="413145" cy="591933"/>
          </a:xfrm>
          <a:prstGeom prst="downArrow">
            <a:avLst>
              <a:gd name="adj1" fmla="val 50000"/>
              <a:gd name="adj2" fmla="val 534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6C95C3-5D42-EE40-9D97-2962D3A5A2D7}"/>
              </a:ext>
            </a:extLst>
          </p:cNvPr>
          <p:cNvSpPr txBox="1"/>
          <p:nvPr/>
        </p:nvSpPr>
        <p:spPr>
          <a:xfrm>
            <a:off x="9247031" y="2002010"/>
            <a:ext cx="1282723" cy="3139321"/>
          </a:xfrm>
          <a:prstGeom prst="rect">
            <a:avLst/>
          </a:prstGeom>
          <a:solidFill>
            <a:schemeClr val="accent1"/>
          </a:solidFill>
          <a:ln>
            <a:solidFill>
              <a:schemeClr val="accent1"/>
            </a:solidFill>
          </a:ln>
        </p:spPr>
        <p:txBody>
          <a:bodyPr wrap="none" rtlCol="0">
            <a:spAutoFit/>
          </a:bodyPr>
          <a:lstStyle/>
          <a:p>
            <a:r>
              <a:rPr lang="en-US" dirty="0">
                <a:solidFill>
                  <a:srgbClr val="FFFF00"/>
                </a:solidFill>
              </a:rPr>
              <a:t>answer:  	h </a:t>
            </a:r>
          </a:p>
          <a:p>
            <a:r>
              <a:rPr lang="en-US" dirty="0">
                <a:solidFill>
                  <a:srgbClr val="FFFF00"/>
                </a:solidFill>
              </a:rPr>
              <a:t>	e</a:t>
            </a:r>
          </a:p>
          <a:p>
            <a:r>
              <a:rPr lang="en-US" dirty="0">
                <a:solidFill>
                  <a:srgbClr val="FFFF00"/>
                </a:solidFill>
              </a:rPr>
              <a:t>	l</a:t>
            </a:r>
          </a:p>
          <a:p>
            <a:r>
              <a:rPr lang="en-US" dirty="0">
                <a:solidFill>
                  <a:srgbClr val="FFFF00"/>
                </a:solidFill>
              </a:rPr>
              <a:t>	l</a:t>
            </a:r>
          </a:p>
          <a:p>
            <a:r>
              <a:rPr lang="en-US" dirty="0">
                <a:solidFill>
                  <a:srgbClr val="FFFF00"/>
                </a:solidFill>
              </a:rPr>
              <a:t>	o</a:t>
            </a:r>
          </a:p>
          <a:p>
            <a:r>
              <a:rPr lang="en-US" dirty="0">
                <a:solidFill>
                  <a:srgbClr val="FFFF00"/>
                </a:solidFill>
              </a:rPr>
              <a:t>	</a:t>
            </a:r>
          </a:p>
          <a:p>
            <a:r>
              <a:rPr lang="en-US" dirty="0">
                <a:solidFill>
                  <a:srgbClr val="FFFF00"/>
                </a:solidFill>
              </a:rPr>
              <a:t>	w</a:t>
            </a:r>
          </a:p>
          <a:p>
            <a:r>
              <a:rPr lang="en-US" dirty="0">
                <a:solidFill>
                  <a:srgbClr val="FFFF00"/>
                </a:solidFill>
              </a:rPr>
              <a:t>	o</a:t>
            </a:r>
          </a:p>
          <a:p>
            <a:r>
              <a:rPr lang="en-US" dirty="0">
                <a:solidFill>
                  <a:srgbClr val="FFFF00"/>
                </a:solidFill>
              </a:rPr>
              <a:t>	r</a:t>
            </a:r>
          </a:p>
          <a:p>
            <a:r>
              <a:rPr lang="en-US" dirty="0">
                <a:solidFill>
                  <a:srgbClr val="FFFF00"/>
                </a:solidFill>
              </a:rPr>
              <a:t>	l</a:t>
            </a:r>
          </a:p>
          <a:p>
            <a:r>
              <a:rPr lang="en-US" dirty="0">
                <a:solidFill>
                  <a:srgbClr val="FFFF00"/>
                </a:solidFill>
              </a:rPr>
              <a:t>	d</a:t>
            </a:r>
          </a:p>
        </p:txBody>
      </p:sp>
    </p:spTree>
    <p:extLst>
      <p:ext uri="{BB962C8B-B14F-4D97-AF65-F5344CB8AC3E}">
        <p14:creationId xmlns:p14="http://schemas.microsoft.com/office/powerpoint/2010/main" val="2710399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FUN WITH ACCUMULATORS</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2123658"/>
          </a:xfrm>
          <a:prstGeom prst="rect">
            <a:avLst/>
          </a:prstGeom>
          <a:noFill/>
        </p:spPr>
        <p:txBody>
          <a:bodyPr wrap="square" rtlCol="0">
            <a:spAutoFit/>
          </a:bodyPr>
          <a:lstStyle/>
          <a:p>
            <a:r>
              <a:rPr lang="en-US" sz="2200" dirty="0">
                <a:sym typeface="Wingdings" pitchFamily="2" charset="2"/>
              </a:rPr>
              <a:t>Consider this for loop:</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err="1">
                <a:sym typeface="Wingdings" pitchFamily="2" charset="2"/>
              </a:rPr>
              <a:t>outputString</a:t>
            </a:r>
            <a:r>
              <a:rPr lang="en-US" sz="2200" dirty="0">
                <a:sym typeface="Wingdings" pitchFamily="2" charset="2"/>
              </a:rPr>
              <a:t> = ''</a:t>
            </a:r>
          </a:p>
          <a:p>
            <a:r>
              <a:rPr lang="en-US" sz="2200" dirty="0">
                <a:sym typeface="Wingdings" pitchFamily="2" charset="2"/>
              </a:rPr>
              <a:t>for x in range(</a:t>
            </a:r>
            <a:r>
              <a:rPr lang="en-US" sz="2200" dirty="0" err="1">
                <a:sym typeface="Wingdings" pitchFamily="2" charset="2"/>
              </a:rPr>
              <a:t>len</a:t>
            </a:r>
            <a:r>
              <a:rPr lang="en-US" sz="2200" dirty="0">
                <a:sym typeface="Wingdings" pitchFamily="2" charset="2"/>
              </a:rPr>
              <a:t>(</a:t>
            </a:r>
            <a:r>
              <a:rPr lang="en-US" sz="2200" dirty="0" err="1">
                <a:sym typeface="Wingdings" pitchFamily="2" charset="2"/>
              </a:rPr>
              <a:t>myString</a:t>
            </a:r>
            <a:r>
              <a:rPr lang="en-US" sz="2200" dirty="0">
                <a:sym typeface="Wingdings" pitchFamily="2" charset="2"/>
              </a:rPr>
              <a:t>)):</a:t>
            </a:r>
          </a:p>
          <a:p>
            <a:r>
              <a:rPr lang="en-US" sz="2200" dirty="0">
                <a:sym typeface="Wingdings" pitchFamily="2" charset="2"/>
              </a:rPr>
              <a:t>	</a:t>
            </a:r>
            <a:r>
              <a:rPr lang="en-US" sz="2200" dirty="0" err="1">
                <a:sym typeface="Wingdings" pitchFamily="2" charset="2"/>
              </a:rPr>
              <a:t>outputString</a:t>
            </a:r>
            <a:r>
              <a:rPr lang="en-US" sz="2200" dirty="0">
                <a:sym typeface="Wingdings" pitchFamily="2" charset="2"/>
              </a:rPr>
              <a:t> = </a:t>
            </a:r>
            <a:r>
              <a:rPr lang="en-US" sz="2200" dirty="0" err="1">
                <a:sym typeface="Wingdings" pitchFamily="2" charset="2"/>
              </a:rPr>
              <a:t>outputString</a:t>
            </a:r>
            <a:r>
              <a:rPr lang="en-US" sz="2200" dirty="0">
                <a:sym typeface="Wingdings" pitchFamily="2" charset="2"/>
              </a:rPr>
              <a:t> + </a:t>
            </a:r>
            <a:r>
              <a:rPr lang="en-US" sz="2200" dirty="0" err="1">
                <a:sym typeface="Wingdings" pitchFamily="2" charset="2"/>
              </a:rPr>
              <a:t>myString</a:t>
            </a:r>
            <a:r>
              <a:rPr lang="en-US" sz="2200" dirty="0">
                <a:sym typeface="Wingdings" pitchFamily="2" charset="2"/>
              </a:rPr>
              <a:t>[x]</a:t>
            </a:r>
          </a:p>
        </p:txBody>
      </p:sp>
      <p:sp>
        <p:nvSpPr>
          <p:cNvPr id="6" name="TextBox 5">
            <a:extLst>
              <a:ext uri="{FF2B5EF4-FFF2-40B4-BE49-F238E27FC236}">
                <a16:creationId xmlns:a16="http://schemas.microsoft.com/office/drawing/2014/main" id="{70752080-E5A5-9F4B-9CBE-5A92C332040F}"/>
              </a:ext>
            </a:extLst>
          </p:cNvPr>
          <p:cNvSpPr txBox="1"/>
          <p:nvPr/>
        </p:nvSpPr>
        <p:spPr>
          <a:xfrm>
            <a:off x="6078828" y="2694630"/>
            <a:ext cx="3216906" cy="369332"/>
          </a:xfrm>
          <a:prstGeom prst="rect">
            <a:avLst/>
          </a:prstGeom>
          <a:noFill/>
        </p:spPr>
        <p:txBody>
          <a:bodyPr wrap="none" rtlCol="0">
            <a:spAutoFit/>
          </a:bodyPr>
          <a:lstStyle/>
          <a:p>
            <a:r>
              <a:rPr lang="en-US" dirty="0"/>
              <a:t>okay, what what does </a:t>
            </a:r>
            <a:r>
              <a:rPr lang="en-US" i="1" dirty="0"/>
              <a:t>this</a:t>
            </a:r>
            <a:r>
              <a:rPr lang="en-US" dirty="0"/>
              <a:t> print?</a:t>
            </a:r>
          </a:p>
        </p:txBody>
      </p:sp>
      <p:sp>
        <p:nvSpPr>
          <p:cNvPr id="7" name="TextBox 6">
            <a:extLst>
              <a:ext uri="{FF2B5EF4-FFF2-40B4-BE49-F238E27FC236}">
                <a16:creationId xmlns:a16="http://schemas.microsoft.com/office/drawing/2014/main" id="{4C4125A0-B4D9-384F-A4B6-99DE3259158D}"/>
              </a:ext>
            </a:extLst>
          </p:cNvPr>
          <p:cNvSpPr txBox="1"/>
          <p:nvPr/>
        </p:nvSpPr>
        <p:spPr>
          <a:xfrm>
            <a:off x="9295734" y="4371766"/>
            <a:ext cx="2037224" cy="369332"/>
          </a:xfrm>
          <a:prstGeom prst="rect">
            <a:avLst/>
          </a:prstGeom>
          <a:solidFill>
            <a:schemeClr val="accent1"/>
          </a:solidFill>
          <a:ln>
            <a:solidFill>
              <a:schemeClr val="accent1"/>
            </a:solidFill>
          </a:ln>
        </p:spPr>
        <p:txBody>
          <a:bodyPr wrap="none" rtlCol="0">
            <a:spAutoFit/>
          </a:bodyPr>
          <a:lstStyle/>
          <a:p>
            <a:r>
              <a:rPr lang="en-US" dirty="0">
                <a:solidFill>
                  <a:srgbClr val="FFFF00"/>
                </a:solidFill>
              </a:rPr>
              <a:t>answer: hello world</a:t>
            </a:r>
          </a:p>
        </p:txBody>
      </p:sp>
    </p:spTree>
    <p:extLst>
      <p:ext uri="{BB962C8B-B14F-4D97-AF65-F5344CB8AC3E}">
        <p14:creationId xmlns:p14="http://schemas.microsoft.com/office/powerpoint/2010/main" val="2969649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IN-CLASS DISCUSSION</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4832092"/>
          </a:xfrm>
          <a:prstGeom prst="rect">
            <a:avLst/>
          </a:prstGeom>
          <a:noFill/>
        </p:spPr>
        <p:txBody>
          <a:bodyPr wrap="square" rtlCol="0">
            <a:spAutoFit/>
          </a:bodyPr>
          <a:lstStyle/>
          <a:p>
            <a:r>
              <a:rPr lang="en-US" sz="2200" dirty="0">
                <a:sym typeface="Wingdings" pitchFamily="2" charset="2"/>
              </a:rPr>
              <a:t>Remember that the range function is pretty flexible.</a:t>
            </a:r>
          </a:p>
          <a:p>
            <a:endParaRPr lang="en-US" sz="2200" dirty="0">
              <a:sym typeface="Wingdings" pitchFamily="2" charset="2"/>
            </a:endParaRPr>
          </a:p>
          <a:p>
            <a:endParaRPr lang="en-US" sz="2200" dirty="0">
              <a:sym typeface="Wingdings" pitchFamily="2" charset="2"/>
            </a:endParaRPr>
          </a:p>
          <a:p>
            <a:r>
              <a:rPr lang="en-US" sz="2200" dirty="0">
                <a:sym typeface="Wingdings" pitchFamily="2" charset="2"/>
              </a:rPr>
              <a:t>range(starting point, ending point, increment) </a:t>
            </a:r>
          </a:p>
          <a:p>
            <a:endParaRPr lang="en-US" sz="2200" dirty="0">
              <a:sym typeface="Wingdings" pitchFamily="2" charset="2"/>
            </a:endParaRPr>
          </a:p>
          <a:p>
            <a:r>
              <a:rPr lang="en-US" sz="2200" dirty="0">
                <a:sym typeface="Wingdings" pitchFamily="2" charset="2"/>
              </a:rPr>
              <a:t>for x in range(0, 10, 2):</a:t>
            </a:r>
          </a:p>
          <a:p>
            <a:r>
              <a:rPr lang="en-US" sz="2200" dirty="0">
                <a:sym typeface="Wingdings" pitchFamily="2" charset="2"/>
              </a:rPr>
              <a:t>	print(x)			</a:t>
            </a:r>
          </a:p>
          <a:p>
            <a:endParaRPr lang="en-US" sz="2200" dirty="0">
              <a:sym typeface="Wingdings" pitchFamily="2" charset="2"/>
            </a:endParaRPr>
          </a:p>
          <a:p>
            <a:r>
              <a:rPr lang="en-US" sz="2200" dirty="0">
                <a:sym typeface="Wingdings" pitchFamily="2" charset="2"/>
              </a:rPr>
              <a:t>prints: </a:t>
            </a:r>
          </a:p>
          <a:p>
            <a:r>
              <a:rPr lang="en-US" sz="2200" dirty="0">
                <a:sym typeface="Wingdings" pitchFamily="2" charset="2"/>
              </a:rPr>
              <a:t>0</a:t>
            </a:r>
          </a:p>
          <a:p>
            <a:r>
              <a:rPr lang="en-US" sz="2200" dirty="0">
                <a:sym typeface="Wingdings" pitchFamily="2" charset="2"/>
              </a:rPr>
              <a:t>2</a:t>
            </a:r>
          </a:p>
          <a:p>
            <a:r>
              <a:rPr lang="en-US" sz="2200" dirty="0">
                <a:sym typeface="Wingdings" pitchFamily="2" charset="2"/>
              </a:rPr>
              <a:t>4</a:t>
            </a:r>
          </a:p>
          <a:p>
            <a:r>
              <a:rPr lang="en-US" sz="2200" dirty="0">
                <a:sym typeface="Wingdings" pitchFamily="2" charset="2"/>
              </a:rPr>
              <a:t>6</a:t>
            </a:r>
          </a:p>
          <a:p>
            <a:r>
              <a:rPr lang="en-US" sz="2200" dirty="0">
                <a:sym typeface="Wingdings" pitchFamily="2" charset="2"/>
              </a:rPr>
              <a:t>8</a:t>
            </a:r>
          </a:p>
        </p:txBody>
      </p:sp>
    </p:spTree>
    <p:extLst>
      <p:ext uri="{BB962C8B-B14F-4D97-AF65-F5344CB8AC3E}">
        <p14:creationId xmlns:p14="http://schemas.microsoft.com/office/powerpoint/2010/main" val="1874559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IN-CLASS DISCUSSION</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4832092"/>
          </a:xfrm>
          <a:prstGeom prst="rect">
            <a:avLst/>
          </a:prstGeom>
          <a:noFill/>
        </p:spPr>
        <p:txBody>
          <a:bodyPr wrap="square" rtlCol="0">
            <a:spAutoFit/>
          </a:bodyPr>
          <a:lstStyle/>
          <a:p>
            <a:r>
              <a:rPr lang="en-US" sz="2200" dirty="0">
                <a:sym typeface="Wingdings" pitchFamily="2" charset="2"/>
              </a:rPr>
              <a:t>Remember that the range function is pretty flexible.</a:t>
            </a:r>
          </a:p>
          <a:p>
            <a:endParaRPr lang="en-US" sz="2200" dirty="0">
              <a:sym typeface="Wingdings" pitchFamily="2" charset="2"/>
            </a:endParaRPr>
          </a:p>
          <a:p>
            <a:endParaRPr lang="en-US" sz="2200" dirty="0">
              <a:sym typeface="Wingdings" pitchFamily="2" charset="2"/>
            </a:endParaRPr>
          </a:p>
          <a:p>
            <a:r>
              <a:rPr lang="en-US" sz="2200" dirty="0">
                <a:sym typeface="Wingdings" pitchFamily="2" charset="2"/>
              </a:rPr>
              <a:t>range(starting point, ending point, increment) </a:t>
            </a:r>
          </a:p>
          <a:p>
            <a:endParaRPr lang="en-US" sz="2200" dirty="0">
              <a:sym typeface="Wingdings" pitchFamily="2" charset="2"/>
            </a:endParaRPr>
          </a:p>
          <a:p>
            <a:r>
              <a:rPr lang="en-US" sz="2200" dirty="0">
                <a:sym typeface="Wingdings" pitchFamily="2" charset="2"/>
              </a:rPr>
              <a:t>for x in range(10, -1, -2):</a:t>
            </a:r>
          </a:p>
          <a:p>
            <a:r>
              <a:rPr lang="en-US" sz="2200" dirty="0">
                <a:sym typeface="Wingdings" pitchFamily="2" charset="2"/>
              </a:rPr>
              <a:t>	print(x)			</a:t>
            </a:r>
          </a:p>
          <a:p>
            <a:endParaRPr lang="en-US" sz="2200" dirty="0">
              <a:sym typeface="Wingdings" pitchFamily="2" charset="2"/>
            </a:endParaRPr>
          </a:p>
          <a:p>
            <a:r>
              <a:rPr lang="en-US" sz="2200" dirty="0">
                <a:sym typeface="Wingdings" pitchFamily="2" charset="2"/>
              </a:rPr>
              <a:t>prints:</a:t>
            </a:r>
          </a:p>
          <a:p>
            <a:r>
              <a:rPr lang="en-US" sz="2200" dirty="0">
                <a:sym typeface="Wingdings" pitchFamily="2" charset="2"/>
              </a:rPr>
              <a:t>10</a:t>
            </a:r>
          </a:p>
          <a:p>
            <a:r>
              <a:rPr lang="en-US" sz="2200" dirty="0">
                <a:sym typeface="Wingdings" pitchFamily="2" charset="2"/>
              </a:rPr>
              <a:t>8</a:t>
            </a:r>
          </a:p>
          <a:p>
            <a:r>
              <a:rPr lang="en-US" sz="2200" dirty="0">
                <a:sym typeface="Wingdings" pitchFamily="2" charset="2"/>
              </a:rPr>
              <a:t>6</a:t>
            </a:r>
          </a:p>
          <a:p>
            <a:r>
              <a:rPr lang="en-US" sz="2200" dirty="0">
                <a:sym typeface="Wingdings" pitchFamily="2" charset="2"/>
              </a:rPr>
              <a:t>4</a:t>
            </a:r>
          </a:p>
          <a:p>
            <a:r>
              <a:rPr lang="en-US" sz="2200" dirty="0">
                <a:sym typeface="Wingdings" pitchFamily="2" charset="2"/>
              </a:rPr>
              <a:t>2</a:t>
            </a:r>
          </a:p>
        </p:txBody>
      </p:sp>
    </p:spTree>
    <p:extLst>
      <p:ext uri="{BB962C8B-B14F-4D97-AF65-F5344CB8AC3E}">
        <p14:creationId xmlns:p14="http://schemas.microsoft.com/office/powerpoint/2010/main" val="2675264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015663"/>
          </a:xfrm>
          <a:prstGeom prst="rect">
            <a:avLst/>
          </a:prstGeom>
          <a:noFill/>
        </p:spPr>
        <p:txBody>
          <a:bodyPr wrap="square" rtlCol="0">
            <a:spAutoFit/>
          </a:bodyPr>
          <a:lstStyle/>
          <a:p>
            <a:r>
              <a:rPr lang="en-US" sz="6000" dirty="0">
                <a:solidFill>
                  <a:srgbClr val="FF0000"/>
                </a:solidFill>
              </a:rPr>
              <a:t>IN-CLASS DISCUSSION</a:t>
            </a:r>
          </a:p>
        </p:txBody>
      </p:sp>
      <p:sp>
        <p:nvSpPr>
          <p:cNvPr id="2" name="TextBox 1">
            <a:extLst>
              <a:ext uri="{FF2B5EF4-FFF2-40B4-BE49-F238E27FC236}">
                <a16:creationId xmlns:a16="http://schemas.microsoft.com/office/drawing/2014/main" id="{D547AD33-8FE1-584E-B510-08C013ACA746}"/>
              </a:ext>
            </a:extLst>
          </p:cNvPr>
          <p:cNvSpPr txBox="1"/>
          <p:nvPr/>
        </p:nvSpPr>
        <p:spPr>
          <a:xfrm>
            <a:off x="6078828" y="3063962"/>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1B119A5E-C909-7A43-8310-B5F1C6FCE541}"/>
              </a:ext>
            </a:extLst>
          </p:cNvPr>
          <p:cNvSpPr txBox="1"/>
          <p:nvPr/>
        </p:nvSpPr>
        <p:spPr>
          <a:xfrm>
            <a:off x="590309" y="2002010"/>
            <a:ext cx="10678886" cy="2462213"/>
          </a:xfrm>
          <a:prstGeom prst="rect">
            <a:avLst/>
          </a:prstGeom>
          <a:noFill/>
        </p:spPr>
        <p:txBody>
          <a:bodyPr wrap="square" rtlCol="0">
            <a:spAutoFit/>
          </a:bodyPr>
          <a:lstStyle/>
          <a:p>
            <a:r>
              <a:rPr lang="en-US" sz="2200" dirty="0">
                <a:sym typeface="Wingdings" pitchFamily="2" charset="2"/>
              </a:rPr>
              <a:t>What does this print?</a:t>
            </a:r>
          </a:p>
          <a:p>
            <a:endParaRPr lang="en-US" sz="2200" dirty="0">
              <a:sym typeface="Wingdings" pitchFamily="2" charset="2"/>
            </a:endParaRPr>
          </a:p>
          <a:p>
            <a:r>
              <a:rPr lang="en-US" sz="2200" dirty="0" err="1">
                <a:sym typeface="Wingdings" pitchFamily="2" charset="2"/>
              </a:rPr>
              <a:t>myString</a:t>
            </a:r>
            <a:r>
              <a:rPr lang="en-US" sz="2200" dirty="0">
                <a:sym typeface="Wingdings" pitchFamily="2" charset="2"/>
              </a:rPr>
              <a:t> = "hello world"</a:t>
            </a:r>
          </a:p>
          <a:p>
            <a:r>
              <a:rPr lang="en-US" sz="2200" dirty="0">
                <a:sym typeface="Wingdings" pitchFamily="2" charset="2"/>
              </a:rPr>
              <a:t>output = ''</a:t>
            </a:r>
          </a:p>
          <a:p>
            <a:r>
              <a:rPr lang="en-US" sz="2200" dirty="0">
                <a:sym typeface="Wingdings" pitchFamily="2" charset="2"/>
              </a:rPr>
              <a:t>for x in range(</a:t>
            </a:r>
            <a:r>
              <a:rPr lang="en-US" sz="2200" dirty="0" err="1">
                <a:sym typeface="Wingdings" pitchFamily="2" charset="2"/>
              </a:rPr>
              <a:t>len</a:t>
            </a:r>
            <a:r>
              <a:rPr lang="en-US" sz="2200" dirty="0">
                <a:sym typeface="Wingdings" pitchFamily="2" charset="2"/>
              </a:rPr>
              <a:t>(</a:t>
            </a:r>
            <a:r>
              <a:rPr lang="en-US" sz="2200" dirty="0" err="1">
                <a:sym typeface="Wingdings" pitchFamily="2" charset="2"/>
              </a:rPr>
              <a:t>myString</a:t>
            </a:r>
            <a:r>
              <a:rPr lang="en-US" sz="2200" dirty="0">
                <a:sym typeface="Wingdings" pitchFamily="2" charset="2"/>
              </a:rPr>
              <a:t>)-1, -1, -1):</a:t>
            </a:r>
          </a:p>
          <a:p>
            <a:r>
              <a:rPr lang="en-US" sz="2200" dirty="0">
                <a:sym typeface="Wingdings" pitchFamily="2" charset="2"/>
              </a:rPr>
              <a:t>	output = output + </a:t>
            </a:r>
            <a:r>
              <a:rPr lang="en-US" sz="2200" dirty="0" err="1">
                <a:sym typeface="Wingdings" pitchFamily="2" charset="2"/>
              </a:rPr>
              <a:t>myString</a:t>
            </a:r>
            <a:r>
              <a:rPr lang="en-US" sz="2200" dirty="0">
                <a:sym typeface="Wingdings" pitchFamily="2" charset="2"/>
              </a:rPr>
              <a:t>[x]</a:t>
            </a:r>
          </a:p>
          <a:p>
            <a:r>
              <a:rPr lang="en-US" sz="2200" dirty="0">
                <a:sym typeface="Wingdings" pitchFamily="2" charset="2"/>
              </a:rPr>
              <a:t>print(output)</a:t>
            </a:r>
          </a:p>
        </p:txBody>
      </p:sp>
      <p:sp>
        <p:nvSpPr>
          <p:cNvPr id="4" name="TextBox 3">
            <a:extLst>
              <a:ext uri="{FF2B5EF4-FFF2-40B4-BE49-F238E27FC236}">
                <a16:creationId xmlns:a16="http://schemas.microsoft.com/office/drawing/2014/main" id="{F5F129F1-9F26-CD4B-AF46-F9F1F3ED943F}"/>
              </a:ext>
            </a:extLst>
          </p:cNvPr>
          <p:cNvSpPr txBox="1"/>
          <p:nvPr/>
        </p:nvSpPr>
        <p:spPr>
          <a:xfrm>
            <a:off x="8615966" y="4464223"/>
            <a:ext cx="1751708" cy="646331"/>
          </a:xfrm>
          <a:prstGeom prst="rect">
            <a:avLst/>
          </a:prstGeom>
          <a:solidFill>
            <a:schemeClr val="accent1"/>
          </a:solidFill>
        </p:spPr>
        <p:txBody>
          <a:bodyPr wrap="square" rtlCol="0">
            <a:spAutoFit/>
          </a:bodyPr>
          <a:lstStyle/>
          <a:p>
            <a:r>
              <a:rPr lang="en-US" dirty="0">
                <a:solidFill>
                  <a:srgbClr val="FFFF00"/>
                </a:solidFill>
              </a:rPr>
              <a:t>answer:</a:t>
            </a:r>
          </a:p>
          <a:p>
            <a:r>
              <a:rPr lang="en-US" dirty="0">
                <a:solidFill>
                  <a:srgbClr val="FFFF00"/>
                </a:solidFill>
              </a:rPr>
              <a:t> </a:t>
            </a:r>
            <a:r>
              <a:rPr lang="en-US" dirty="0" err="1">
                <a:solidFill>
                  <a:srgbClr val="FFFF00"/>
                </a:solidFill>
              </a:rPr>
              <a:t>dlrow</a:t>
            </a:r>
            <a:r>
              <a:rPr lang="en-US" dirty="0">
                <a:solidFill>
                  <a:srgbClr val="FFFF00"/>
                </a:solidFill>
              </a:rPr>
              <a:t> </a:t>
            </a:r>
            <a:r>
              <a:rPr lang="en-US" dirty="0" err="1">
                <a:solidFill>
                  <a:srgbClr val="FFFF00"/>
                </a:solidFill>
              </a:rPr>
              <a:t>olleh</a:t>
            </a:r>
            <a:endParaRPr lang="en-US" dirty="0">
              <a:solidFill>
                <a:srgbClr val="FFFF00"/>
              </a:solidFill>
            </a:endParaRPr>
          </a:p>
        </p:txBody>
      </p:sp>
    </p:spTree>
    <p:extLst>
      <p:ext uri="{BB962C8B-B14F-4D97-AF65-F5344CB8AC3E}">
        <p14:creationId xmlns:p14="http://schemas.microsoft.com/office/powerpoint/2010/main" val="490781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D67C2-3010-0B46-A3B3-EDDCD41D3FBD}"/>
              </a:ext>
            </a:extLst>
          </p:cNvPr>
          <p:cNvSpPr txBox="1"/>
          <p:nvPr/>
        </p:nvSpPr>
        <p:spPr>
          <a:xfrm>
            <a:off x="590309" y="555583"/>
            <a:ext cx="11514666" cy="1323439"/>
          </a:xfrm>
          <a:prstGeom prst="rect">
            <a:avLst/>
          </a:prstGeom>
          <a:noFill/>
        </p:spPr>
        <p:txBody>
          <a:bodyPr wrap="square" rtlCol="0">
            <a:spAutoFit/>
          </a:bodyPr>
          <a:lstStyle/>
          <a:p>
            <a:r>
              <a:rPr lang="en-US" sz="8000" dirty="0">
                <a:solidFill>
                  <a:srgbClr val="FF0000"/>
                </a:solidFill>
              </a:rPr>
              <a:t>IN-CLASS EXERCISE 2</a:t>
            </a:r>
          </a:p>
        </p:txBody>
      </p:sp>
      <p:sp>
        <p:nvSpPr>
          <p:cNvPr id="4" name="TextBox 3">
            <a:extLst>
              <a:ext uri="{FF2B5EF4-FFF2-40B4-BE49-F238E27FC236}">
                <a16:creationId xmlns:a16="http://schemas.microsoft.com/office/drawing/2014/main" id="{E35D83AF-0E32-C145-85B6-27C9ECF9D14E}"/>
              </a:ext>
            </a:extLst>
          </p:cNvPr>
          <p:cNvSpPr txBox="1"/>
          <p:nvPr/>
        </p:nvSpPr>
        <p:spPr>
          <a:xfrm>
            <a:off x="590309" y="1879022"/>
            <a:ext cx="10678886" cy="2308324"/>
          </a:xfrm>
          <a:prstGeom prst="rect">
            <a:avLst/>
          </a:prstGeom>
          <a:noFill/>
        </p:spPr>
        <p:txBody>
          <a:bodyPr wrap="square" rtlCol="0">
            <a:spAutoFit/>
          </a:bodyPr>
          <a:lstStyle/>
          <a:p>
            <a:r>
              <a:rPr lang="en-US" sz="2400" dirty="0">
                <a:sym typeface="Wingdings" pitchFamily="2" charset="2"/>
              </a:rPr>
              <a:t>Write a function that takes a string, then returns a new string consisting of the original string plus the original string backwards.</a:t>
            </a:r>
          </a:p>
          <a:p>
            <a:endParaRPr lang="en-US" sz="2400" dirty="0">
              <a:sym typeface="Wingdings" pitchFamily="2" charset="2"/>
            </a:endParaRPr>
          </a:p>
          <a:p>
            <a:r>
              <a:rPr lang="en-US" sz="2400" dirty="0">
                <a:sym typeface="Wingdings" pitchFamily="2" charset="2"/>
              </a:rPr>
              <a:t>print(</a:t>
            </a:r>
            <a:r>
              <a:rPr lang="en-US" sz="2400" dirty="0" err="1">
                <a:sym typeface="Wingdings" pitchFamily="2" charset="2"/>
              </a:rPr>
              <a:t>makePalindrome</a:t>
            </a:r>
            <a:r>
              <a:rPr lang="en-US" sz="2400" dirty="0">
                <a:sym typeface="Wingdings" pitchFamily="2" charset="2"/>
              </a:rPr>
              <a:t>('hello'))    prints </a:t>
            </a:r>
            <a:r>
              <a:rPr lang="en-US" sz="2400" dirty="0" err="1">
                <a:sym typeface="Wingdings" pitchFamily="2" charset="2"/>
              </a:rPr>
              <a:t>helloolleh</a:t>
            </a:r>
            <a:endParaRPr lang="en-US" sz="2400" dirty="0">
              <a:sym typeface="Wingdings" pitchFamily="2" charset="2"/>
            </a:endParaRPr>
          </a:p>
          <a:p>
            <a:r>
              <a:rPr lang="en-US" sz="2400" dirty="0">
                <a:sym typeface="Wingdings" pitchFamily="2" charset="2"/>
              </a:rPr>
              <a:t>print(</a:t>
            </a:r>
            <a:r>
              <a:rPr lang="en-US" sz="2400" dirty="0" err="1">
                <a:sym typeface="Wingdings" pitchFamily="2" charset="2"/>
              </a:rPr>
              <a:t>makePalindrome</a:t>
            </a:r>
            <a:r>
              <a:rPr lang="en-US" sz="2400" dirty="0">
                <a:sym typeface="Wingdings" pitchFamily="2" charset="2"/>
              </a:rPr>
              <a:t>('</a:t>
            </a:r>
            <a:r>
              <a:rPr lang="en-US" sz="2400" dirty="0" err="1">
                <a:sym typeface="Wingdings" pitchFamily="2" charset="2"/>
              </a:rPr>
              <a:t>dracula</a:t>
            </a:r>
            <a:r>
              <a:rPr lang="en-US" sz="2400" dirty="0">
                <a:sym typeface="Wingdings" pitchFamily="2" charset="2"/>
              </a:rPr>
              <a:t>'))  prints </a:t>
            </a:r>
            <a:r>
              <a:rPr lang="en-US" sz="2400" dirty="0" err="1">
                <a:sym typeface="Wingdings" pitchFamily="2" charset="2"/>
              </a:rPr>
              <a:t>draculaalucard</a:t>
            </a:r>
            <a:endParaRPr lang="en-US" sz="2400" dirty="0">
              <a:sym typeface="Wingdings" pitchFamily="2" charset="2"/>
            </a:endParaRPr>
          </a:p>
          <a:p>
            <a:pPr marL="457200" indent="-457200">
              <a:buFont typeface="Arial" panose="020B0604020202020204" pitchFamily="34" charset="0"/>
              <a:buChar char="•"/>
            </a:pPr>
            <a:endParaRPr lang="en-US" sz="2400" dirty="0">
              <a:sym typeface="Wingdings" pitchFamily="2" charset="2"/>
            </a:endParaRPr>
          </a:p>
        </p:txBody>
      </p:sp>
      <p:sp>
        <p:nvSpPr>
          <p:cNvPr id="2" name="Rectangle 1">
            <a:extLst>
              <a:ext uri="{FF2B5EF4-FFF2-40B4-BE49-F238E27FC236}">
                <a16:creationId xmlns:a16="http://schemas.microsoft.com/office/drawing/2014/main" id="{12C892C0-03AF-144D-8562-7A5F63CA15C0}"/>
              </a:ext>
            </a:extLst>
          </p:cNvPr>
          <p:cNvSpPr/>
          <p:nvPr/>
        </p:nvSpPr>
        <p:spPr>
          <a:xfrm>
            <a:off x="5469229" y="3973631"/>
            <a:ext cx="6096000" cy="1754326"/>
          </a:xfrm>
          <a:prstGeom prst="rect">
            <a:avLst/>
          </a:prstGeom>
        </p:spPr>
        <p:txBody>
          <a:bodyPr>
            <a:spAutoFit/>
          </a:bodyPr>
          <a:lstStyle/>
          <a:p>
            <a:r>
              <a:rPr lang="en-US" dirty="0">
                <a:sym typeface="Wingdings" pitchFamily="2" charset="2"/>
              </a:rPr>
              <a:t>FOR REFERENCE: </a:t>
            </a:r>
          </a:p>
          <a:p>
            <a:r>
              <a:rPr lang="en-US" dirty="0" err="1">
                <a:sym typeface="Wingdings" pitchFamily="2" charset="2"/>
              </a:rPr>
              <a:t>myString</a:t>
            </a:r>
            <a:r>
              <a:rPr lang="en-US" dirty="0">
                <a:sym typeface="Wingdings" pitchFamily="2" charset="2"/>
              </a:rPr>
              <a:t> = "hello world"</a:t>
            </a:r>
          </a:p>
          <a:p>
            <a:r>
              <a:rPr lang="en-US" dirty="0">
                <a:sym typeface="Wingdings" pitchFamily="2" charset="2"/>
              </a:rPr>
              <a:t>output = ''</a:t>
            </a:r>
          </a:p>
          <a:p>
            <a:r>
              <a:rPr lang="en-US" dirty="0">
                <a:sym typeface="Wingdings" pitchFamily="2" charset="2"/>
              </a:rPr>
              <a:t>for x in range(</a:t>
            </a:r>
            <a:r>
              <a:rPr lang="en-US" dirty="0" err="1">
                <a:sym typeface="Wingdings" pitchFamily="2" charset="2"/>
              </a:rPr>
              <a:t>len</a:t>
            </a:r>
            <a:r>
              <a:rPr lang="en-US" dirty="0">
                <a:sym typeface="Wingdings" pitchFamily="2" charset="2"/>
              </a:rPr>
              <a:t>(</a:t>
            </a:r>
            <a:r>
              <a:rPr lang="en-US" dirty="0" err="1">
                <a:sym typeface="Wingdings" pitchFamily="2" charset="2"/>
              </a:rPr>
              <a:t>myString</a:t>
            </a:r>
            <a:r>
              <a:rPr lang="en-US" dirty="0">
                <a:sym typeface="Wingdings" pitchFamily="2" charset="2"/>
              </a:rPr>
              <a:t>)-1, -1, -1):</a:t>
            </a:r>
          </a:p>
          <a:p>
            <a:r>
              <a:rPr lang="en-US" dirty="0">
                <a:sym typeface="Wingdings" pitchFamily="2" charset="2"/>
              </a:rPr>
              <a:t>	output = output + </a:t>
            </a:r>
            <a:r>
              <a:rPr lang="en-US" dirty="0" err="1">
                <a:sym typeface="Wingdings" pitchFamily="2" charset="2"/>
              </a:rPr>
              <a:t>myString</a:t>
            </a:r>
            <a:r>
              <a:rPr lang="en-US" dirty="0">
                <a:sym typeface="Wingdings" pitchFamily="2" charset="2"/>
              </a:rPr>
              <a:t>[x]</a:t>
            </a:r>
          </a:p>
          <a:p>
            <a:r>
              <a:rPr lang="en-US" dirty="0">
                <a:sym typeface="Wingdings" pitchFamily="2" charset="2"/>
              </a:rPr>
              <a:t>print(output)</a:t>
            </a:r>
          </a:p>
        </p:txBody>
      </p:sp>
    </p:spTree>
    <p:extLst>
      <p:ext uri="{BB962C8B-B14F-4D97-AF65-F5344CB8AC3E}">
        <p14:creationId xmlns:p14="http://schemas.microsoft.com/office/powerpoint/2010/main" val="1238425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1683</TotalTime>
  <Words>1881</Words>
  <Application>Microsoft Macintosh PowerPoint</Application>
  <PresentationFormat>Widescreen</PresentationFormat>
  <Paragraphs>382</Paragraphs>
  <Slides>36</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Ben Allen</cp:lastModifiedBy>
  <cp:revision>40</cp:revision>
  <dcterms:created xsi:type="dcterms:W3CDTF">2019-03-11T12:49:22Z</dcterms:created>
  <dcterms:modified xsi:type="dcterms:W3CDTF">2026-09-14T18:09:37Z</dcterms:modified>
</cp:coreProperties>
</file>